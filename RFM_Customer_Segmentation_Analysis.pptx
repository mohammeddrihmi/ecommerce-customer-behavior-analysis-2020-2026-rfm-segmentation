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4.xml" ContentType="application/vnd.openxmlformats-officedocument.presentationml.notesSlide+xml"/>
  <Override PartName="/ppt/charts/chart7.xml" ContentType="application/vnd.openxmlformats-officedocument.drawingml.chart+xml"/>
  <Override PartName="/ppt/notesSlides/notesSlide15.xml" ContentType="application/vnd.openxmlformats-officedocument.presentationml.notesSlide+xml"/>
  <Override PartName="/ppt/charts/chart8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19"/>
  </p:notesMasterIdLst>
  <p:sldIdLst>
    <p:sldId id="256" r:id="rId2"/>
    <p:sldId id="258" r:id="rId3"/>
    <p:sldId id="271" r:id="rId4"/>
    <p:sldId id="272" r:id="rId5"/>
    <p:sldId id="273" r:id="rId6"/>
    <p:sldId id="269" r:id="rId7"/>
    <p:sldId id="260" r:id="rId8"/>
    <p:sldId id="261" r:id="rId9"/>
    <p:sldId id="274" r:id="rId10"/>
    <p:sldId id="275" r:id="rId11"/>
    <p:sldId id="277" r:id="rId12"/>
    <p:sldId id="263" r:id="rId13"/>
    <p:sldId id="278" r:id="rId14"/>
    <p:sldId id="279" r:id="rId15"/>
    <p:sldId id="280" r:id="rId16"/>
    <p:sldId id="267" r:id="rId17"/>
    <p:sldId id="268" r:id="rId18"/>
  </p:sldIdLst>
  <p:sldSz cx="12192000" cy="6858000"/>
  <p:notesSz cx="6858000" cy="12192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9" userDrawn="1">
          <p15:clr>
            <a:srgbClr val="A4A3A4"/>
          </p15:clr>
        </p15:guide>
        <p15:guide id="2" pos="551" userDrawn="1">
          <p15:clr>
            <a:srgbClr val="A4A3A4"/>
          </p15:clr>
        </p15:guide>
        <p15:guide id="3" orient="horz" pos="391" userDrawn="1">
          <p15:clr>
            <a:srgbClr val="A4A3A4"/>
          </p15:clr>
        </p15:guide>
        <p15:guide id="4" pos="3840" userDrawn="1">
          <p15:clr>
            <a:srgbClr val="A4A3A4"/>
          </p15:clr>
        </p15:guide>
        <p15:guide id="5" pos="254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66E2"/>
    <a:srgbClr val="D1890F"/>
    <a:srgbClr val="38BDF8"/>
    <a:srgbClr val="E8F1FA"/>
    <a:srgbClr val="F45A75"/>
    <a:srgbClr val="FFC000"/>
    <a:srgbClr val="1F4E79"/>
    <a:srgbClr val="3B6EAE"/>
    <a:srgbClr val="1A56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87097" autoAdjust="0"/>
  </p:normalViewPr>
  <p:slideViewPr>
    <p:cSldViewPr snapToGrid="0" snapToObjects="1">
      <p:cViewPr varScale="1">
        <p:scale>
          <a:sx n="66" d="100"/>
          <a:sy n="66" d="100"/>
        </p:scale>
        <p:origin x="514" y="43"/>
      </p:cViewPr>
      <p:guideLst>
        <p:guide orient="horz" pos="709"/>
        <p:guide pos="551"/>
        <p:guide orient="horz" pos="391"/>
        <p:guide pos="3840"/>
        <p:guide pos="254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OneDrive\Bureau\RFM%20Project%20Excel\Ecommerce%20RFM%20Analysi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OneDrive\Bureau\RFM%20Project%20Excel\Ecommerce%20RFM%20Analysi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OneDrive\Bureau\RFM%20Project%20Excel\Ecommerce%20RFM%20Analysi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OneDrive\Bureau\RFM%20Project%20Excel\Ecommerce%20RFM%20Analysi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OneDrive\Bureau\RFM%20Project%20Excel\Ecommerce%20RFM%20Analysi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OneDrive\Bureau\RFM%20Project%20Excel\Ecommerce%20RFM%20Analysi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[Ecommerce RFM Analysis.xlsx]Overview!PivotTable2</c:name>
    <c:fmtId val="21"/>
  </c:pivotSource>
  <c:chart>
    <c:autoTitleDeleted val="0"/>
    <c:pivotFmts>
      <c:pivotFmt>
        <c:idx val="0"/>
        <c:spPr>
          <a:solidFill>
            <a:schemeClr val="bg1">
              <a:lumMod val="8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bg1">
              <a:lumMod val="6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</c:pivotFmt>
      <c:pivotFmt>
        <c:idx val="3"/>
        <c:spPr>
          <a:solidFill>
            <a:srgbClr val="FFC000"/>
          </a:solidFill>
          <a:ln>
            <a:noFill/>
          </a:ln>
          <a:effectLst/>
        </c:spPr>
      </c:pivotFmt>
      <c:pivotFmt>
        <c:idx val="4"/>
        <c:spPr>
          <a:solidFill>
            <a:srgbClr val="FFC000"/>
          </a:solidFill>
          <a:ln>
            <a:noFill/>
          </a:ln>
          <a:effectLst/>
        </c:spPr>
      </c:pivotFmt>
      <c:pivotFmt>
        <c:idx val="5"/>
        <c:spPr>
          <a:solidFill>
            <a:schemeClr val="accent5">
              <a:lumMod val="50000"/>
            </a:schemeClr>
          </a:solidFill>
          <a:ln>
            <a:noFill/>
          </a:ln>
          <a:effectLst/>
        </c:spPr>
      </c:pivotFmt>
      <c:pivotFmt>
        <c:idx val="6"/>
        <c:spPr>
          <a:solidFill>
            <a:schemeClr val="accent5">
              <a:lumMod val="50000"/>
            </a:schemeClr>
          </a:solidFill>
          <a:ln>
            <a:noFill/>
          </a:ln>
          <a:effectLst/>
        </c:spPr>
      </c:pivotFmt>
      <c:pivotFmt>
        <c:idx val="7"/>
        <c:spPr>
          <a:solidFill>
            <a:schemeClr val="bg1">
              <a:lumMod val="8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5">
              <a:lumMod val="50000"/>
            </a:schemeClr>
          </a:solidFill>
          <a:ln>
            <a:noFill/>
          </a:ln>
          <a:effectLst/>
        </c:spPr>
      </c:pivotFmt>
      <c:pivotFmt>
        <c:idx val="9"/>
        <c:spPr>
          <a:solidFill>
            <a:schemeClr val="accent5">
              <a:lumMod val="50000"/>
            </a:schemeClr>
          </a:solidFill>
          <a:ln>
            <a:noFill/>
          </a:ln>
          <a:effectLst/>
        </c:spPr>
      </c:pivotFmt>
      <c:pivotFmt>
        <c:idx val="10"/>
        <c:spPr>
          <a:solidFill>
            <a:schemeClr val="bg1">
              <a:lumMod val="6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rgbClr val="FFC000"/>
          </a:solidFill>
          <a:ln>
            <a:noFill/>
          </a:ln>
          <a:effectLst/>
        </c:spPr>
      </c:pivotFmt>
      <c:pivotFmt>
        <c:idx val="12"/>
        <c:spPr>
          <a:solidFill>
            <a:srgbClr val="FFC000"/>
          </a:solidFill>
          <a:ln>
            <a:noFill/>
          </a:ln>
          <a:effectLst/>
        </c:spPr>
      </c:pivotFmt>
      <c:pivotFmt>
        <c:idx val="13"/>
        <c:spPr>
          <a:solidFill>
            <a:schemeClr val="bg1">
              <a:lumMod val="8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5">
              <a:lumMod val="50000"/>
            </a:schemeClr>
          </a:solidFill>
          <a:ln>
            <a:noFill/>
          </a:ln>
          <a:effectLst/>
        </c:spPr>
      </c:pivotFmt>
      <c:pivotFmt>
        <c:idx val="15"/>
        <c:spPr>
          <a:solidFill>
            <a:schemeClr val="accent5">
              <a:lumMod val="50000"/>
            </a:schemeClr>
          </a:solidFill>
          <a:ln>
            <a:noFill/>
          </a:ln>
          <a:effectLst/>
        </c:spPr>
      </c:pivotFmt>
      <c:pivotFmt>
        <c:idx val="16"/>
        <c:spPr>
          <a:solidFill>
            <a:schemeClr val="bg1">
              <a:lumMod val="6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rgbClr val="FFC000"/>
          </a:solidFill>
          <a:ln>
            <a:noFill/>
          </a:ln>
          <a:effectLst/>
        </c:spPr>
      </c:pivotFmt>
      <c:pivotFmt>
        <c:idx val="18"/>
        <c:spPr>
          <a:solidFill>
            <a:srgbClr val="FFC000"/>
          </a:solidFill>
          <a:ln>
            <a:noFill/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2.5403509592556019E-2"/>
          <c:y val="2.1428920944154883E-2"/>
          <c:w val="0.95700944530490517"/>
          <c:h val="0.7347889251287000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Overview!$AN$11</c:f>
              <c:strCache>
                <c:ptCount val="1"/>
                <c:pt idx="0">
                  <c:v>Customer Share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5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D8E-4BEA-9736-082D8E440EC5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5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D8E-4BEA-9736-082D8E440EC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Overview!$AM$12:$AM$33</c:f>
              <c:multiLvlStrCache>
                <c:ptCount val="11"/>
                <c:lvl>
                  <c:pt idx="0">
                    <c:v>Loyal Customer</c:v>
                  </c:pt>
                  <c:pt idx="1">
                    <c:v>Champion</c:v>
                  </c:pt>
                  <c:pt idx="2">
                    <c:v>Need Attention</c:v>
                  </c:pt>
                  <c:pt idx="3">
                    <c:v>Potential Loyalist</c:v>
                  </c:pt>
                  <c:pt idx="4">
                    <c:v>Lost</c:v>
                  </c:pt>
                  <c:pt idx="5">
                    <c:v>Hibernating</c:v>
                  </c:pt>
                  <c:pt idx="6">
                    <c:v>Cannot Lose Them</c:v>
                  </c:pt>
                  <c:pt idx="7">
                    <c:v>At Risk</c:v>
                  </c:pt>
                  <c:pt idx="8">
                    <c:v>About To Sleep</c:v>
                  </c:pt>
                  <c:pt idx="9">
                    <c:v>New Customer</c:v>
                  </c:pt>
                  <c:pt idx="10">
                    <c:v>Promising</c:v>
                  </c:pt>
                </c:lvl>
                <c:lvl>
                  <c:pt idx="0">
                    <c:v>Valuable Customers</c:v>
                  </c:pt>
                  <c:pt idx="2">
                    <c:v>      </c:v>
                  </c:pt>
                  <c:pt idx="3">
                    <c:v>   </c:v>
                  </c:pt>
                  <c:pt idx="4">
                    <c:v>                          </c:v>
                  </c:pt>
                  <c:pt idx="5">
                    <c:v>                                       </c:v>
                  </c:pt>
                  <c:pt idx="6">
                    <c:v>                                                 </c:v>
                  </c:pt>
                  <c:pt idx="7">
                    <c:v>                                 </c:v>
                  </c:pt>
                  <c:pt idx="8">
                    <c:v>                               </c:v>
                  </c:pt>
                  <c:pt idx="9">
                    <c:v>  </c:v>
                  </c:pt>
                  <c:pt idx="10">
                    <c:v> </c:v>
                  </c:pt>
                </c:lvl>
              </c:multiLvlStrCache>
            </c:multiLvlStrRef>
          </c:cat>
          <c:val>
            <c:numRef>
              <c:f>Overview!$AN$12:$AN$33</c:f>
              <c:numCache>
                <c:formatCode>0%</c:formatCode>
                <c:ptCount val="11"/>
                <c:pt idx="0">
                  <c:v>0.10150000000000001</c:v>
                </c:pt>
                <c:pt idx="1">
                  <c:v>7.4874999999999997E-2</c:v>
                </c:pt>
                <c:pt idx="2">
                  <c:v>8.2250000000000004E-2</c:v>
                </c:pt>
                <c:pt idx="3">
                  <c:v>0.15</c:v>
                </c:pt>
                <c:pt idx="4">
                  <c:v>2.4625000000000001E-2</c:v>
                </c:pt>
                <c:pt idx="5">
                  <c:v>0.1855</c:v>
                </c:pt>
                <c:pt idx="6">
                  <c:v>2.9000000000000001E-2</c:v>
                </c:pt>
                <c:pt idx="7">
                  <c:v>0.15637499999999999</c:v>
                </c:pt>
                <c:pt idx="8">
                  <c:v>4.0625000000000001E-2</c:v>
                </c:pt>
                <c:pt idx="9">
                  <c:v>0.108375</c:v>
                </c:pt>
                <c:pt idx="10">
                  <c:v>4.6875E-2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D8E-4BEA-9736-082D8E440EC5}"/>
            </c:ext>
          </c:extLst>
        </c:ser>
        <c:ser>
          <c:idx val="1"/>
          <c:order val="1"/>
          <c:tx>
            <c:strRef>
              <c:f>Overview!$AO$11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5D8E-4BEA-9736-082D8E440EC5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5D8E-4BEA-9736-082D8E440EC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Overview!$AM$12:$AM$33</c:f>
              <c:multiLvlStrCache>
                <c:ptCount val="11"/>
                <c:lvl>
                  <c:pt idx="0">
                    <c:v>Loyal Customer</c:v>
                  </c:pt>
                  <c:pt idx="1">
                    <c:v>Champion</c:v>
                  </c:pt>
                  <c:pt idx="2">
                    <c:v>Need Attention</c:v>
                  </c:pt>
                  <c:pt idx="3">
                    <c:v>Potential Loyalist</c:v>
                  </c:pt>
                  <c:pt idx="4">
                    <c:v>Lost</c:v>
                  </c:pt>
                  <c:pt idx="5">
                    <c:v>Hibernating</c:v>
                  </c:pt>
                  <c:pt idx="6">
                    <c:v>Cannot Lose Them</c:v>
                  </c:pt>
                  <c:pt idx="7">
                    <c:v>At Risk</c:v>
                  </c:pt>
                  <c:pt idx="8">
                    <c:v>About To Sleep</c:v>
                  </c:pt>
                  <c:pt idx="9">
                    <c:v>New Customer</c:v>
                  </c:pt>
                  <c:pt idx="10">
                    <c:v>Promising</c:v>
                  </c:pt>
                </c:lvl>
                <c:lvl>
                  <c:pt idx="0">
                    <c:v>Valuable Customers</c:v>
                  </c:pt>
                  <c:pt idx="2">
                    <c:v>      </c:v>
                  </c:pt>
                  <c:pt idx="3">
                    <c:v>   </c:v>
                  </c:pt>
                  <c:pt idx="4">
                    <c:v>                          </c:v>
                  </c:pt>
                  <c:pt idx="5">
                    <c:v>                                       </c:v>
                  </c:pt>
                  <c:pt idx="6">
                    <c:v>                                                 </c:v>
                  </c:pt>
                  <c:pt idx="7">
                    <c:v>                                 </c:v>
                  </c:pt>
                  <c:pt idx="8">
                    <c:v>                               </c:v>
                  </c:pt>
                  <c:pt idx="9">
                    <c:v>  </c:v>
                  </c:pt>
                  <c:pt idx="10">
                    <c:v> </c:v>
                  </c:pt>
                </c:lvl>
              </c:multiLvlStrCache>
            </c:multiLvlStrRef>
          </c:cat>
          <c:val>
            <c:numRef>
              <c:f>Overview!$AO$12:$AO$33</c:f>
              <c:numCache>
                <c:formatCode>0%</c:formatCode>
                <c:ptCount val="11"/>
                <c:pt idx="0">
                  <c:v>0.22363607190937376</c:v>
                </c:pt>
                <c:pt idx="1">
                  <c:v>0.21934602635190928</c:v>
                </c:pt>
                <c:pt idx="2">
                  <c:v>8.3712553215887789E-2</c:v>
                </c:pt>
                <c:pt idx="3">
                  <c:v>6.1239135900824755E-2</c:v>
                </c:pt>
                <c:pt idx="4">
                  <c:v>1.8385680874494542E-3</c:v>
                </c:pt>
                <c:pt idx="5">
                  <c:v>4.8590071451782617E-2</c:v>
                </c:pt>
                <c:pt idx="6">
                  <c:v>7.4497128453645353E-2</c:v>
                </c:pt>
                <c:pt idx="7">
                  <c:v>0.24741815675655274</c:v>
                </c:pt>
                <c:pt idx="8">
                  <c:v>4.752689148688539E-3</c:v>
                </c:pt>
                <c:pt idx="9">
                  <c:v>1.090864407396753E-2</c:v>
                </c:pt>
                <c:pt idx="10">
                  <c:v>2.4060954649918202E-2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5D8E-4BEA-9736-082D8E440E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9"/>
        <c:overlap val="-6"/>
        <c:axId val="603585935"/>
        <c:axId val="603586415"/>
      </c:barChart>
      <c:catAx>
        <c:axId val="60358593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603586415"/>
        <c:crosses val="autoZero"/>
        <c:auto val="1"/>
        <c:lblAlgn val="ctr"/>
        <c:lblOffset val="100"/>
        <c:noMultiLvlLbl val="0"/>
      </c:catAx>
      <c:valAx>
        <c:axId val="603586415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crossAx val="6035859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fr-FR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[Ecommerce RFM Analysis.xlsx]Overview!PivotTable3</c:name>
    <c:fmtId val="28"/>
  </c:pivotSource>
  <c:chart>
    <c:autoTitleDeleted val="1"/>
    <c:pivotFmts>
      <c:pivotFmt>
        <c:idx val="0"/>
        <c:spPr>
          <a:solidFill>
            <a:schemeClr val="bg1">
              <a:lumMod val="8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FFC000"/>
          </a:solidFill>
          <a:ln>
            <a:noFill/>
          </a:ln>
          <a:effectLst/>
        </c:spPr>
      </c:pivotFmt>
      <c:pivotFmt>
        <c:idx val="2"/>
        <c:spPr>
          <a:solidFill>
            <a:schemeClr val="bg1">
              <a:lumMod val="85000"/>
            </a:schemeClr>
          </a:solidFill>
          <a:ln>
            <a:noFill/>
          </a:ln>
          <a:effectLst/>
        </c:spPr>
      </c:pivotFmt>
      <c:pivotFmt>
        <c:idx val="3"/>
        <c:spPr>
          <a:solidFill>
            <a:schemeClr val="bg1">
              <a:lumMod val="85000"/>
            </a:schemeClr>
          </a:solidFill>
          <a:ln>
            <a:noFill/>
          </a:ln>
          <a:effectLst/>
        </c:spPr>
      </c:pivotFmt>
      <c:pivotFmt>
        <c:idx val="4"/>
        <c:spPr>
          <a:solidFill>
            <a:schemeClr val="bg1">
              <a:lumMod val="8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FFC000"/>
          </a:solidFill>
          <a:ln>
            <a:noFill/>
          </a:ln>
          <a:effectLst/>
        </c:spPr>
      </c:pivotFmt>
      <c:pivotFmt>
        <c:idx val="6"/>
        <c:spPr>
          <a:solidFill>
            <a:schemeClr val="bg1">
              <a:lumMod val="8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FFC000"/>
          </a:solidFill>
          <a:ln>
            <a:noFill/>
          </a:ln>
          <a:effectLst/>
        </c:spP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Overview!$AS$11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45A7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8EC-4679-8F50-C9A655C14D7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Overview!$AR$12:$AR$23</c:f>
              <c:strCache>
                <c:ptCount val="11"/>
                <c:pt idx="0">
                  <c:v>At Risk</c:v>
                </c:pt>
                <c:pt idx="1">
                  <c:v>Loyal Customer</c:v>
                </c:pt>
                <c:pt idx="2">
                  <c:v>Champion</c:v>
                </c:pt>
                <c:pt idx="3">
                  <c:v>Need Attention</c:v>
                </c:pt>
                <c:pt idx="4">
                  <c:v>Cannot Lose Them</c:v>
                </c:pt>
                <c:pt idx="5">
                  <c:v>Potential Loyalist</c:v>
                </c:pt>
                <c:pt idx="6">
                  <c:v>Hibernating</c:v>
                </c:pt>
                <c:pt idx="7">
                  <c:v>Promising</c:v>
                </c:pt>
                <c:pt idx="8">
                  <c:v>New Customer</c:v>
                </c:pt>
                <c:pt idx="9">
                  <c:v>About To Sleep</c:v>
                </c:pt>
                <c:pt idx="10">
                  <c:v>Lost</c:v>
                </c:pt>
              </c:strCache>
            </c:strRef>
          </c:cat>
          <c:val>
            <c:numRef>
              <c:f>Overview!$AS$12:$AS$23</c:f>
              <c:numCache>
                <c:formatCode>0%</c:formatCode>
                <c:ptCount val="11"/>
                <c:pt idx="0">
                  <c:v>0.24741815675655274</c:v>
                </c:pt>
                <c:pt idx="1">
                  <c:v>0.22363607190937376</c:v>
                </c:pt>
                <c:pt idx="2">
                  <c:v>0.21934602635190928</c:v>
                </c:pt>
                <c:pt idx="3">
                  <c:v>8.3712553215887789E-2</c:v>
                </c:pt>
                <c:pt idx="4">
                  <c:v>7.4497128453645353E-2</c:v>
                </c:pt>
                <c:pt idx="5">
                  <c:v>6.1239135900824755E-2</c:v>
                </c:pt>
                <c:pt idx="6">
                  <c:v>4.8590071451782617E-2</c:v>
                </c:pt>
                <c:pt idx="7">
                  <c:v>2.4060954649918202E-2</c:v>
                </c:pt>
                <c:pt idx="8">
                  <c:v>1.090864407396753E-2</c:v>
                </c:pt>
                <c:pt idx="9">
                  <c:v>4.752689148688539E-3</c:v>
                </c:pt>
                <c:pt idx="10">
                  <c:v>1.8385680874494542E-3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8EC-4679-8F50-C9A655C14D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8"/>
        <c:overlap val="9"/>
        <c:axId val="1376509823"/>
        <c:axId val="1376534303"/>
      </c:barChart>
      <c:catAx>
        <c:axId val="13765098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376534303"/>
        <c:crosses val="autoZero"/>
        <c:auto val="1"/>
        <c:lblAlgn val="ctr"/>
        <c:lblOffset val="100"/>
        <c:noMultiLvlLbl val="0"/>
      </c:catAx>
      <c:valAx>
        <c:axId val="1376534303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3765098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[Ecommerce RFM Analysis.xlsx]Overview!PivotTable4</c:name>
    <c:fmtId val="33"/>
  </c:pivotSource>
  <c:chart>
    <c:autoTitleDeleted val="1"/>
    <c:pivotFmts>
      <c:pivotFmt>
        <c:idx val="0"/>
        <c:spPr>
          <a:solidFill>
            <a:schemeClr val="bg1">
              <a:lumMod val="8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5">
              <a:lumMod val="50000"/>
            </a:schemeClr>
          </a:solidFill>
          <a:ln>
            <a:noFill/>
          </a:ln>
          <a:effectLst/>
        </c:spPr>
      </c:pivotFmt>
      <c:pivotFmt>
        <c:idx val="2"/>
        <c:spPr>
          <a:solidFill>
            <a:schemeClr val="bg1">
              <a:lumMod val="8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5">
              <a:lumMod val="50000"/>
            </a:schemeClr>
          </a:solidFill>
          <a:ln>
            <a:noFill/>
          </a:ln>
          <a:effectLst/>
        </c:spPr>
      </c:pivotFmt>
      <c:pivotFmt>
        <c:idx val="4"/>
        <c:spPr>
          <a:solidFill>
            <a:schemeClr val="bg1">
              <a:lumMod val="8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5">
              <a:lumMod val="50000"/>
            </a:schemeClr>
          </a:solidFill>
          <a:ln>
            <a:noFill/>
          </a:ln>
          <a:effectLst/>
        </c:spP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Overview!$AV$11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5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C65-481D-AD29-59D75602B3C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Overview!$AU$12:$AU$23</c:f>
              <c:strCache>
                <c:ptCount val="11"/>
                <c:pt idx="0">
                  <c:v>Hibernating</c:v>
                </c:pt>
                <c:pt idx="1">
                  <c:v>At Risk</c:v>
                </c:pt>
                <c:pt idx="2">
                  <c:v>Potential Loyalist</c:v>
                </c:pt>
                <c:pt idx="3">
                  <c:v>New Customer</c:v>
                </c:pt>
                <c:pt idx="4">
                  <c:v>Loyal Customer</c:v>
                </c:pt>
                <c:pt idx="5">
                  <c:v>Need Attention</c:v>
                </c:pt>
                <c:pt idx="6">
                  <c:v>Champion</c:v>
                </c:pt>
                <c:pt idx="7">
                  <c:v>Promising</c:v>
                </c:pt>
                <c:pt idx="8">
                  <c:v>About To Sleep</c:v>
                </c:pt>
                <c:pt idx="9">
                  <c:v>Cannot Lose Them</c:v>
                </c:pt>
                <c:pt idx="10">
                  <c:v>Lost</c:v>
                </c:pt>
              </c:strCache>
            </c:strRef>
          </c:cat>
          <c:val>
            <c:numRef>
              <c:f>Overview!$AV$12:$AV$23</c:f>
              <c:numCache>
                <c:formatCode>0%</c:formatCode>
                <c:ptCount val="11"/>
                <c:pt idx="0">
                  <c:v>0.1855</c:v>
                </c:pt>
                <c:pt idx="1">
                  <c:v>0.15637499999999999</c:v>
                </c:pt>
                <c:pt idx="2">
                  <c:v>0.15</c:v>
                </c:pt>
                <c:pt idx="3">
                  <c:v>0.108375</c:v>
                </c:pt>
                <c:pt idx="4">
                  <c:v>0.10150000000000001</c:v>
                </c:pt>
                <c:pt idx="5">
                  <c:v>8.2250000000000004E-2</c:v>
                </c:pt>
                <c:pt idx="6">
                  <c:v>7.4874999999999997E-2</c:v>
                </c:pt>
                <c:pt idx="7">
                  <c:v>4.6875E-2</c:v>
                </c:pt>
                <c:pt idx="8">
                  <c:v>4.0625000000000001E-2</c:v>
                </c:pt>
                <c:pt idx="9">
                  <c:v>2.9000000000000001E-2</c:v>
                </c:pt>
                <c:pt idx="10">
                  <c:v>2.4625000000000001E-2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C65-481D-AD29-59D75602B3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7"/>
        <c:overlap val="-27"/>
        <c:axId val="1376483903"/>
        <c:axId val="1376529983"/>
      </c:barChart>
      <c:catAx>
        <c:axId val="13764839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376529983"/>
        <c:crosses val="autoZero"/>
        <c:auto val="1"/>
        <c:lblAlgn val="ctr"/>
        <c:lblOffset val="100"/>
        <c:noMultiLvlLbl val="0"/>
      </c:catAx>
      <c:valAx>
        <c:axId val="1376529983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376483903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 algn="ctr">
        <a:defRPr lang="en-US" sz="100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  <a:endParaRPr lang="fr-FR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[Ecommerce RFM Analysis.xlsx]Overview!PivotTable5</c:name>
    <c:fmtId val="38"/>
  </c:pivotSource>
  <c:chart>
    <c:autoTitleDeleted val="1"/>
    <c:pivotFmts>
      <c:pivotFmt>
        <c:idx val="0"/>
        <c:spPr>
          <a:solidFill>
            <a:schemeClr val="bg1">
              <a:lumMod val="8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2"/>
        <c:spPr>
          <a:solidFill>
            <a:schemeClr val="bg1">
              <a:lumMod val="8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4"/>
        <c:spPr>
          <a:solidFill>
            <a:schemeClr val="bg1">
              <a:lumMod val="8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c:spP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Overview!$AY$11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ACD-4FB5-BAB6-A246F7E47D5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Overview!$AX$12:$AX$23</c:f>
              <c:strCache>
                <c:ptCount val="11"/>
                <c:pt idx="0">
                  <c:v>Champion</c:v>
                </c:pt>
                <c:pt idx="1">
                  <c:v>Cannot Lose Them</c:v>
                </c:pt>
                <c:pt idx="2">
                  <c:v>Loyal Customer</c:v>
                </c:pt>
                <c:pt idx="3">
                  <c:v>At Risk</c:v>
                </c:pt>
                <c:pt idx="4">
                  <c:v>Need Attention</c:v>
                </c:pt>
                <c:pt idx="5">
                  <c:v>Promising</c:v>
                </c:pt>
                <c:pt idx="6">
                  <c:v>Potential Loyalist</c:v>
                </c:pt>
                <c:pt idx="7">
                  <c:v>Hibernating</c:v>
                </c:pt>
                <c:pt idx="8">
                  <c:v>About To Sleep</c:v>
                </c:pt>
                <c:pt idx="9">
                  <c:v>New Customer</c:v>
                </c:pt>
                <c:pt idx="10">
                  <c:v>Lost</c:v>
                </c:pt>
              </c:strCache>
            </c:strRef>
          </c:cat>
          <c:val>
            <c:numRef>
              <c:f>Overview!$AY$12:$AY$23</c:f>
              <c:numCache>
                <c:formatCode>#,##0,"K"</c:formatCode>
                <c:ptCount val="11"/>
                <c:pt idx="0">
                  <c:v>416380.95158597664</c:v>
                </c:pt>
                <c:pt idx="1">
                  <c:v>365123.2198275862</c:v>
                </c:pt>
                <c:pt idx="2">
                  <c:v>313165.36945812806</c:v>
                </c:pt>
                <c:pt idx="3">
                  <c:v>224885.86650679455</c:v>
                </c:pt>
                <c:pt idx="4">
                  <c:v>144661.3784194529</c:v>
                </c:pt>
                <c:pt idx="5">
                  <c:v>72957.423999999999</c:v>
                </c:pt>
                <c:pt idx="6">
                  <c:v>58027.747499999998</c:v>
                </c:pt>
                <c:pt idx="7">
                  <c:v>37230.729110512126</c:v>
                </c:pt>
                <c:pt idx="8">
                  <c:v>16628.150769230768</c:v>
                </c:pt>
                <c:pt idx="9">
                  <c:v>14306.703575547866</c:v>
                </c:pt>
                <c:pt idx="10">
                  <c:v>10612.10152284264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ACD-4FB5-BAB6-A246F7E47D5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7"/>
        <c:overlap val="-27"/>
        <c:axId val="1861423488"/>
        <c:axId val="1861423968"/>
      </c:barChart>
      <c:catAx>
        <c:axId val="18614234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861423968"/>
        <c:crosses val="autoZero"/>
        <c:auto val="1"/>
        <c:lblAlgn val="ctr"/>
        <c:lblOffset val="100"/>
        <c:noMultiLvlLbl val="0"/>
      </c:catAx>
      <c:valAx>
        <c:axId val="1861423968"/>
        <c:scaling>
          <c:orientation val="minMax"/>
        </c:scaling>
        <c:delete val="1"/>
        <c:axPos val="l"/>
        <c:numFmt formatCode="#,##0,&quot;K&quot;" sourceLinked="1"/>
        <c:majorTickMark val="none"/>
        <c:minorTickMark val="none"/>
        <c:tickLblPos val="nextTo"/>
        <c:crossAx val="186142348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[Ecommerce RFM Analysis.xlsx]Acquisition!PivotTable7</c:name>
    <c:fmtId val="6"/>
  </c:pivotSource>
  <c:chart>
    <c:autoTitleDeleted val="1"/>
    <c:pivotFmts>
      <c:pivotFmt>
        <c:idx val="0"/>
        <c:spPr>
          <a:solidFill>
            <a:schemeClr val="bg1">
              <a:lumMod val="8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00B050"/>
          </a:solidFill>
          <a:ln>
            <a:noFill/>
          </a:ln>
          <a:effectLst/>
        </c:spPr>
      </c:pivotFmt>
      <c:pivotFmt>
        <c:idx val="2"/>
        <c:spPr>
          <a:solidFill>
            <a:srgbClr val="FF0000"/>
          </a:solidFill>
          <a:ln>
            <a:noFill/>
          </a:ln>
          <a:effectLst/>
        </c:spPr>
      </c:pivotFmt>
      <c:pivotFmt>
        <c:idx val="3"/>
        <c:spPr>
          <a:solidFill>
            <a:schemeClr val="bg1">
              <a:lumMod val="8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FF0000"/>
          </a:solidFill>
          <a:ln>
            <a:noFill/>
          </a:ln>
          <a:effectLst/>
        </c:spPr>
      </c:pivotFmt>
      <c:pivotFmt>
        <c:idx val="5"/>
        <c:spPr>
          <a:solidFill>
            <a:srgbClr val="00B050"/>
          </a:solidFill>
          <a:ln>
            <a:noFill/>
          </a:ln>
          <a:effectLst/>
        </c:spPr>
      </c:pivotFmt>
      <c:pivotFmt>
        <c:idx val="6"/>
        <c:spPr>
          <a:solidFill>
            <a:schemeClr val="bg1">
              <a:lumMod val="8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FF0000"/>
          </a:solidFill>
          <a:ln>
            <a:noFill/>
          </a:ln>
          <a:effectLst/>
        </c:spPr>
      </c:pivotFmt>
      <c:pivotFmt>
        <c:idx val="8"/>
        <c:spPr>
          <a:solidFill>
            <a:srgbClr val="00B050"/>
          </a:solidFill>
          <a:ln>
            <a:noFill/>
          </a:ln>
          <a:effectLst/>
        </c:spPr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Acquisition!$W$1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76-4D61-B1F2-BAEDD50FAC9E}"/>
              </c:ext>
            </c:extLst>
          </c:dPt>
          <c:dPt>
            <c:idx val="2"/>
            <c:invertIfNegative val="0"/>
            <c:bubble3D val="0"/>
            <c:spPr>
              <a:solidFill>
                <a:srgbClr val="38BDF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276-4D61-B1F2-BAEDD50FAC9E}"/>
              </c:ext>
            </c:extLst>
          </c:dPt>
          <c:dPt>
            <c:idx val="5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76-4D61-B1F2-BAEDD50FAC9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Acquisition!$V$2:$V$8</c:f>
              <c:strCache>
                <c:ptCount val="6"/>
                <c:pt idx="0">
                  <c:v>Social Media</c:v>
                </c:pt>
                <c:pt idx="1">
                  <c:v>Organic Search</c:v>
                </c:pt>
                <c:pt idx="2">
                  <c:v>Email Campaign</c:v>
                </c:pt>
                <c:pt idx="3">
                  <c:v>Referral</c:v>
                </c:pt>
                <c:pt idx="4">
                  <c:v>Paid Ad</c:v>
                </c:pt>
                <c:pt idx="5">
                  <c:v>Direct</c:v>
                </c:pt>
              </c:strCache>
            </c:strRef>
          </c:cat>
          <c:val>
            <c:numRef>
              <c:f>Acquisition!$W$2:$W$8</c:f>
              <c:numCache>
                <c:formatCode>#,##0,"K"</c:formatCode>
                <c:ptCount val="6"/>
                <c:pt idx="0">
                  <c:v>134817.37030716724</c:v>
                </c:pt>
                <c:pt idx="1">
                  <c:v>140706.12488605286</c:v>
                </c:pt>
                <c:pt idx="2">
                  <c:v>144054.27643908971</c:v>
                </c:pt>
                <c:pt idx="3">
                  <c:v>145149.6553911205</c:v>
                </c:pt>
                <c:pt idx="4">
                  <c:v>145549.33067729083</c:v>
                </c:pt>
                <c:pt idx="5">
                  <c:v>151109.41888619855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276-4D61-B1F2-BAEDD50FAC9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6"/>
        <c:axId val="889448176"/>
        <c:axId val="889442896"/>
      </c:barChart>
      <c:catAx>
        <c:axId val="88944817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889442896"/>
        <c:crosses val="autoZero"/>
        <c:auto val="1"/>
        <c:lblAlgn val="ctr"/>
        <c:lblOffset val="100"/>
        <c:noMultiLvlLbl val="0"/>
      </c:catAx>
      <c:valAx>
        <c:axId val="889442896"/>
        <c:scaling>
          <c:orientation val="minMax"/>
        </c:scaling>
        <c:delete val="1"/>
        <c:axPos val="b"/>
        <c:numFmt formatCode="#,##0,&quot;K&quot;" sourceLinked="1"/>
        <c:majorTickMark val="none"/>
        <c:minorTickMark val="none"/>
        <c:tickLblPos val="nextTo"/>
        <c:crossAx val="8894481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[Ecommerce RFM Analysis.xlsx]Acquisition!PivotTable8</c:name>
    <c:fmtId val="8"/>
  </c:pivotSource>
  <c:chart>
    <c:autoTitleDeleted val="1"/>
    <c:pivotFmts>
      <c:pivotFmt>
        <c:idx val="0"/>
        <c:spPr>
          <a:solidFill>
            <a:schemeClr val="bg1">
              <a:lumMod val="8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bg1">
              <a:lumMod val="8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bg1">
              <a:lumMod val="8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Acquisition!$W$16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C97-43C8-B474-A7DCFD6303C8}"/>
              </c:ext>
            </c:extLst>
          </c:dPt>
          <c:dPt>
            <c:idx val="4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8C97-43C8-B474-A7DCFD6303C8}"/>
              </c:ext>
            </c:extLst>
          </c:dPt>
          <c:dPt>
            <c:idx val="5"/>
            <c:invertIfNegative val="0"/>
            <c:bubble3D val="0"/>
            <c:spPr>
              <a:solidFill>
                <a:srgbClr val="38BDF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C97-43C8-B474-A7DCFD6303C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Acquisition!$V$17:$V$23</c:f>
              <c:strCache>
                <c:ptCount val="6"/>
                <c:pt idx="0">
                  <c:v>Referral</c:v>
                </c:pt>
                <c:pt idx="1">
                  <c:v>Direct</c:v>
                </c:pt>
                <c:pt idx="2">
                  <c:v>Paid Ad</c:v>
                </c:pt>
                <c:pt idx="3">
                  <c:v>Email Campaign</c:v>
                </c:pt>
                <c:pt idx="4">
                  <c:v>Social Media</c:v>
                </c:pt>
                <c:pt idx="5">
                  <c:v>Organic Search</c:v>
                </c:pt>
              </c:strCache>
            </c:strRef>
          </c:cat>
          <c:val>
            <c:numRef>
              <c:f>Acquisition!$W$17:$W$23</c:f>
              <c:numCache>
                <c:formatCode>General</c:formatCode>
                <c:ptCount val="6"/>
                <c:pt idx="0">
                  <c:v>473</c:v>
                </c:pt>
                <c:pt idx="1">
                  <c:v>826</c:v>
                </c:pt>
                <c:pt idx="2">
                  <c:v>1255</c:v>
                </c:pt>
                <c:pt idx="3">
                  <c:v>1494</c:v>
                </c:pt>
                <c:pt idx="4">
                  <c:v>1758</c:v>
                </c:pt>
                <c:pt idx="5">
                  <c:v>2194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97-43C8-B474-A7DCFD6303C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6"/>
        <c:axId val="894614864"/>
        <c:axId val="894615824"/>
      </c:barChart>
      <c:catAx>
        <c:axId val="8946148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894615824"/>
        <c:crosses val="autoZero"/>
        <c:auto val="1"/>
        <c:lblAlgn val="ctr"/>
        <c:lblOffset val="100"/>
        <c:noMultiLvlLbl val="0"/>
      </c:catAx>
      <c:valAx>
        <c:axId val="89461582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8946148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lang="en-US" sz="100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  <a:endParaRPr lang="fr-FR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55-64</c:v>
                </c:pt>
                <c:pt idx="5">
                  <c:v>65+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1477</c:v>
                </c:pt>
                <c:pt idx="1">
                  <c:v>2346</c:v>
                </c:pt>
                <c:pt idx="2">
                  <c:v>2424</c:v>
                </c:pt>
                <c:pt idx="3">
                  <c:v>1320</c:v>
                </c:pt>
                <c:pt idx="4">
                  <c:v>379</c:v>
                </c:pt>
                <c:pt idx="5">
                  <c:v>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48-47F2-AB4C-9EAE98AAE9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Spend ($K)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55-64</c:v>
                </c:pt>
                <c:pt idx="5">
                  <c:v>65+</c:v>
                </c:pt>
              </c:strCache>
            </c:strRef>
          </c:cat>
          <c:val>
            <c:numRef>
              <c:f>Sheet1!$C$2:$C$7</c:f>
              <c:numCache>
                <c:formatCode>000"k"</c:formatCode>
                <c:ptCount val="6"/>
                <c:pt idx="0">
                  <c:v>138</c:v>
                </c:pt>
                <c:pt idx="1">
                  <c:v>144</c:v>
                </c:pt>
                <c:pt idx="2">
                  <c:v>144</c:v>
                </c:pt>
                <c:pt idx="3">
                  <c:v>142</c:v>
                </c:pt>
                <c:pt idx="4">
                  <c:v>144</c:v>
                </c:pt>
                <c:pt idx="5">
                  <c:v>107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B48-47F2-AB4C-9EAE98AAE98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/>
          <a:lstStyle/>
          <a:p>
            <a:pPr>
              <a:defRPr sz="1000">
                <a:solidFill>
                  <a:schemeClr val="bg1"/>
                </a:solidFill>
              </a:defRPr>
            </a:pPr>
            <a:endParaRPr lang="en-US"/>
          </a:p>
        </c:txPr>
      </c:legendEntry>
      <c:legendEntry>
        <c:idx val="1"/>
        <c:txPr>
          <a:bodyPr/>
          <a:lstStyle/>
          <a:p>
            <a:pPr>
              <a:defRPr sz="1000">
                <a:solidFill>
                  <a:schemeClr val="bg1"/>
                </a:solidFill>
              </a:defRPr>
            </a:pPr>
            <a:endParaRPr lang="en-US"/>
          </a:p>
        </c:txPr>
      </c:legendEntry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EC66E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chemeClr val="bg1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Avg Spend ($K)</c:v>
                </c:pt>
                <c:pt idx="1">
                  <c:v>Avg Orders</c:v>
                </c:pt>
                <c:pt idx="2">
                  <c:v>Customer Share (%)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141</c:v>
                </c:pt>
                <c:pt idx="1">
                  <c:v>16.8</c:v>
                </c:pt>
                <c:pt idx="2">
                  <c:v>51.7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FF-44B0-A9F8-A30214C3E19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chemeClr val="bg1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Avg Spend ($K)</c:v>
                </c:pt>
                <c:pt idx="1">
                  <c:v>Avg Orders</c:v>
                </c:pt>
                <c:pt idx="2">
                  <c:v>Customer Share (%)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144</c:v>
                </c:pt>
                <c:pt idx="1">
                  <c:v>16.3</c:v>
                </c:pt>
                <c:pt idx="2">
                  <c:v>48.3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7FF-44B0-A9F8-A30214C3E1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bg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chemeClr val="bg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228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7714C-4072-6B44-65A0-3072469A6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3110BD-3101-DC01-28ED-2DC43E1E10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000CBD-8AD5-6925-5FA1-49806090C8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Core Strategic Questions:</a:t>
            </a:r>
          </a:p>
          <a:p>
            <a:r>
              <a:rPr lang="en-US" dirty="0"/>
              <a:t>Who are our best customers? </a:t>
            </a:r>
          </a:p>
          <a:p>
            <a:r>
              <a:rPr lang="en-US" dirty="0"/>
              <a:t>Who may churn? </a:t>
            </a:r>
          </a:p>
          <a:p>
            <a:r>
              <a:rPr lang="en-US" dirty="0"/>
              <a:t>Who can become loyal? </a:t>
            </a:r>
          </a:p>
          <a:p>
            <a:r>
              <a:rPr lang="en-US" dirty="0"/>
              <a:t>Is marketing driving value? </a:t>
            </a:r>
          </a:p>
          <a:p>
            <a:r>
              <a:rPr lang="en-US" dirty="0"/>
              <a:t>Which customer groups deserve strategic focus?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8085F-192B-C910-EE7A-8E0009B445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5337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98862-7473-CC24-3EF1-D7253D136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FA049C-3834-D263-90F6-AB0E7CA43B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39382B-513E-3492-9C55-FA2D4F26CE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62B21-F896-749B-1DBE-1879B4D152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6710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D4AC0-8A92-5E21-8CE0-DA62F361A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CF79EB-7E4C-862E-2081-5FA19DAF65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65A2C9-4828-7A05-8B82-95C432214B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83936-55C5-B243-88C5-168007D992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0318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0B660-E279-FD1E-6A84-F9B9661FE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D04394-56BA-575B-23DC-F7BAC44531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9F5A75-516F-6FF2-3AB9-65790BE533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A068A-D458-425E-DCD9-84843104D2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2635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64CB5-FE38-D5BB-A799-5A8473789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BE9265-86D6-942B-71D5-684FC2B285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8AEFAA-593F-AC33-AD5D-B122108D79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9DC9E-2CF4-883A-DF73-A889A2D2D2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5751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61D2C-F3EB-3F42-5716-A0EA3F8A2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BDAB58-8CC2-1089-9CAA-4792F8B436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388328-959A-CE94-2C07-880C2C6A7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19E650-2BB6-3BE4-F5A7-E9C2212156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9736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E3607-226E-AD2A-9B23-D457C9520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B48C6B-989B-C835-FD3A-527AD42255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D2D2AD-793F-026B-CA3D-E55A0298C8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dirty="0"/>
              <a:t>- </a:t>
            </a:r>
            <a:r>
              <a:rPr lang="fr-FR" sz="1200" dirty="0" err="1"/>
              <a:t>Potential</a:t>
            </a:r>
            <a:r>
              <a:rPr lang="fr-FR" sz="1200" dirty="0"/>
              <a:t> </a:t>
            </a:r>
            <a:r>
              <a:rPr lang="fr-FR" sz="1200" dirty="0" err="1"/>
              <a:t>Loyalists</a:t>
            </a:r>
            <a:r>
              <a:rPr lang="fr-FR" sz="1200" dirty="0"/>
              <a:t> are the </a:t>
            </a:r>
            <a:r>
              <a:rPr lang="fr-FR" sz="1200" dirty="0" err="1"/>
              <a:t>most</a:t>
            </a:r>
            <a:r>
              <a:rPr lang="fr-FR" sz="1200" dirty="0"/>
              <a:t> </a:t>
            </a:r>
            <a:r>
              <a:rPr lang="fr-FR" sz="1200" dirty="0" err="1"/>
              <a:t>cost</a:t>
            </a:r>
            <a:r>
              <a:rPr lang="fr-FR" sz="1200" dirty="0"/>
              <a:t>-efficient </a:t>
            </a:r>
            <a:r>
              <a:rPr lang="fr-FR" sz="1200" dirty="0" err="1"/>
              <a:t>path</a:t>
            </a:r>
            <a:r>
              <a:rPr lang="fr-FR" sz="1200" dirty="0"/>
              <a:t> to future </a:t>
            </a:r>
            <a:r>
              <a:rPr lang="fr-FR" sz="1200" dirty="0" err="1"/>
              <a:t>loyalty</a:t>
            </a:r>
            <a:r>
              <a:rPr lang="fr-FR" sz="1200" dirty="0"/>
              <a:t> </a:t>
            </a:r>
            <a:r>
              <a:rPr lang="fr-FR" sz="1200" dirty="0" err="1"/>
              <a:t>growth</a:t>
            </a:r>
            <a:r>
              <a:rPr lang="fr-FR" sz="1200" dirty="0"/>
              <a:t>. </a:t>
            </a:r>
          </a:p>
          <a:p>
            <a:r>
              <a:rPr lang="fr-FR" sz="1200" dirty="0"/>
              <a:t>- New </a:t>
            </a:r>
            <a:r>
              <a:rPr lang="fr-FR" sz="1200" dirty="0" err="1"/>
              <a:t>Customers</a:t>
            </a:r>
            <a:r>
              <a:rPr lang="fr-FR" sz="1200" dirty="0"/>
              <a:t> are future value candidates </a:t>
            </a:r>
            <a:r>
              <a:rPr lang="fr-FR" sz="1200" dirty="0" err="1"/>
              <a:t>whose</a:t>
            </a:r>
            <a:r>
              <a:rPr lang="fr-FR" sz="1200" dirty="0"/>
              <a:t> </a:t>
            </a:r>
            <a:r>
              <a:rPr lang="fr-FR" sz="1200" dirty="0" err="1"/>
              <a:t>profitability</a:t>
            </a:r>
            <a:r>
              <a:rPr lang="fr-FR" sz="1200" dirty="0"/>
              <a:t> </a:t>
            </a:r>
            <a:r>
              <a:rPr lang="fr-FR" sz="1200" dirty="0" err="1"/>
              <a:t>depends</a:t>
            </a:r>
            <a:r>
              <a:rPr lang="fr-FR" sz="1200" dirty="0"/>
              <a:t> on </a:t>
            </a:r>
            <a:r>
              <a:rPr lang="fr-FR" sz="1200" dirty="0" err="1"/>
              <a:t>early</a:t>
            </a:r>
            <a:r>
              <a:rPr lang="fr-FR" sz="1200" dirty="0"/>
              <a:t> </a:t>
            </a:r>
            <a:r>
              <a:rPr lang="fr-FR" sz="1200" dirty="0" err="1"/>
              <a:t>retention</a:t>
            </a:r>
            <a:r>
              <a:rPr lang="fr-FR" sz="1200" dirty="0"/>
              <a:t> </a:t>
            </a:r>
            <a:r>
              <a:rPr lang="fr-FR" sz="1200" dirty="0" err="1"/>
              <a:t>success</a:t>
            </a:r>
            <a:r>
              <a:rPr lang="fr-FR" sz="1200" dirty="0"/>
              <a:t>. </a:t>
            </a:r>
          </a:p>
          <a:p>
            <a:r>
              <a:rPr lang="fr-FR" sz="1200" dirty="0"/>
              <a:t>- </a:t>
            </a:r>
            <a:r>
              <a:rPr lang="fr-FR" sz="1200" dirty="0" err="1"/>
              <a:t>Promising</a:t>
            </a:r>
            <a:r>
              <a:rPr lang="fr-FR" sz="1200" dirty="0"/>
              <a:t> </a:t>
            </a:r>
            <a:r>
              <a:rPr lang="fr-FR" sz="1200" dirty="0" err="1"/>
              <a:t>customers</a:t>
            </a:r>
            <a:r>
              <a:rPr lang="fr-FR" sz="1200" dirty="0"/>
              <a:t> </a:t>
            </a:r>
            <a:r>
              <a:rPr lang="fr-FR" sz="1200" dirty="0" err="1"/>
              <a:t>demonstrate</a:t>
            </a:r>
            <a:r>
              <a:rPr lang="fr-FR" sz="1200" dirty="0"/>
              <a:t> </a:t>
            </a:r>
            <a:r>
              <a:rPr lang="fr-FR" sz="1200" dirty="0" err="1"/>
              <a:t>strong</a:t>
            </a:r>
            <a:r>
              <a:rPr lang="fr-FR" sz="1200" dirty="0"/>
              <a:t> </a:t>
            </a:r>
            <a:r>
              <a:rPr lang="fr-FR" sz="1200" dirty="0" err="1"/>
              <a:t>spending</a:t>
            </a:r>
            <a:r>
              <a:rPr lang="fr-FR" sz="1200" dirty="0"/>
              <a:t> power but </a:t>
            </a:r>
            <a:r>
              <a:rPr lang="fr-FR" sz="1200" dirty="0" err="1"/>
              <a:t>require</a:t>
            </a:r>
            <a:r>
              <a:rPr lang="fr-FR" sz="1200" dirty="0"/>
              <a:t> </a:t>
            </a:r>
            <a:r>
              <a:rPr lang="fr-FR" sz="1200" dirty="0" err="1"/>
              <a:t>frequency</a:t>
            </a:r>
            <a:r>
              <a:rPr lang="fr-FR" sz="1200" dirty="0"/>
              <a:t> </a:t>
            </a:r>
            <a:r>
              <a:rPr lang="fr-FR" sz="1200" dirty="0" err="1"/>
              <a:t>acceleration</a:t>
            </a:r>
            <a:r>
              <a:rPr lang="fr-FR" sz="1200" dirty="0"/>
              <a:t> to </a:t>
            </a:r>
            <a:r>
              <a:rPr lang="fr-FR" sz="1200" dirty="0" err="1"/>
              <a:t>validate</a:t>
            </a:r>
            <a:r>
              <a:rPr lang="fr-FR" sz="1200" dirty="0"/>
              <a:t> long-</a:t>
            </a:r>
            <a:r>
              <a:rPr lang="fr-FR" sz="1200" dirty="0" err="1"/>
              <a:t>term</a:t>
            </a:r>
            <a:r>
              <a:rPr lang="fr-FR" sz="1200" dirty="0"/>
              <a:t> </a:t>
            </a:r>
            <a:r>
              <a:rPr lang="fr-FR" sz="1200" dirty="0" err="1"/>
              <a:t>loyalty</a:t>
            </a:r>
            <a:r>
              <a:rPr lang="fr-FR" sz="1200" dirty="0"/>
              <a:t>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88C6E-014C-AE42-3FD3-0D1DF4E1EC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8929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5B78B-069D-FF55-3A81-F42E85762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4771D0-81FD-7EAF-3784-93704A78D1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4DC27E-5D3F-75CF-2256-CDEB7D5E4A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637EE1-932D-C8EC-F8AC-153E2F3147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6179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25AA6-25ED-75D2-CA31-51403F03F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68775B-2D15-63FD-17FF-A1C26DEE17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BC0B45-A80D-215E-4D4C-0C0EC8909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91136-BACA-0D80-A320-D5D6B94D6C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4967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7F386-B657-CBC3-A3B5-27914D90B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90F0A0-317E-23A5-01B5-E3646B3F21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5F8A0D-B2C2-1CF6-6504-BB5B8F94A1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47EDDA-79C7-5C2A-5785-1AFD1CD681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6122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C80A0-0CDB-4C68-C9AD-AC24CC9DC5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F8920D-D7E1-0583-C902-014399A33C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58AB7-A7A0-E733-6FFF-CF721C9CB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A59E9-276D-896D-58AB-E5953133F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46DF8F-5267-9700-3BB6-4803A3A50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98205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FCE84-54A6-1BA6-4498-DFFED382D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6D612-0FD0-6602-50BA-37EF5AF86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89894-2F5B-BCF3-A7B1-60A277CB6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EEFE2-4026-69FE-F847-547F7E0BD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4F582-A153-F78A-E0B6-140D9AFD3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5051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CCC83-9317-311B-C177-A5A9D1F6A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85AE51-A3B3-16F4-C03A-A2D77E21D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6FFC5-73AC-32B3-17DC-B44424664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4FC1E-4932-3570-D986-8FC83B07F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98024-4B08-2A11-D31D-E88428A2F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41807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E4364-3D74-CB8E-5FCA-48AC07FFB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39A48-A355-2379-E512-B353AD9588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2FC791-B788-E99A-605B-4F7C9332F5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47B41E-CA31-95F1-0ABC-87D4B8736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D8C0D3-7C58-C893-C3E6-6BF019FFD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B3CC77-D7C0-860A-62C4-5A1CA41C9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72956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0D148-C46C-4212-5B1F-E30B5E104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6D14BD-3920-E3A1-F959-B58E95CCD6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4B024-271E-4408-2DB5-F3A4483A19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E61A7C-1548-0ED4-755E-B544B53FE2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2257E9-999D-E0D6-B103-6A68CF4B90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B2D6A3-9B7A-F06B-2B03-EDD54FF9F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E3C99B-0B37-327E-77C3-BFE89D007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70C8FC-1EC9-1854-A61E-66F8E3FA1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14716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FF618-C319-3E9B-0476-5B491054B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BCE2AA-982A-7D54-4C00-CD6274B88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70A8DB-A027-5334-4502-5E9D396AF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33C3B6-4C19-F48D-26A2-08CC479F0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35348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F90233-F371-0E90-D2B8-E227376B2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A527FB-B0E9-B9BB-BA71-EB964B477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A4804-647B-9D3C-B678-680219628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44663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276F3-321C-174A-892D-809375390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C7201-49E7-96C2-9FEE-700C5B292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D2B859-88A1-79AA-E00F-5622D9DF34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081035-3751-04A0-9673-B8976B610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D74CF5-FDC0-DC87-FD05-ABC858966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A3B748-9BA9-E44B-6228-17126E70E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49721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F6191-EAC6-2B9C-7657-382D36154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7BC77E-11D4-3BD3-7F8E-A3815BB60C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53C9B2-D27F-DD2E-9470-F6E30F33F6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C3EE63-76E4-A0D6-0F28-40CD154C4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252F07-3C2E-E521-32CE-D4CC39733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D78678-C9CD-5FBE-7F25-1BF34EF92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20556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BEAEA-501E-D10B-AD76-BF49F6FAD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60A946-8CAB-951B-0A60-158CBB96D7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4E081-7598-534B-A9D4-7800619BB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C469D-E0A7-45C0-231D-26215D58B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EF893-D8C9-2D49-573D-B538742D7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39576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FA7659-D1D3-EDAB-BD8D-1DB9E612E4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1EE4E0-130B-B243-2AD5-512A3AC8D8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8CB91-EC37-F2B0-A414-1C78E5CB7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0A2F1-2A88-DC37-A44A-E32E3F48B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A73C8-8739-6769-B6E6-02708AF9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051612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3715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AA8520-EEB2-1AD2-400C-A2F90A19A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66CBC-16FC-F7CB-E554-5306F6F6A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4B2ED-32DF-344F-9832-484C8E638B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1F1B9-9983-9777-F1F5-CE84AC867B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145C2D-F077-B406-F2DF-7AB3CD4094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991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hape 1"/>
          <p:cNvSpPr/>
          <p:nvPr/>
        </p:nvSpPr>
        <p:spPr>
          <a:xfrm>
            <a:off x="8412480" y="-731520"/>
            <a:ext cx="4572000" cy="4572000"/>
          </a:xfrm>
          <a:prstGeom prst="ellipse">
            <a:avLst/>
          </a:prstGeom>
          <a:solidFill>
            <a:srgbClr val="1A56A0">
              <a:alpha val="20000"/>
            </a:srgbClr>
          </a:solidFill>
          <a:ln w="12700">
            <a:solidFill>
              <a:srgbClr val="1A56A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2"/>
          <p:cNvSpPr/>
          <p:nvPr/>
        </p:nvSpPr>
        <p:spPr>
          <a:xfrm>
            <a:off x="9601200" y="3200400"/>
            <a:ext cx="3200400" cy="3200400"/>
          </a:xfrm>
          <a:prstGeom prst="ellipse">
            <a:avLst/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3"/>
          <p:cNvSpPr/>
          <p:nvPr/>
        </p:nvSpPr>
        <p:spPr>
          <a:xfrm>
            <a:off x="502920" y="1330453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noProof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CUSTOMER SEGMENTATION</a:t>
            </a:r>
            <a:endParaRPr lang="en-US" sz="1300" noProof="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5200" b="1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Customer    Behavior Analysis</a:t>
            </a:r>
            <a:endParaRPr lang="en-US" sz="5200" noProof="0" dirty="0"/>
          </a:p>
        </p:txBody>
      </p:sp>
      <p:sp>
        <p:nvSpPr>
          <p:cNvPr id="7" name="Shape 5"/>
          <p:cNvSpPr/>
          <p:nvPr/>
        </p:nvSpPr>
        <p:spPr>
          <a:xfrm>
            <a:off x="502920" y="3639312"/>
            <a:ext cx="548640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8" name="Text 6"/>
          <p:cNvSpPr/>
          <p:nvPr/>
        </p:nvSpPr>
        <p:spPr>
          <a:xfrm>
            <a:off x="502920" y="3735705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Segmentation to Drive Retention, Loyalty &amp; Revenue Growth</a:t>
            </a:r>
            <a:endParaRPr lang="en-US" noProof="0" dirty="0"/>
          </a:p>
        </p:txBody>
      </p:sp>
      <p:sp>
        <p:nvSpPr>
          <p:cNvPr id="9" name="Text 7"/>
          <p:cNvSpPr/>
          <p:nvPr/>
        </p:nvSpPr>
        <p:spPr>
          <a:xfrm>
            <a:off x="502920" y="4617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noProof="0" dirty="0">
                <a:solidFill>
                  <a:srgbClr val="38BDF8"/>
                </a:solidFill>
              </a:rPr>
              <a:t>8,000</a:t>
            </a:r>
            <a:endParaRPr lang="en-US" sz="2200" noProof="0" dirty="0"/>
          </a:p>
        </p:txBody>
      </p:sp>
      <p:sp>
        <p:nvSpPr>
          <p:cNvPr id="10" name="Text 8"/>
          <p:cNvSpPr/>
          <p:nvPr/>
        </p:nvSpPr>
        <p:spPr>
          <a:xfrm>
            <a:off x="502920" y="499033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94A3B8"/>
                </a:solidFill>
              </a:rPr>
              <a:t>Customers Analyzed</a:t>
            </a:r>
            <a:endParaRPr lang="en-US" sz="1100" noProof="0" dirty="0"/>
          </a:p>
        </p:txBody>
      </p:sp>
      <p:sp>
        <p:nvSpPr>
          <p:cNvPr id="11" name="Text 9"/>
          <p:cNvSpPr/>
          <p:nvPr/>
        </p:nvSpPr>
        <p:spPr>
          <a:xfrm>
            <a:off x="3337560" y="4617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noProof="0" dirty="0">
                <a:solidFill>
                  <a:srgbClr val="38BDF8"/>
                </a:solidFill>
              </a:rPr>
              <a:t>6 Years</a:t>
            </a:r>
            <a:endParaRPr lang="en-US" sz="2200" noProof="0" dirty="0"/>
          </a:p>
        </p:txBody>
      </p:sp>
      <p:sp>
        <p:nvSpPr>
          <p:cNvPr id="12" name="Text 10"/>
          <p:cNvSpPr/>
          <p:nvPr/>
        </p:nvSpPr>
        <p:spPr>
          <a:xfrm>
            <a:off x="3337560" y="499033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94A3B8"/>
                </a:solidFill>
              </a:rPr>
              <a:t>Transaction History (2020–2026)</a:t>
            </a:r>
            <a:endParaRPr lang="en-US" sz="1100" noProof="0" dirty="0"/>
          </a:p>
        </p:txBody>
      </p:sp>
      <p:sp>
        <p:nvSpPr>
          <p:cNvPr id="13" name="Text 11"/>
          <p:cNvSpPr/>
          <p:nvPr/>
        </p:nvSpPr>
        <p:spPr>
          <a:xfrm>
            <a:off x="6172200" y="4617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noProof="0" dirty="0">
                <a:solidFill>
                  <a:srgbClr val="38BDF8"/>
                </a:solidFill>
              </a:rPr>
              <a:t>11</a:t>
            </a:r>
            <a:endParaRPr lang="en-US" sz="2200" noProof="0" dirty="0"/>
          </a:p>
        </p:txBody>
      </p:sp>
      <p:sp>
        <p:nvSpPr>
          <p:cNvPr id="14" name="Text 12"/>
          <p:cNvSpPr/>
          <p:nvPr/>
        </p:nvSpPr>
        <p:spPr>
          <a:xfrm>
            <a:off x="6172200" y="499033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94A3B8"/>
                </a:solidFill>
              </a:rPr>
              <a:t>Customer Segments</a:t>
            </a:r>
            <a:endParaRPr lang="en-US" sz="1100" noProof="0" dirty="0"/>
          </a:p>
        </p:txBody>
      </p:sp>
      <p:sp>
        <p:nvSpPr>
          <p:cNvPr id="17" name="Text 15"/>
          <p:cNvSpPr/>
          <p:nvPr/>
        </p:nvSpPr>
        <p:spPr>
          <a:xfrm>
            <a:off x="502920" y="6309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noProof="0" dirty="0">
                <a:solidFill>
                  <a:srgbClr val="94A3B8"/>
                </a:solidFill>
              </a:rPr>
              <a:t>Mohammed Drihmi – Data Analyst 	 </a:t>
            </a:r>
            <a:endParaRPr lang="en-US" sz="10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4780" y="677223"/>
            <a:ext cx="3188336" cy="478814"/>
          </a:xfrm>
          <a:prstGeom prst="roundRect">
            <a:avLst>
              <a:gd name="adj" fmla="val 25000"/>
            </a:avLst>
          </a:prstGeom>
          <a:solidFill>
            <a:srgbClr val="1A56A0">
              <a:alpha val="84706"/>
            </a:srgbClr>
          </a:solidFill>
          <a:ln w="12700">
            <a:solidFill>
              <a:srgbClr val="1A56A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Text 1"/>
          <p:cNvSpPr/>
          <p:nvPr/>
        </p:nvSpPr>
        <p:spPr>
          <a:xfrm>
            <a:off x="844780" y="668080"/>
            <a:ext cx="31883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noProof="0" dirty="0">
                <a:solidFill>
                  <a:srgbClr val="F8FAFC"/>
                </a:solidFill>
              </a:rPr>
              <a:t>Executive Summary </a:t>
            </a:r>
            <a:endParaRPr lang="en-US" sz="1600" noProof="0" dirty="0"/>
          </a:p>
        </p:txBody>
      </p:sp>
      <p:grpSp>
        <p:nvGrpSpPr>
          <p:cNvPr id="353" name="Google Shape;809;p32">
            <a:extLst>
              <a:ext uri="{FF2B5EF4-FFF2-40B4-BE49-F238E27FC236}">
                <a16:creationId xmlns:a16="http://schemas.microsoft.com/office/drawing/2014/main" id="{91BDB54E-ED43-343B-598D-66C3212C14E0}"/>
              </a:ext>
            </a:extLst>
          </p:cNvPr>
          <p:cNvGrpSpPr/>
          <p:nvPr/>
        </p:nvGrpSpPr>
        <p:grpSpPr>
          <a:xfrm>
            <a:off x="6583830" y="2021833"/>
            <a:ext cx="4599197" cy="870115"/>
            <a:chOff x="1765476" y="1040751"/>
            <a:chExt cx="6921379" cy="848953"/>
          </a:xfrm>
        </p:grpSpPr>
        <p:sp>
          <p:nvSpPr>
            <p:cNvPr id="354" name="Google Shape;810;p32">
              <a:extLst>
                <a:ext uri="{FF2B5EF4-FFF2-40B4-BE49-F238E27FC236}">
                  <a16:creationId xmlns:a16="http://schemas.microsoft.com/office/drawing/2014/main" id="{4ABE5050-ABF5-F328-EBEF-4FBF3146556D}"/>
                </a:ext>
              </a:extLst>
            </p:cNvPr>
            <p:cNvSpPr/>
            <p:nvPr/>
          </p:nvSpPr>
          <p:spPr>
            <a:xfrm>
              <a:off x="1765701" y="1088123"/>
              <a:ext cx="6920940" cy="801581"/>
            </a:xfrm>
            <a:custGeom>
              <a:avLst/>
              <a:gdLst/>
              <a:ahLst/>
              <a:cxnLst/>
              <a:rect l="l" t="t" r="r" b="b"/>
              <a:pathLst>
                <a:path w="185250" h="26457" extrusionOk="0">
                  <a:moveTo>
                    <a:pt x="180499" y="1"/>
                  </a:moveTo>
                  <a:lnTo>
                    <a:pt x="91000" y="1"/>
                  </a:lnTo>
                  <a:lnTo>
                    <a:pt x="88428" y="1"/>
                  </a:lnTo>
                  <a:lnTo>
                    <a:pt x="3311" y="1"/>
                  </a:lnTo>
                  <a:cubicBezTo>
                    <a:pt x="1477" y="1"/>
                    <a:pt x="1" y="1477"/>
                    <a:pt x="1" y="3311"/>
                  </a:cubicBezTo>
                  <a:lnTo>
                    <a:pt x="1" y="23147"/>
                  </a:lnTo>
                  <a:cubicBezTo>
                    <a:pt x="1" y="24980"/>
                    <a:pt x="1477" y="26456"/>
                    <a:pt x="3311" y="26456"/>
                  </a:cubicBezTo>
                  <a:lnTo>
                    <a:pt x="88428" y="26456"/>
                  </a:lnTo>
                  <a:lnTo>
                    <a:pt x="91000" y="26456"/>
                  </a:lnTo>
                  <a:lnTo>
                    <a:pt x="180499" y="26456"/>
                  </a:lnTo>
                  <a:cubicBezTo>
                    <a:pt x="183131" y="26456"/>
                    <a:pt x="185250" y="24337"/>
                    <a:pt x="185250" y="21706"/>
                  </a:cubicBezTo>
                  <a:lnTo>
                    <a:pt x="185250" y="4740"/>
                  </a:lnTo>
                  <a:cubicBezTo>
                    <a:pt x="185250" y="2120"/>
                    <a:pt x="183119" y="1"/>
                    <a:pt x="180499" y="1"/>
                  </a:cubicBezTo>
                  <a:close/>
                </a:path>
              </a:pathLst>
            </a:custGeom>
            <a:solidFill>
              <a:srgbClr val="C5C5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55" name="Google Shape;811;p32">
              <a:extLst>
                <a:ext uri="{FF2B5EF4-FFF2-40B4-BE49-F238E27FC236}">
                  <a16:creationId xmlns:a16="http://schemas.microsoft.com/office/drawing/2014/main" id="{7CCB435D-0846-5F74-DDCB-FDB29A4BF451}"/>
                </a:ext>
              </a:extLst>
            </p:cNvPr>
            <p:cNvSpPr/>
            <p:nvPr/>
          </p:nvSpPr>
          <p:spPr>
            <a:xfrm>
              <a:off x="3775996" y="1040775"/>
              <a:ext cx="4910859" cy="801914"/>
            </a:xfrm>
            <a:custGeom>
              <a:avLst/>
              <a:gdLst/>
              <a:ahLst/>
              <a:cxnLst/>
              <a:rect l="l" t="t" r="r" b="b"/>
              <a:pathLst>
                <a:path w="96822" h="26468" extrusionOk="0">
                  <a:moveTo>
                    <a:pt x="0" y="0"/>
                  </a:moveTo>
                  <a:lnTo>
                    <a:pt x="0" y="26468"/>
                  </a:lnTo>
                  <a:lnTo>
                    <a:pt x="92071" y="26468"/>
                  </a:lnTo>
                  <a:cubicBezTo>
                    <a:pt x="94691" y="26468"/>
                    <a:pt x="96822" y="24337"/>
                    <a:pt x="96822" y="21717"/>
                  </a:cubicBezTo>
                  <a:lnTo>
                    <a:pt x="96822" y="4751"/>
                  </a:lnTo>
                  <a:cubicBezTo>
                    <a:pt x="96822" y="2120"/>
                    <a:pt x="94691" y="0"/>
                    <a:pt x="92071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457200" tIns="91425" rIns="91425" bIns="91425" anchor="ctr" anchorCtr="0">
              <a:noAutofit/>
            </a:bodyPr>
            <a:lstStyle/>
            <a:p>
              <a:pPr lvl="0" algn="ctr">
                <a:buClr>
                  <a:srgbClr val="000000"/>
                </a:buClr>
                <a:buSzPts val="1100"/>
              </a:pPr>
              <a:endPara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Roboto"/>
                <a:cs typeface="Roboto"/>
                <a:sym typeface="Roboto"/>
              </a:endParaRPr>
            </a:p>
          </p:txBody>
        </p:sp>
        <p:sp>
          <p:nvSpPr>
            <p:cNvPr id="356" name="Google Shape;812;p32">
              <a:extLst>
                <a:ext uri="{FF2B5EF4-FFF2-40B4-BE49-F238E27FC236}">
                  <a16:creationId xmlns:a16="http://schemas.microsoft.com/office/drawing/2014/main" id="{000B8E84-2761-3D1C-6035-86D900843A78}"/>
                </a:ext>
              </a:extLst>
            </p:cNvPr>
            <p:cNvSpPr/>
            <p:nvPr/>
          </p:nvSpPr>
          <p:spPr>
            <a:xfrm>
              <a:off x="1765689" y="1040751"/>
              <a:ext cx="2270175" cy="801945"/>
            </a:xfrm>
            <a:custGeom>
              <a:avLst/>
              <a:gdLst/>
              <a:ahLst/>
              <a:cxnLst/>
              <a:rect l="l" t="t" r="r" b="b"/>
              <a:pathLst>
                <a:path w="102014" h="26469" extrusionOk="0">
                  <a:moveTo>
                    <a:pt x="3311" y="1"/>
                  </a:moveTo>
                  <a:cubicBezTo>
                    <a:pt x="1477" y="1"/>
                    <a:pt x="1" y="1489"/>
                    <a:pt x="1" y="3311"/>
                  </a:cubicBezTo>
                  <a:lnTo>
                    <a:pt x="1" y="23159"/>
                  </a:lnTo>
                  <a:cubicBezTo>
                    <a:pt x="1" y="24980"/>
                    <a:pt x="1477" y="26469"/>
                    <a:pt x="3311" y="26469"/>
                  </a:cubicBezTo>
                  <a:lnTo>
                    <a:pt x="91000" y="26469"/>
                  </a:lnTo>
                  <a:cubicBezTo>
                    <a:pt x="92036" y="26469"/>
                    <a:pt x="93012" y="25980"/>
                    <a:pt x="93643" y="25147"/>
                  </a:cubicBezTo>
                  <a:lnTo>
                    <a:pt x="101132" y="15229"/>
                  </a:lnTo>
                  <a:cubicBezTo>
                    <a:pt x="102013" y="14050"/>
                    <a:pt x="102013" y="12419"/>
                    <a:pt x="101132" y="11240"/>
                  </a:cubicBezTo>
                  <a:lnTo>
                    <a:pt x="93643" y="1323"/>
                  </a:lnTo>
                  <a:cubicBezTo>
                    <a:pt x="93012" y="489"/>
                    <a:pt x="92036" y="1"/>
                    <a:pt x="91000" y="1"/>
                  </a:cubicBezTo>
                  <a:close/>
                </a:path>
              </a:pathLst>
            </a:custGeom>
            <a:solidFill>
              <a:srgbClr val="1A56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3" name="Google Shape;815;p32">
              <a:extLst>
                <a:ext uri="{FF2B5EF4-FFF2-40B4-BE49-F238E27FC236}">
                  <a16:creationId xmlns:a16="http://schemas.microsoft.com/office/drawing/2014/main" id="{D374C08D-AEA9-6793-A84C-49CE616B733A}"/>
                </a:ext>
              </a:extLst>
            </p:cNvPr>
            <p:cNvSpPr txBox="1"/>
            <p:nvPr/>
          </p:nvSpPr>
          <p:spPr>
            <a:xfrm>
              <a:off x="1765476" y="1283194"/>
              <a:ext cx="2270388" cy="27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lvl1pPr marR="0" lvl="0" indent="0" algn="ctr"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 sz="1600" b="1">
                  <a:solidFill>
                    <a:schemeClr val="bg1"/>
                  </a:solidFill>
                  <a:cs typeface="Segoe UI" panose="020B0502040204020203" pitchFamily="34" charset="0"/>
                </a:defRPr>
              </a:lvl1pPr>
            </a:lstStyle>
            <a:p>
              <a:r>
                <a:rPr lang="en-US" noProof="0" dirty="0"/>
                <a:t>Biggest revenue risk</a:t>
              </a:r>
              <a:endParaRPr lang="en-US" noProof="0" dirty="0">
                <a:sym typeface="Roboto"/>
              </a:endParaRPr>
            </a:p>
          </p:txBody>
        </p:sp>
      </p:grpSp>
      <p:grpSp>
        <p:nvGrpSpPr>
          <p:cNvPr id="420" name="Google Shape;809;p32">
            <a:extLst>
              <a:ext uri="{FF2B5EF4-FFF2-40B4-BE49-F238E27FC236}">
                <a16:creationId xmlns:a16="http://schemas.microsoft.com/office/drawing/2014/main" id="{DAB77E5B-E860-3FA8-C48F-4EA4A4343545}"/>
              </a:ext>
            </a:extLst>
          </p:cNvPr>
          <p:cNvGrpSpPr/>
          <p:nvPr/>
        </p:nvGrpSpPr>
        <p:grpSpPr>
          <a:xfrm>
            <a:off x="844631" y="2021833"/>
            <a:ext cx="4599346" cy="870115"/>
            <a:chOff x="1765477" y="1040751"/>
            <a:chExt cx="6921378" cy="848953"/>
          </a:xfrm>
        </p:grpSpPr>
        <p:sp>
          <p:nvSpPr>
            <p:cNvPr id="421" name="Google Shape;810;p32">
              <a:extLst>
                <a:ext uri="{FF2B5EF4-FFF2-40B4-BE49-F238E27FC236}">
                  <a16:creationId xmlns:a16="http://schemas.microsoft.com/office/drawing/2014/main" id="{877CF040-4F24-D40D-D890-7913331D6888}"/>
                </a:ext>
              </a:extLst>
            </p:cNvPr>
            <p:cNvSpPr/>
            <p:nvPr/>
          </p:nvSpPr>
          <p:spPr>
            <a:xfrm>
              <a:off x="1765701" y="1088123"/>
              <a:ext cx="6920940" cy="801581"/>
            </a:xfrm>
            <a:custGeom>
              <a:avLst/>
              <a:gdLst/>
              <a:ahLst/>
              <a:cxnLst/>
              <a:rect l="l" t="t" r="r" b="b"/>
              <a:pathLst>
                <a:path w="185250" h="26457" extrusionOk="0">
                  <a:moveTo>
                    <a:pt x="180499" y="1"/>
                  </a:moveTo>
                  <a:lnTo>
                    <a:pt x="91000" y="1"/>
                  </a:lnTo>
                  <a:lnTo>
                    <a:pt x="88428" y="1"/>
                  </a:lnTo>
                  <a:lnTo>
                    <a:pt x="3311" y="1"/>
                  </a:lnTo>
                  <a:cubicBezTo>
                    <a:pt x="1477" y="1"/>
                    <a:pt x="1" y="1477"/>
                    <a:pt x="1" y="3311"/>
                  </a:cubicBezTo>
                  <a:lnTo>
                    <a:pt x="1" y="23147"/>
                  </a:lnTo>
                  <a:cubicBezTo>
                    <a:pt x="1" y="24980"/>
                    <a:pt x="1477" y="26456"/>
                    <a:pt x="3311" y="26456"/>
                  </a:cubicBezTo>
                  <a:lnTo>
                    <a:pt x="88428" y="26456"/>
                  </a:lnTo>
                  <a:lnTo>
                    <a:pt x="91000" y="26456"/>
                  </a:lnTo>
                  <a:lnTo>
                    <a:pt x="180499" y="26456"/>
                  </a:lnTo>
                  <a:cubicBezTo>
                    <a:pt x="183131" y="26456"/>
                    <a:pt x="185250" y="24337"/>
                    <a:pt x="185250" y="21706"/>
                  </a:cubicBezTo>
                  <a:lnTo>
                    <a:pt x="185250" y="4740"/>
                  </a:lnTo>
                  <a:cubicBezTo>
                    <a:pt x="185250" y="2120"/>
                    <a:pt x="183119" y="1"/>
                    <a:pt x="180499" y="1"/>
                  </a:cubicBezTo>
                  <a:close/>
                </a:path>
              </a:pathLst>
            </a:custGeom>
            <a:solidFill>
              <a:srgbClr val="C5C5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22" name="Google Shape;811;p32">
              <a:extLst>
                <a:ext uri="{FF2B5EF4-FFF2-40B4-BE49-F238E27FC236}">
                  <a16:creationId xmlns:a16="http://schemas.microsoft.com/office/drawing/2014/main" id="{7CE27831-4AFA-E342-38F6-7DFF32D78539}"/>
                </a:ext>
              </a:extLst>
            </p:cNvPr>
            <p:cNvSpPr/>
            <p:nvPr/>
          </p:nvSpPr>
          <p:spPr>
            <a:xfrm>
              <a:off x="3775996" y="1040775"/>
              <a:ext cx="4910859" cy="801914"/>
            </a:xfrm>
            <a:custGeom>
              <a:avLst/>
              <a:gdLst/>
              <a:ahLst/>
              <a:cxnLst/>
              <a:rect l="l" t="t" r="r" b="b"/>
              <a:pathLst>
                <a:path w="96822" h="26468" extrusionOk="0">
                  <a:moveTo>
                    <a:pt x="0" y="0"/>
                  </a:moveTo>
                  <a:lnTo>
                    <a:pt x="0" y="26468"/>
                  </a:lnTo>
                  <a:lnTo>
                    <a:pt x="92071" y="26468"/>
                  </a:lnTo>
                  <a:cubicBezTo>
                    <a:pt x="94691" y="26468"/>
                    <a:pt x="96822" y="24337"/>
                    <a:pt x="96822" y="21717"/>
                  </a:cubicBezTo>
                  <a:lnTo>
                    <a:pt x="96822" y="4751"/>
                  </a:lnTo>
                  <a:cubicBezTo>
                    <a:pt x="96822" y="2120"/>
                    <a:pt x="94691" y="0"/>
                    <a:pt x="92071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457200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endPara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Roboto"/>
                <a:cs typeface="Roboto"/>
                <a:sym typeface="Roboto"/>
              </a:endParaRPr>
            </a:p>
          </p:txBody>
        </p:sp>
        <p:sp>
          <p:nvSpPr>
            <p:cNvPr id="423" name="Google Shape;812;p32">
              <a:extLst>
                <a:ext uri="{FF2B5EF4-FFF2-40B4-BE49-F238E27FC236}">
                  <a16:creationId xmlns:a16="http://schemas.microsoft.com/office/drawing/2014/main" id="{B901E571-5120-F5DC-5528-C6BBF3A66062}"/>
                </a:ext>
              </a:extLst>
            </p:cNvPr>
            <p:cNvSpPr/>
            <p:nvPr/>
          </p:nvSpPr>
          <p:spPr>
            <a:xfrm>
              <a:off x="1765689" y="1040751"/>
              <a:ext cx="2270175" cy="801945"/>
            </a:xfrm>
            <a:custGeom>
              <a:avLst/>
              <a:gdLst/>
              <a:ahLst/>
              <a:cxnLst/>
              <a:rect l="l" t="t" r="r" b="b"/>
              <a:pathLst>
                <a:path w="102014" h="26469" extrusionOk="0">
                  <a:moveTo>
                    <a:pt x="3311" y="1"/>
                  </a:moveTo>
                  <a:cubicBezTo>
                    <a:pt x="1477" y="1"/>
                    <a:pt x="1" y="1489"/>
                    <a:pt x="1" y="3311"/>
                  </a:cubicBezTo>
                  <a:lnTo>
                    <a:pt x="1" y="23159"/>
                  </a:lnTo>
                  <a:cubicBezTo>
                    <a:pt x="1" y="24980"/>
                    <a:pt x="1477" y="26469"/>
                    <a:pt x="3311" y="26469"/>
                  </a:cubicBezTo>
                  <a:lnTo>
                    <a:pt x="91000" y="26469"/>
                  </a:lnTo>
                  <a:cubicBezTo>
                    <a:pt x="92036" y="26469"/>
                    <a:pt x="93012" y="25980"/>
                    <a:pt x="93643" y="25147"/>
                  </a:cubicBezTo>
                  <a:lnTo>
                    <a:pt x="101132" y="15229"/>
                  </a:lnTo>
                  <a:cubicBezTo>
                    <a:pt x="102013" y="14050"/>
                    <a:pt x="102013" y="12419"/>
                    <a:pt x="101132" y="11240"/>
                  </a:cubicBezTo>
                  <a:lnTo>
                    <a:pt x="93643" y="1323"/>
                  </a:lnTo>
                  <a:cubicBezTo>
                    <a:pt x="93012" y="489"/>
                    <a:pt x="92036" y="1"/>
                    <a:pt x="91000" y="1"/>
                  </a:cubicBezTo>
                  <a:close/>
                </a:path>
              </a:pathLst>
            </a:custGeom>
            <a:solidFill>
              <a:srgbClr val="1A56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24" name="Google Shape;815;p32">
              <a:extLst>
                <a:ext uri="{FF2B5EF4-FFF2-40B4-BE49-F238E27FC236}">
                  <a16:creationId xmlns:a16="http://schemas.microsoft.com/office/drawing/2014/main" id="{CF0E80D3-DD71-DA8B-9C6A-31C9BCE66897}"/>
                </a:ext>
              </a:extLst>
            </p:cNvPr>
            <p:cNvSpPr txBox="1"/>
            <p:nvPr/>
          </p:nvSpPr>
          <p:spPr>
            <a:xfrm>
              <a:off x="1765477" y="1283194"/>
              <a:ext cx="2270389" cy="27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lvl1pPr marR="0" lvl="0" indent="0" algn="ctr"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 sz="1600" b="1">
                  <a:solidFill>
                    <a:schemeClr val="bg1"/>
                  </a:solidFill>
                  <a:cs typeface="Segoe UI" panose="020B0502040204020203" pitchFamily="34" charset="0"/>
                </a:defRPr>
              </a:lvl1pPr>
            </a:lstStyle>
            <a:p>
              <a:r>
                <a:rPr lang="en-US" sz="1500" noProof="0" dirty="0"/>
                <a:t>Revenue concentration risk</a:t>
              </a:r>
              <a:endParaRPr lang="en-US" sz="1500" noProof="0" dirty="0">
                <a:sym typeface="Roboto"/>
              </a:endParaRPr>
            </a:p>
          </p:txBody>
        </p:sp>
      </p:grpSp>
      <p:grpSp>
        <p:nvGrpSpPr>
          <p:cNvPr id="425" name="Google Shape;809;p32">
            <a:extLst>
              <a:ext uri="{FF2B5EF4-FFF2-40B4-BE49-F238E27FC236}">
                <a16:creationId xmlns:a16="http://schemas.microsoft.com/office/drawing/2014/main" id="{94FA364E-9D61-EB54-6D19-D5DB44DA71C9}"/>
              </a:ext>
            </a:extLst>
          </p:cNvPr>
          <p:cNvGrpSpPr/>
          <p:nvPr/>
        </p:nvGrpSpPr>
        <p:grpSpPr>
          <a:xfrm>
            <a:off x="6583680" y="5107933"/>
            <a:ext cx="4599197" cy="870115"/>
            <a:chOff x="1765476" y="1040751"/>
            <a:chExt cx="6921379" cy="848953"/>
          </a:xfrm>
        </p:grpSpPr>
        <p:sp>
          <p:nvSpPr>
            <p:cNvPr id="426" name="Google Shape;810;p32">
              <a:extLst>
                <a:ext uri="{FF2B5EF4-FFF2-40B4-BE49-F238E27FC236}">
                  <a16:creationId xmlns:a16="http://schemas.microsoft.com/office/drawing/2014/main" id="{F4EE5F11-F6FE-DE57-4176-D20291B95EA1}"/>
                </a:ext>
              </a:extLst>
            </p:cNvPr>
            <p:cNvSpPr/>
            <p:nvPr/>
          </p:nvSpPr>
          <p:spPr>
            <a:xfrm>
              <a:off x="1765701" y="1088123"/>
              <a:ext cx="6920940" cy="801581"/>
            </a:xfrm>
            <a:custGeom>
              <a:avLst/>
              <a:gdLst/>
              <a:ahLst/>
              <a:cxnLst/>
              <a:rect l="l" t="t" r="r" b="b"/>
              <a:pathLst>
                <a:path w="185250" h="26457" extrusionOk="0">
                  <a:moveTo>
                    <a:pt x="180499" y="1"/>
                  </a:moveTo>
                  <a:lnTo>
                    <a:pt x="91000" y="1"/>
                  </a:lnTo>
                  <a:lnTo>
                    <a:pt x="88428" y="1"/>
                  </a:lnTo>
                  <a:lnTo>
                    <a:pt x="3311" y="1"/>
                  </a:lnTo>
                  <a:cubicBezTo>
                    <a:pt x="1477" y="1"/>
                    <a:pt x="1" y="1477"/>
                    <a:pt x="1" y="3311"/>
                  </a:cubicBezTo>
                  <a:lnTo>
                    <a:pt x="1" y="23147"/>
                  </a:lnTo>
                  <a:cubicBezTo>
                    <a:pt x="1" y="24980"/>
                    <a:pt x="1477" y="26456"/>
                    <a:pt x="3311" y="26456"/>
                  </a:cubicBezTo>
                  <a:lnTo>
                    <a:pt x="88428" y="26456"/>
                  </a:lnTo>
                  <a:lnTo>
                    <a:pt x="91000" y="26456"/>
                  </a:lnTo>
                  <a:lnTo>
                    <a:pt x="180499" y="26456"/>
                  </a:lnTo>
                  <a:cubicBezTo>
                    <a:pt x="183131" y="26456"/>
                    <a:pt x="185250" y="24337"/>
                    <a:pt x="185250" y="21706"/>
                  </a:cubicBezTo>
                  <a:lnTo>
                    <a:pt x="185250" y="4740"/>
                  </a:lnTo>
                  <a:cubicBezTo>
                    <a:pt x="185250" y="2120"/>
                    <a:pt x="183119" y="1"/>
                    <a:pt x="180499" y="1"/>
                  </a:cubicBezTo>
                  <a:close/>
                </a:path>
              </a:pathLst>
            </a:custGeom>
            <a:solidFill>
              <a:srgbClr val="C5C5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27" name="Google Shape;811;p32">
              <a:extLst>
                <a:ext uri="{FF2B5EF4-FFF2-40B4-BE49-F238E27FC236}">
                  <a16:creationId xmlns:a16="http://schemas.microsoft.com/office/drawing/2014/main" id="{16F879BE-526A-1F80-B217-AACFE7386F09}"/>
                </a:ext>
              </a:extLst>
            </p:cNvPr>
            <p:cNvSpPr/>
            <p:nvPr/>
          </p:nvSpPr>
          <p:spPr>
            <a:xfrm>
              <a:off x="3775996" y="1040775"/>
              <a:ext cx="4910859" cy="801914"/>
            </a:xfrm>
            <a:custGeom>
              <a:avLst/>
              <a:gdLst/>
              <a:ahLst/>
              <a:cxnLst/>
              <a:rect l="l" t="t" r="r" b="b"/>
              <a:pathLst>
                <a:path w="96822" h="26468" extrusionOk="0">
                  <a:moveTo>
                    <a:pt x="0" y="0"/>
                  </a:moveTo>
                  <a:lnTo>
                    <a:pt x="0" y="26468"/>
                  </a:lnTo>
                  <a:lnTo>
                    <a:pt x="92071" y="26468"/>
                  </a:lnTo>
                  <a:cubicBezTo>
                    <a:pt x="94691" y="26468"/>
                    <a:pt x="96822" y="24337"/>
                    <a:pt x="96822" y="21717"/>
                  </a:cubicBezTo>
                  <a:lnTo>
                    <a:pt x="96822" y="4751"/>
                  </a:lnTo>
                  <a:cubicBezTo>
                    <a:pt x="96822" y="2120"/>
                    <a:pt x="94691" y="0"/>
                    <a:pt x="92071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457200" tIns="91425" rIns="91425" bIns="91425" anchor="ctr" anchorCtr="0">
              <a:noAutofit/>
            </a:bodyPr>
            <a:lstStyle/>
            <a:p>
              <a:pPr lvl="0" algn="ctr">
                <a:buClr>
                  <a:srgbClr val="000000"/>
                </a:buClr>
                <a:buSzPts val="1100"/>
              </a:pPr>
              <a:endPara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Roboto"/>
                <a:cs typeface="Roboto"/>
                <a:sym typeface="Roboto"/>
              </a:endParaRPr>
            </a:p>
          </p:txBody>
        </p:sp>
        <p:sp>
          <p:nvSpPr>
            <p:cNvPr id="428" name="Google Shape;812;p32">
              <a:extLst>
                <a:ext uri="{FF2B5EF4-FFF2-40B4-BE49-F238E27FC236}">
                  <a16:creationId xmlns:a16="http://schemas.microsoft.com/office/drawing/2014/main" id="{F569727A-4F66-35FB-67B7-CB1E6884E341}"/>
                </a:ext>
              </a:extLst>
            </p:cNvPr>
            <p:cNvSpPr/>
            <p:nvPr/>
          </p:nvSpPr>
          <p:spPr>
            <a:xfrm>
              <a:off x="1765689" y="1040751"/>
              <a:ext cx="2270175" cy="801945"/>
            </a:xfrm>
            <a:custGeom>
              <a:avLst/>
              <a:gdLst/>
              <a:ahLst/>
              <a:cxnLst/>
              <a:rect l="l" t="t" r="r" b="b"/>
              <a:pathLst>
                <a:path w="102014" h="26469" extrusionOk="0">
                  <a:moveTo>
                    <a:pt x="3311" y="1"/>
                  </a:moveTo>
                  <a:cubicBezTo>
                    <a:pt x="1477" y="1"/>
                    <a:pt x="1" y="1489"/>
                    <a:pt x="1" y="3311"/>
                  </a:cubicBezTo>
                  <a:lnTo>
                    <a:pt x="1" y="23159"/>
                  </a:lnTo>
                  <a:cubicBezTo>
                    <a:pt x="1" y="24980"/>
                    <a:pt x="1477" y="26469"/>
                    <a:pt x="3311" y="26469"/>
                  </a:cubicBezTo>
                  <a:lnTo>
                    <a:pt x="91000" y="26469"/>
                  </a:lnTo>
                  <a:cubicBezTo>
                    <a:pt x="92036" y="26469"/>
                    <a:pt x="93012" y="25980"/>
                    <a:pt x="93643" y="25147"/>
                  </a:cubicBezTo>
                  <a:lnTo>
                    <a:pt x="101132" y="15229"/>
                  </a:lnTo>
                  <a:cubicBezTo>
                    <a:pt x="102013" y="14050"/>
                    <a:pt x="102013" y="12419"/>
                    <a:pt x="101132" y="11240"/>
                  </a:cubicBezTo>
                  <a:lnTo>
                    <a:pt x="93643" y="1323"/>
                  </a:lnTo>
                  <a:cubicBezTo>
                    <a:pt x="93012" y="489"/>
                    <a:pt x="92036" y="1"/>
                    <a:pt x="91000" y="1"/>
                  </a:cubicBezTo>
                  <a:close/>
                </a:path>
              </a:pathLst>
            </a:custGeom>
            <a:solidFill>
              <a:srgbClr val="1A56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29" name="Google Shape;815;p32">
              <a:extLst>
                <a:ext uri="{FF2B5EF4-FFF2-40B4-BE49-F238E27FC236}">
                  <a16:creationId xmlns:a16="http://schemas.microsoft.com/office/drawing/2014/main" id="{845AC72A-6D94-F6A8-5857-76B57AF8A7A3}"/>
                </a:ext>
              </a:extLst>
            </p:cNvPr>
            <p:cNvSpPr txBox="1"/>
            <p:nvPr/>
          </p:nvSpPr>
          <p:spPr>
            <a:xfrm>
              <a:off x="1765476" y="1283194"/>
              <a:ext cx="2270388" cy="27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lvl1pPr marR="0" lvl="0" indent="0" algn="ctr"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 sz="1600" b="1">
                  <a:solidFill>
                    <a:schemeClr val="bg1"/>
                  </a:solidFill>
                  <a:cs typeface="Segoe UI" panose="020B0502040204020203" pitchFamily="34" charset="0"/>
                </a:defRPr>
              </a:lvl1pPr>
            </a:lstStyle>
            <a:p>
              <a:r>
                <a:rPr lang="en-US" noProof="0" dirty="0"/>
                <a:t>Acquisition quality differs</a:t>
              </a:r>
              <a:endParaRPr lang="en-US" noProof="0" dirty="0">
                <a:sym typeface="Roboto"/>
              </a:endParaRPr>
            </a:p>
          </p:txBody>
        </p:sp>
      </p:grpSp>
      <p:grpSp>
        <p:nvGrpSpPr>
          <p:cNvPr id="430" name="Google Shape;809;p32">
            <a:extLst>
              <a:ext uri="{FF2B5EF4-FFF2-40B4-BE49-F238E27FC236}">
                <a16:creationId xmlns:a16="http://schemas.microsoft.com/office/drawing/2014/main" id="{0AA4E4E8-5C63-F3C8-D233-538E2BF97EB9}"/>
              </a:ext>
            </a:extLst>
          </p:cNvPr>
          <p:cNvGrpSpPr/>
          <p:nvPr/>
        </p:nvGrpSpPr>
        <p:grpSpPr>
          <a:xfrm>
            <a:off x="844481" y="5107933"/>
            <a:ext cx="4599347" cy="870115"/>
            <a:chOff x="1765476" y="1040751"/>
            <a:chExt cx="6921379" cy="848953"/>
          </a:xfrm>
        </p:grpSpPr>
        <p:sp>
          <p:nvSpPr>
            <p:cNvPr id="431" name="Google Shape;810;p32">
              <a:extLst>
                <a:ext uri="{FF2B5EF4-FFF2-40B4-BE49-F238E27FC236}">
                  <a16:creationId xmlns:a16="http://schemas.microsoft.com/office/drawing/2014/main" id="{7EA4A17F-4AC1-3E4A-E0F5-931A76A1930A}"/>
                </a:ext>
              </a:extLst>
            </p:cNvPr>
            <p:cNvSpPr/>
            <p:nvPr/>
          </p:nvSpPr>
          <p:spPr>
            <a:xfrm>
              <a:off x="1765701" y="1088123"/>
              <a:ext cx="6920940" cy="801581"/>
            </a:xfrm>
            <a:custGeom>
              <a:avLst/>
              <a:gdLst/>
              <a:ahLst/>
              <a:cxnLst/>
              <a:rect l="l" t="t" r="r" b="b"/>
              <a:pathLst>
                <a:path w="185250" h="26457" extrusionOk="0">
                  <a:moveTo>
                    <a:pt x="180499" y="1"/>
                  </a:moveTo>
                  <a:lnTo>
                    <a:pt x="91000" y="1"/>
                  </a:lnTo>
                  <a:lnTo>
                    <a:pt x="88428" y="1"/>
                  </a:lnTo>
                  <a:lnTo>
                    <a:pt x="3311" y="1"/>
                  </a:lnTo>
                  <a:cubicBezTo>
                    <a:pt x="1477" y="1"/>
                    <a:pt x="1" y="1477"/>
                    <a:pt x="1" y="3311"/>
                  </a:cubicBezTo>
                  <a:lnTo>
                    <a:pt x="1" y="23147"/>
                  </a:lnTo>
                  <a:cubicBezTo>
                    <a:pt x="1" y="24980"/>
                    <a:pt x="1477" y="26456"/>
                    <a:pt x="3311" y="26456"/>
                  </a:cubicBezTo>
                  <a:lnTo>
                    <a:pt x="88428" y="26456"/>
                  </a:lnTo>
                  <a:lnTo>
                    <a:pt x="91000" y="26456"/>
                  </a:lnTo>
                  <a:lnTo>
                    <a:pt x="180499" y="26456"/>
                  </a:lnTo>
                  <a:cubicBezTo>
                    <a:pt x="183131" y="26456"/>
                    <a:pt x="185250" y="24337"/>
                    <a:pt x="185250" y="21706"/>
                  </a:cubicBezTo>
                  <a:lnTo>
                    <a:pt x="185250" y="4740"/>
                  </a:lnTo>
                  <a:cubicBezTo>
                    <a:pt x="185250" y="2120"/>
                    <a:pt x="183119" y="1"/>
                    <a:pt x="180499" y="1"/>
                  </a:cubicBezTo>
                  <a:close/>
                </a:path>
              </a:pathLst>
            </a:custGeom>
            <a:solidFill>
              <a:srgbClr val="C5C5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32" name="Google Shape;811;p32">
              <a:extLst>
                <a:ext uri="{FF2B5EF4-FFF2-40B4-BE49-F238E27FC236}">
                  <a16:creationId xmlns:a16="http://schemas.microsoft.com/office/drawing/2014/main" id="{6C3CA51A-A119-F48A-5CD7-ABB0A3668A85}"/>
                </a:ext>
              </a:extLst>
            </p:cNvPr>
            <p:cNvSpPr/>
            <p:nvPr/>
          </p:nvSpPr>
          <p:spPr>
            <a:xfrm>
              <a:off x="3775996" y="1040775"/>
              <a:ext cx="4910859" cy="801914"/>
            </a:xfrm>
            <a:custGeom>
              <a:avLst/>
              <a:gdLst/>
              <a:ahLst/>
              <a:cxnLst/>
              <a:rect l="l" t="t" r="r" b="b"/>
              <a:pathLst>
                <a:path w="96822" h="26468" extrusionOk="0">
                  <a:moveTo>
                    <a:pt x="0" y="0"/>
                  </a:moveTo>
                  <a:lnTo>
                    <a:pt x="0" y="26468"/>
                  </a:lnTo>
                  <a:lnTo>
                    <a:pt x="92071" y="26468"/>
                  </a:lnTo>
                  <a:cubicBezTo>
                    <a:pt x="94691" y="26468"/>
                    <a:pt x="96822" y="24337"/>
                    <a:pt x="96822" y="21717"/>
                  </a:cubicBezTo>
                  <a:lnTo>
                    <a:pt x="96822" y="4751"/>
                  </a:lnTo>
                  <a:cubicBezTo>
                    <a:pt x="96822" y="2120"/>
                    <a:pt x="94691" y="0"/>
                    <a:pt x="92071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457200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endPara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3" name="Google Shape;812;p32">
              <a:extLst>
                <a:ext uri="{FF2B5EF4-FFF2-40B4-BE49-F238E27FC236}">
                  <a16:creationId xmlns:a16="http://schemas.microsoft.com/office/drawing/2014/main" id="{F0742808-E67D-2BCA-1B83-8B4590592CE8}"/>
                </a:ext>
              </a:extLst>
            </p:cNvPr>
            <p:cNvSpPr/>
            <p:nvPr/>
          </p:nvSpPr>
          <p:spPr>
            <a:xfrm>
              <a:off x="1765689" y="1040751"/>
              <a:ext cx="2270175" cy="801945"/>
            </a:xfrm>
            <a:custGeom>
              <a:avLst/>
              <a:gdLst/>
              <a:ahLst/>
              <a:cxnLst/>
              <a:rect l="l" t="t" r="r" b="b"/>
              <a:pathLst>
                <a:path w="102014" h="26469" extrusionOk="0">
                  <a:moveTo>
                    <a:pt x="3311" y="1"/>
                  </a:moveTo>
                  <a:cubicBezTo>
                    <a:pt x="1477" y="1"/>
                    <a:pt x="1" y="1489"/>
                    <a:pt x="1" y="3311"/>
                  </a:cubicBezTo>
                  <a:lnTo>
                    <a:pt x="1" y="23159"/>
                  </a:lnTo>
                  <a:cubicBezTo>
                    <a:pt x="1" y="24980"/>
                    <a:pt x="1477" y="26469"/>
                    <a:pt x="3311" y="26469"/>
                  </a:cubicBezTo>
                  <a:lnTo>
                    <a:pt x="91000" y="26469"/>
                  </a:lnTo>
                  <a:cubicBezTo>
                    <a:pt x="92036" y="26469"/>
                    <a:pt x="93012" y="25980"/>
                    <a:pt x="93643" y="25147"/>
                  </a:cubicBezTo>
                  <a:lnTo>
                    <a:pt x="101132" y="15229"/>
                  </a:lnTo>
                  <a:cubicBezTo>
                    <a:pt x="102013" y="14050"/>
                    <a:pt x="102013" y="12419"/>
                    <a:pt x="101132" y="11240"/>
                  </a:cubicBezTo>
                  <a:lnTo>
                    <a:pt x="93643" y="1323"/>
                  </a:lnTo>
                  <a:cubicBezTo>
                    <a:pt x="93012" y="489"/>
                    <a:pt x="92036" y="1"/>
                    <a:pt x="91000" y="1"/>
                  </a:cubicBezTo>
                  <a:close/>
                </a:path>
              </a:pathLst>
            </a:custGeom>
            <a:solidFill>
              <a:srgbClr val="1A56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34" name="Google Shape;815;p32">
              <a:extLst>
                <a:ext uri="{FF2B5EF4-FFF2-40B4-BE49-F238E27FC236}">
                  <a16:creationId xmlns:a16="http://schemas.microsoft.com/office/drawing/2014/main" id="{C7383FD8-6A81-71EA-CBB0-FCE1AFE54D1A}"/>
                </a:ext>
              </a:extLst>
            </p:cNvPr>
            <p:cNvSpPr txBox="1"/>
            <p:nvPr/>
          </p:nvSpPr>
          <p:spPr>
            <a:xfrm>
              <a:off x="1765476" y="1283194"/>
              <a:ext cx="2270388" cy="27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lang="en-US" sz="1600" b="1" noProof="0" dirty="0">
                  <a:solidFill>
                    <a:schemeClr val="bg1"/>
                  </a:solidFill>
                  <a:cs typeface="Segoe UI" panose="020B0502040204020203" pitchFamily="34" charset="0"/>
                </a:rPr>
                <a:t>Newsletter</a:t>
              </a:r>
              <a:r>
                <a:rPr lang="en-US" sz="1600" noProof="0" dirty="0"/>
                <a:t> </a:t>
              </a:r>
              <a:r>
                <a:rPr lang="en-US" sz="1600" b="1" noProof="0" dirty="0">
                  <a:solidFill>
                    <a:schemeClr val="bg1"/>
                  </a:solidFill>
                  <a:cs typeface="Segoe UI" panose="020B0502040204020203" pitchFamily="34" charset="0"/>
                </a:rPr>
                <a:t>underperforms</a:t>
              </a:r>
              <a:endParaRPr lang="en-US" sz="1600" b="1" noProof="0" dirty="0">
                <a:solidFill>
                  <a:schemeClr val="bg1"/>
                </a:solidFill>
                <a:cs typeface="Segoe UI" panose="020B0502040204020203" pitchFamily="34" charset="0"/>
                <a:sym typeface="Roboto"/>
              </a:endParaRPr>
            </a:p>
          </p:txBody>
        </p:sp>
      </p:grpSp>
      <p:grpSp>
        <p:nvGrpSpPr>
          <p:cNvPr id="435" name="Google Shape;809;p32">
            <a:extLst>
              <a:ext uri="{FF2B5EF4-FFF2-40B4-BE49-F238E27FC236}">
                <a16:creationId xmlns:a16="http://schemas.microsoft.com/office/drawing/2014/main" id="{95E89E40-E408-56F5-B02F-7467B717B7D8}"/>
              </a:ext>
            </a:extLst>
          </p:cNvPr>
          <p:cNvGrpSpPr/>
          <p:nvPr/>
        </p:nvGrpSpPr>
        <p:grpSpPr>
          <a:xfrm>
            <a:off x="3645536" y="3564871"/>
            <a:ext cx="4599197" cy="870115"/>
            <a:chOff x="1765476" y="1040751"/>
            <a:chExt cx="6921379" cy="848953"/>
          </a:xfrm>
        </p:grpSpPr>
        <p:sp>
          <p:nvSpPr>
            <p:cNvPr id="436" name="Google Shape;810;p32">
              <a:extLst>
                <a:ext uri="{FF2B5EF4-FFF2-40B4-BE49-F238E27FC236}">
                  <a16:creationId xmlns:a16="http://schemas.microsoft.com/office/drawing/2014/main" id="{CE067F34-6279-5555-3914-D792DCD9810B}"/>
                </a:ext>
              </a:extLst>
            </p:cNvPr>
            <p:cNvSpPr/>
            <p:nvPr/>
          </p:nvSpPr>
          <p:spPr>
            <a:xfrm>
              <a:off x="1765701" y="1088123"/>
              <a:ext cx="6920940" cy="801581"/>
            </a:xfrm>
            <a:custGeom>
              <a:avLst/>
              <a:gdLst/>
              <a:ahLst/>
              <a:cxnLst/>
              <a:rect l="l" t="t" r="r" b="b"/>
              <a:pathLst>
                <a:path w="185250" h="26457" extrusionOk="0">
                  <a:moveTo>
                    <a:pt x="180499" y="1"/>
                  </a:moveTo>
                  <a:lnTo>
                    <a:pt x="91000" y="1"/>
                  </a:lnTo>
                  <a:lnTo>
                    <a:pt x="88428" y="1"/>
                  </a:lnTo>
                  <a:lnTo>
                    <a:pt x="3311" y="1"/>
                  </a:lnTo>
                  <a:cubicBezTo>
                    <a:pt x="1477" y="1"/>
                    <a:pt x="1" y="1477"/>
                    <a:pt x="1" y="3311"/>
                  </a:cubicBezTo>
                  <a:lnTo>
                    <a:pt x="1" y="23147"/>
                  </a:lnTo>
                  <a:cubicBezTo>
                    <a:pt x="1" y="24980"/>
                    <a:pt x="1477" y="26456"/>
                    <a:pt x="3311" y="26456"/>
                  </a:cubicBezTo>
                  <a:lnTo>
                    <a:pt x="88428" y="26456"/>
                  </a:lnTo>
                  <a:lnTo>
                    <a:pt x="91000" y="26456"/>
                  </a:lnTo>
                  <a:lnTo>
                    <a:pt x="180499" y="26456"/>
                  </a:lnTo>
                  <a:cubicBezTo>
                    <a:pt x="183131" y="26456"/>
                    <a:pt x="185250" y="24337"/>
                    <a:pt x="185250" y="21706"/>
                  </a:cubicBezTo>
                  <a:lnTo>
                    <a:pt x="185250" y="4740"/>
                  </a:lnTo>
                  <a:cubicBezTo>
                    <a:pt x="185250" y="2120"/>
                    <a:pt x="183119" y="1"/>
                    <a:pt x="180499" y="1"/>
                  </a:cubicBezTo>
                  <a:close/>
                </a:path>
              </a:pathLst>
            </a:custGeom>
            <a:solidFill>
              <a:srgbClr val="C5C5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37" name="Google Shape;811;p32">
              <a:extLst>
                <a:ext uri="{FF2B5EF4-FFF2-40B4-BE49-F238E27FC236}">
                  <a16:creationId xmlns:a16="http://schemas.microsoft.com/office/drawing/2014/main" id="{5738FA3B-B16E-F625-D8E0-30F1C7393C65}"/>
                </a:ext>
              </a:extLst>
            </p:cNvPr>
            <p:cNvSpPr/>
            <p:nvPr/>
          </p:nvSpPr>
          <p:spPr>
            <a:xfrm>
              <a:off x="3775996" y="1040775"/>
              <a:ext cx="4910859" cy="801914"/>
            </a:xfrm>
            <a:custGeom>
              <a:avLst/>
              <a:gdLst/>
              <a:ahLst/>
              <a:cxnLst/>
              <a:rect l="l" t="t" r="r" b="b"/>
              <a:pathLst>
                <a:path w="96822" h="26468" extrusionOk="0">
                  <a:moveTo>
                    <a:pt x="0" y="0"/>
                  </a:moveTo>
                  <a:lnTo>
                    <a:pt x="0" y="26468"/>
                  </a:lnTo>
                  <a:lnTo>
                    <a:pt x="92071" y="26468"/>
                  </a:lnTo>
                  <a:cubicBezTo>
                    <a:pt x="94691" y="26468"/>
                    <a:pt x="96822" y="24337"/>
                    <a:pt x="96822" y="21717"/>
                  </a:cubicBezTo>
                  <a:lnTo>
                    <a:pt x="96822" y="4751"/>
                  </a:lnTo>
                  <a:cubicBezTo>
                    <a:pt x="96822" y="2120"/>
                    <a:pt x="94691" y="0"/>
                    <a:pt x="92071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457200" tIns="91425" rIns="91425" bIns="91425" anchor="ctr" anchorCtr="0">
              <a:noAutofit/>
            </a:bodyPr>
            <a:lstStyle/>
            <a:p>
              <a:pPr lvl="0" algn="ctr">
                <a:buClr>
                  <a:srgbClr val="000000"/>
                </a:buClr>
                <a:buSzPts val="1100"/>
              </a:pPr>
              <a:endPara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8" name="Google Shape;812;p32">
              <a:extLst>
                <a:ext uri="{FF2B5EF4-FFF2-40B4-BE49-F238E27FC236}">
                  <a16:creationId xmlns:a16="http://schemas.microsoft.com/office/drawing/2014/main" id="{BC53581B-47D3-BD23-7C3F-7D62D1F8C686}"/>
                </a:ext>
              </a:extLst>
            </p:cNvPr>
            <p:cNvSpPr/>
            <p:nvPr/>
          </p:nvSpPr>
          <p:spPr>
            <a:xfrm>
              <a:off x="1765689" y="1040751"/>
              <a:ext cx="2270175" cy="801945"/>
            </a:xfrm>
            <a:custGeom>
              <a:avLst/>
              <a:gdLst/>
              <a:ahLst/>
              <a:cxnLst/>
              <a:rect l="l" t="t" r="r" b="b"/>
              <a:pathLst>
                <a:path w="102014" h="26469" extrusionOk="0">
                  <a:moveTo>
                    <a:pt x="3311" y="1"/>
                  </a:moveTo>
                  <a:cubicBezTo>
                    <a:pt x="1477" y="1"/>
                    <a:pt x="1" y="1489"/>
                    <a:pt x="1" y="3311"/>
                  </a:cubicBezTo>
                  <a:lnTo>
                    <a:pt x="1" y="23159"/>
                  </a:lnTo>
                  <a:cubicBezTo>
                    <a:pt x="1" y="24980"/>
                    <a:pt x="1477" y="26469"/>
                    <a:pt x="3311" y="26469"/>
                  </a:cubicBezTo>
                  <a:lnTo>
                    <a:pt x="91000" y="26469"/>
                  </a:lnTo>
                  <a:cubicBezTo>
                    <a:pt x="92036" y="26469"/>
                    <a:pt x="93012" y="25980"/>
                    <a:pt x="93643" y="25147"/>
                  </a:cubicBezTo>
                  <a:lnTo>
                    <a:pt x="101132" y="15229"/>
                  </a:lnTo>
                  <a:cubicBezTo>
                    <a:pt x="102013" y="14050"/>
                    <a:pt x="102013" y="12419"/>
                    <a:pt x="101132" y="11240"/>
                  </a:cubicBezTo>
                  <a:lnTo>
                    <a:pt x="93643" y="1323"/>
                  </a:lnTo>
                  <a:cubicBezTo>
                    <a:pt x="93012" y="489"/>
                    <a:pt x="92036" y="1"/>
                    <a:pt x="91000" y="1"/>
                  </a:cubicBezTo>
                  <a:close/>
                </a:path>
              </a:pathLst>
            </a:custGeom>
            <a:solidFill>
              <a:srgbClr val="1A56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39" name="Google Shape;815;p32">
              <a:extLst>
                <a:ext uri="{FF2B5EF4-FFF2-40B4-BE49-F238E27FC236}">
                  <a16:creationId xmlns:a16="http://schemas.microsoft.com/office/drawing/2014/main" id="{1873575C-1B15-FE38-4247-F1095C4C35E1}"/>
                </a:ext>
              </a:extLst>
            </p:cNvPr>
            <p:cNvSpPr txBox="1"/>
            <p:nvPr/>
          </p:nvSpPr>
          <p:spPr>
            <a:xfrm>
              <a:off x="1765476" y="1283194"/>
              <a:ext cx="2270388" cy="27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lang="en-US" sz="1600" b="1" noProof="0" dirty="0">
                  <a:solidFill>
                    <a:schemeClr val="bg1"/>
                  </a:solidFill>
                  <a:cs typeface="Segoe UI" panose="020B0502040204020203" pitchFamily="34" charset="0"/>
                </a:rPr>
                <a:t>Biggest growth opportunity</a:t>
              </a:r>
              <a:endPara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Roboto"/>
                <a:cs typeface="Segoe UI" panose="020B0502040204020203" pitchFamily="34" charset="0"/>
                <a:sym typeface="Roboto"/>
              </a:endParaRPr>
            </a:p>
          </p:txBody>
        </p:sp>
      </p:grpSp>
      <p:sp>
        <p:nvSpPr>
          <p:cNvPr id="440" name="TextBox 439">
            <a:extLst>
              <a:ext uri="{FF2B5EF4-FFF2-40B4-BE49-F238E27FC236}">
                <a16:creationId xmlns:a16="http://schemas.microsoft.com/office/drawing/2014/main" id="{E45FF50A-8FBE-7E21-CCBF-F81344CAF43C}"/>
              </a:ext>
            </a:extLst>
          </p:cNvPr>
          <p:cNvSpPr txBox="1"/>
          <p:nvPr/>
        </p:nvSpPr>
        <p:spPr>
          <a:xfrm>
            <a:off x="2428876" y="2136904"/>
            <a:ext cx="2862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17% of customers (Champions + Loyal) generate 44% of revenue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Roboto"/>
              <a:cs typeface="Roboto"/>
              <a:sym typeface="Roboto"/>
            </a:endParaRPr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256CF943-2CD8-0A1D-FEE0-5C9E5C57E8B2}"/>
              </a:ext>
            </a:extLst>
          </p:cNvPr>
          <p:cNvSpPr txBox="1"/>
          <p:nvPr/>
        </p:nvSpPr>
        <p:spPr>
          <a:xfrm>
            <a:off x="8185852" y="2160605"/>
            <a:ext cx="2862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rtl="0" eaLnBrk="1" latinLnBrk="0" hangingPunct="1">
              <a:buNone/>
            </a:pPr>
            <a:r>
              <a:rPr lang="en-US" sz="1600" kern="1200" noProof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At Risk customers generate 25% of total revenue</a:t>
            </a:r>
            <a:endParaRPr lang="en-US" sz="1600" noProof="0" dirty="0">
              <a:effectLst/>
            </a:endParaRPr>
          </a:p>
        </p:txBody>
      </p:sp>
      <p:sp>
        <p:nvSpPr>
          <p:cNvPr id="443" name="TextBox 442">
            <a:extLst>
              <a:ext uri="{FF2B5EF4-FFF2-40B4-BE49-F238E27FC236}">
                <a16:creationId xmlns:a16="http://schemas.microsoft.com/office/drawing/2014/main" id="{4A64B78C-1B01-22B6-37CD-90F7BA0F85B7}"/>
              </a:ext>
            </a:extLst>
          </p:cNvPr>
          <p:cNvSpPr txBox="1"/>
          <p:nvPr/>
        </p:nvSpPr>
        <p:spPr>
          <a:xfrm>
            <a:off x="5230036" y="3709863"/>
            <a:ext cx="2862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rtl="0" eaLnBrk="1" latinLnBrk="0" hangingPunct="1">
              <a:buNone/>
            </a:pPr>
            <a:r>
              <a:rPr lang="en-US" sz="1600" kern="1200" noProof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Potential Loyalists (15%) are  the future Champions pipeline</a:t>
            </a:r>
            <a:endParaRPr lang="en-US" sz="1600" noProof="0" dirty="0">
              <a:effectLst/>
            </a:endParaRPr>
          </a:p>
        </p:txBody>
      </p:sp>
      <p:sp>
        <p:nvSpPr>
          <p:cNvPr id="444" name="TextBox 443">
            <a:extLst>
              <a:ext uri="{FF2B5EF4-FFF2-40B4-BE49-F238E27FC236}">
                <a16:creationId xmlns:a16="http://schemas.microsoft.com/office/drawing/2014/main" id="{7690D1DC-ACCC-8DE1-3CCC-413798DA3FFE}"/>
              </a:ext>
            </a:extLst>
          </p:cNvPr>
          <p:cNvSpPr txBox="1"/>
          <p:nvPr/>
        </p:nvSpPr>
        <p:spPr>
          <a:xfrm>
            <a:off x="2428730" y="5226512"/>
            <a:ext cx="2862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noProof="0" dirty="0"/>
              <a:t>61.7% subscribed, But with no impact on revenue</a:t>
            </a:r>
            <a:endParaRPr lang="en-US" sz="1600" noProof="0" dirty="0">
              <a:effectLst/>
            </a:endParaRPr>
          </a:p>
        </p:txBody>
      </p:sp>
      <p:sp>
        <p:nvSpPr>
          <p:cNvPr id="445" name="TextBox 444">
            <a:extLst>
              <a:ext uri="{FF2B5EF4-FFF2-40B4-BE49-F238E27FC236}">
                <a16:creationId xmlns:a16="http://schemas.microsoft.com/office/drawing/2014/main" id="{803B76A4-33CB-3023-2C98-E40FEAF0A261}"/>
              </a:ext>
            </a:extLst>
          </p:cNvPr>
          <p:cNvSpPr txBox="1"/>
          <p:nvPr/>
        </p:nvSpPr>
        <p:spPr>
          <a:xfrm>
            <a:off x="8013171" y="5226512"/>
            <a:ext cx="31615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noProof="0" dirty="0"/>
              <a:t>Social drives volume, Direct drives value</a:t>
            </a:r>
            <a:endParaRPr lang="en-US" sz="1600" noProof="0" dirty="0">
              <a:effectLst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8EE473-9CCF-4496-8580-7DDCCEB8F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84B89111-7105-E773-3632-72B79C374892}"/>
              </a:ext>
            </a:extLst>
          </p:cNvPr>
          <p:cNvSpPr/>
          <p:nvPr/>
        </p:nvSpPr>
        <p:spPr>
          <a:xfrm>
            <a:off x="844780" y="657225"/>
            <a:ext cx="3198583" cy="498429"/>
          </a:xfrm>
          <a:prstGeom prst="roundRect">
            <a:avLst>
              <a:gd name="adj" fmla="val 25000"/>
            </a:avLst>
          </a:prstGeom>
          <a:solidFill>
            <a:srgbClr val="F43F5E">
              <a:alpha val="85000"/>
            </a:srgbClr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23627AA2-7E2D-7574-9E7F-528634F2F308}"/>
              </a:ext>
            </a:extLst>
          </p:cNvPr>
          <p:cNvSpPr/>
          <p:nvPr/>
        </p:nvSpPr>
        <p:spPr>
          <a:xfrm>
            <a:off x="844780" y="668080"/>
            <a:ext cx="3198583" cy="492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noProof="0" dirty="0">
                <a:solidFill>
                  <a:srgbClr val="F8FAFC"/>
                </a:solidFill>
              </a:rPr>
              <a:t>Business Problem</a:t>
            </a:r>
            <a:endParaRPr lang="en-US" sz="1600" noProof="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FFA392FD-6CD4-D93D-5A7B-B249C5B2B2AE}"/>
              </a:ext>
            </a:extLst>
          </p:cNvPr>
          <p:cNvSpPr/>
          <p:nvPr/>
        </p:nvSpPr>
        <p:spPr>
          <a:xfrm>
            <a:off x="752475" y="1441491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had no structured view of its customers, limiting visibility into : </a:t>
            </a:r>
            <a:endParaRPr lang="en-US" sz="2400" noProof="0" dirty="0"/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8A8A35A6-9CCF-19D6-ADFF-62B4987EBE36}"/>
              </a:ext>
            </a:extLst>
          </p:cNvPr>
          <p:cNvGrpSpPr/>
          <p:nvPr/>
        </p:nvGrpSpPr>
        <p:grpSpPr>
          <a:xfrm>
            <a:off x="1634060" y="2406874"/>
            <a:ext cx="8923880" cy="3961021"/>
            <a:chOff x="1832129" y="2658864"/>
            <a:chExt cx="8527742" cy="3683044"/>
          </a:xfrm>
        </p:grpSpPr>
        <p:sp>
          <p:nvSpPr>
            <p:cNvPr id="2" name="Google Shape;836;p27">
              <a:extLst>
                <a:ext uri="{FF2B5EF4-FFF2-40B4-BE49-F238E27FC236}">
                  <a16:creationId xmlns:a16="http://schemas.microsoft.com/office/drawing/2014/main" id="{93AA0DEC-AEEB-C3A7-3ED5-1E982F1A7374}"/>
                </a:ext>
              </a:extLst>
            </p:cNvPr>
            <p:cNvSpPr/>
            <p:nvPr/>
          </p:nvSpPr>
          <p:spPr>
            <a:xfrm>
              <a:off x="6504695" y="3306639"/>
              <a:ext cx="1375350" cy="949435"/>
            </a:xfrm>
            <a:custGeom>
              <a:avLst/>
              <a:gdLst/>
              <a:ahLst/>
              <a:cxnLst/>
              <a:rect l="l" t="t" r="r" b="b"/>
              <a:pathLst>
                <a:path w="1047886" h="723379" extrusionOk="0">
                  <a:moveTo>
                    <a:pt x="912675" y="246760"/>
                  </a:moveTo>
                  <a:lnTo>
                    <a:pt x="155493" y="0"/>
                  </a:lnTo>
                  <a:cubicBezTo>
                    <a:pt x="165634" y="84507"/>
                    <a:pt x="158873" y="172394"/>
                    <a:pt x="131831" y="256901"/>
                  </a:cubicBezTo>
                  <a:lnTo>
                    <a:pt x="131831" y="256901"/>
                  </a:lnTo>
                  <a:cubicBezTo>
                    <a:pt x="104789" y="341408"/>
                    <a:pt x="57465" y="415774"/>
                    <a:pt x="0" y="480000"/>
                  </a:cubicBezTo>
                  <a:lnTo>
                    <a:pt x="757183" y="723380"/>
                  </a:lnTo>
                  <a:lnTo>
                    <a:pt x="1047887" y="554366"/>
                  </a:lnTo>
                  <a:lnTo>
                    <a:pt x="912675" y="246760"/>
                  </a:lnTo>
                  <a:close/>
                </a:path>
              </a:pathLst>
            </a:custGeom>
            <a:solidFill>
              <a:srgbClr val="F45A75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837;p27">
              <a:extLst>
                <a:ext uri="{FF2B5EF4-FFF2-40B4-BE49-F238E27FC236}">
                  <a16:creationId xmlns:a16="http://schemas.microsoft.com/office/drawing/2014/main" id="{48039151-0AD8-3A2A-D3D5-5C288E777EE6}"/>
                </a:ext>
              </a:extLst>
            </p:cNvPr>
            <p:cNvSpPr/>
            <p:nvPr/>
          </p:nvSpPr>
          <p:spPr>
            <a:xfrm>
              <a:off x="3966850" y="3306639"/>
              <a:ext cx="1237815" cy="949435"/>
            </a:xfrm>
            <a:custGeom>
              <a:avLst/>
              <a:gdLst/>
              <a:ahLst/>
              <a:cxnLst/>
              <a:rect l="l" t="t" r="r" b="b"/>
              <a:pathLst>
                <a:path w="943097" h="723379" extrusionOk="0">
                  <a:moveTo>
                    <a:pt x="919436" y="256901"/>
                  </a:moveTo>
                  <a:lnTo>
                    <a:pt x="919436" y="256901"/>
                  </a:lnTo>
                  <a:cubicBezTo>
                    <a:pt x="892394" y="172394"/>
                    <a:pt x="885633" y="84507"/>
                    <a:pt x="895774" y="0"/>
                  </a:cubicBezTo>
                  <a:lnTo>
                    <a:pt x="135211" y="246760"/>
                  </a:lnTo>
                  <a:lnTo>
                    <a:pt x="0" y="554366"/>
                  </a:lnTo>
                  <a:lnTo>
                    <a:pt x="290704" y="723380"/>
                  </a:lnTo>
                  <a:lnTo>
                    <a:pt x="767324" y="567887"/>
                  </a:lnTo>
                  <a:lnTo>
                    <a:pt x="943098" y="324507"/>
                  </a:lnTo>
                  <a:cubicBezTo>
                    <a:pt x="936337" y="304225"/>
                    <a:pt x="926197" y="280563"/>
                    <a:pt x="919436" y="256901"/>
                  </a:cubicBezTo>
                  <a:close/>
                </a:path>
              </a:pathLst>
            </a:custGeom>
            <a:solidFill>
              <a:srgbClr val="F45A75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838;p27">
              <a:extLst>
                <a:ext uri="{FF2B5EF4-FFF2-40B4-BE49-F238E27FC236}">
                  <a16:creationId xmlns:a16="http://schemas.microsoft.com/office/drawing/2014/main" id="{82272633-0E51-C3C5-1E6B-555A1396223B}"/>
                </a:ext>
              </a:extLst>
            </p:cNvPr>
            <p:cNvSpPr/>
            <p:nvPr/>
          </p:nvSpPr>
          <p:spPr>
            <a:xfrm>
              <a:off x="4619059" y="3785816"/>
              <a:ext cx="922816" cy="1273309"/>
            </a:xfrm>
            <a:custGeom>
              <a:avLst/>
              <a:gdLst/>
              <a:ahLst/>
              <a:cxnLst/>
              <a:rect l="l" t="t" r="r" b="b"/>
              <a:pathLst>
                <a:path w="703098" h="970140" extrusionOk="0">
                  <a:moveTo>
                    <a:pt x="703098" y="233239"/>
                  </a:moveTo>
                  <a:cubicBezTo>
                    <a:pt x="682817" y="219718"/>
                    <a:pt x="659155" y="209577"/>
                    <a:pt x="638873" y="192676"/>
                  </a:cubicBezTo>
                  <a:lnTo>
                    <a:pt x="638873" y="192676"/>
                  </a:lnTo>
                  <a:cubicBezTo>
                    <a:pt x="567887" y="138591"/>
                    <a:pt x="510422" y="74366"/>
                    <a:pt x="466479" y="0"/>
                  </a:cubicBezTo>
                  <a:lnTo>
                    <a:pt x="0" y="642253"/>
                  </a:lnTo>
                  <a:lnTo>
                    <a:pt x="70986" y="970140"/>
                  </a:lnTo>
                  <a:lnTo>
                    <a:pt x="405634" y="936337"/>
                  </a:lnTo>
                  <a:lnTo>
                    <a:pt x="699718" y="530704"/>
                  </a:lnTo>
                  <a:lnTo>
                    <a:pt x="703098" y="233239"/>
                  </a:lnTo>
                  <a:close/>
                </a:path>
              </a:pathLst>
            </a:custGeom>
            <a:solidFill>
              <a:srgbClr val="F45A75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839;p27">
              <a:extLst>
                <a:ext uri="{FF2B5EF4-FFF2-40B4-BE49-F238E27FC236}">
                  <a16:creationId xmlns:a16="http://schemas.microsoft.com/office/drawing/2014/main" id="{F4246390-C69C-6670-91E6-E89818356858}"/>
                </a:ext>
              </a:extLst>
            </p:cNvPr>
            <p:cNvSpPr/>
            <p:nvPr/>
          </p:nvSpPr>
          <p:spPr>
            <a:xfrm>
              <a:off x="5595153" y="4114142"/>
              <a:ext cx="656619" cy="1339858"/>
            </a:xfrm>
            <a:custGeom>
              <a:avLst/>
              <a:gdLst/>
              <a:ahLst/>
              <a:cxnLst/>
              <a:rect l="l" t="t" r="r" b="b"/>
              <a:pathLst>
                <a:path w="500281" h="1020844" extrusionOk="0">
                  <a:moveTo>
                    <a:pt x="324507" y="50704"/>
                  </a:moveTo>
                  <a:cubicBezTo>
                    <a:pt x="300845" y="54085"/>
                    <a:pt x="273803" y="54085"/>
                    <a:pt x="250141" y="54085"/>
                  </a:cubicBezTo>
                  <a:cubicBezTo>
                    <a:pt x="158873" y="54085"/>
                    <a:pt x="74366" y="33803"/>
                    <a:pt x="0" y="0"/>
                  </a:cubicBezTo>
                  <a:lnTo>
                    <a:pt x="0" y="797746"/>
                  </a:lnTo>
                  <a:lnTo>
                    <a:pt x="250141" y="1020844"/>
                  </a:lnTo>
                  <a:lnTo>
                    <a:pt x="500281" y="797746"/>
                  </a:lnTo>
                  <a:lnTo>
                    <a:pt x="500281" y="294084"/>
                  </a:lnTo>
                  <a:lnTo>
                    <a:pt x="324507" y="50704"/>
                  </a:lnTo>
                  <a:close/>
                </a:path>
              </a:pathLst>
            </a:custGeom>
            <a:solidFill>
              <a:srgbClr val="F45A75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840;p27">
              <a:extLst>
                <a:ext uri="{FF2B5EF4-FFF2-40B4-BE49-F238E27FC236}">
                  <a16:creationId xmlns:a16="http://schemas.microsoft.com/office/drawing/2014/main" id="{266D22FA-B628-FCBD-97F6-1953584929EC}"/>
                </a:ext>
              </a:extLst>
            </p:cNvPr>
            <p:cNvSpPr/>
            <p:nvPr/>
          </p:nvSpPr>
          <p:spPr>
            <a:xfrm>
              <a:off x="6078764" y="3972164"/>
              <a:ext cx="1149083" cy="1091407"/>
            </a:xfrm>
            <a:custGeom>
              <a:avLst/>
              <a:gdLst/>
              <a:ahLst/>
              <a:cxnLst/>
              <a:rect l="l" t="t" r="r" b="b"/>
              <a:pathLst>
                <a:path w="875492" h="831548" extrusionOk="0">
                  <a:moveTo>
                    <a:pt x="581408" y="94648"/>
                  </a:moveTo>
                  <a:lnTo>
                    <a:pt x="294084" y="0"/>
                  </a:lnTo>
                  <a:cubicBezTo>
                    <a:pt x="277183" y="16901"/>
                    <a:pt x="256901" y="33803"/>
                    <a:pt x="236620" y="47324"/>
                  </a:cubicBezTo>
                  <a:cubicBezTo>
                    <a:pt x="165634" y="101408"/>
                    <a:pt x="84507" y="135211"/>
                    <a:pt x="0" y="152113"/>
                  </a:cubicBezTo>
                  <a:lnTo>
                    <a:pt x="469859" y="797746"/>
                  </a:lnTo>
                  <a:lnTo>
                    <a:pt x="804507" y="831549"/>
                  </a:lnTo>
                  <a:lnTo>
                    <a:pt x="804507" y="831549"/>
                  </a:lnTo>
                  <a:lnTo>
                    <a:pt x="875492" y="503662"/>
                  </a:lnTo>
                  <a:lnTo>
                    <a:pt x="581408" y="94648"/>
                  </a:lnTo>
                  <a:close/>
                </a:path>
              </a:pathLst>
            </a:custGeom>
            <a:solidFill>
              <a:srgbClr val="F45A75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841;p27">
              <a:extLst>
                <a:ext uri="{FF2B5EF4-FFF2-40B4-BE49-F238E27FC236}">
                  <a16:creationId xmlns:a16="http://schemas.microsoft.com/office/drawing/2014/main" id="{5F286791-8431-A87D-5BBF-07DC8577B77D}"/>
                </a:ext>
              </a:extLst>
            </p:cNvPr>
            <p:cNvSpPr/>
            <p:nvPr/>
          </p:nvSpPr>
          <p:spPr>
            <a:xfrm>
              <a:off x="5182531" y="2658864"/>
              <a:ext cx="1481830" cy="1481830"/>
            </a:xfrm>
            <a:custGeom>
              <a:avLst/>
              <a:gdLst/>
              <a:ahLst/>
              <a:cxnLst/>
              <a:rect l="l" t="t" r="r" b="b"/>
              <a:pathLst>
                <a:path w="1129013" h="1129013" extrusionOk="0">
                  <a:moveTo>
                    <a:pt x="1129013" y="564507"/>
                  </a:moveTo>
                  <a:cubicBezTo>
                    <a:pt x="1129013" y="876275"/>
                    <a:pt x="876275" y="1129013"/>
                    <a:pt x="564507" y="1129013"/>
                  </a:cubicBezTo>
                  <a:cubicBezTo>
                    <a:pt x="252738" y="1129013"/>
                    <a:pt x="0" y="876275"/>
                    <a:pt x="0" y="564507"/>
                  </a:cubicBezTo>
                  <a:cubicBezTo>
                    <a:pt x="0" y="252738"/>
                    <a:pt x="252738" y="0"/>
                    <a:pt x="564507" y="0"/>
                  </a:cubicBezTo>
                  <a:cubicBezTo>
                    <a:pt x="876275" y="0"/>
                    <a:pt x="1129013" y="252738"/>
                    <a:pt x="1129013" y="56450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4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842;p27">
              <a:extLst>
                <a:ext uri="{FF2B5EF4-FFF2-40B4-BE49-F238E27FC236}">
                  <a16:creationId xmlns:a16="http://schemas.microsoft.com/office/drawing/2014/main" id="{58895217-F3B8-EA03-0F2C-E352087D00ED}"/>
                </a:ext>
              </a:extLst>
            </p:cNvPr>
            <p:cNvSpPr txBox="1"/>
            <p:nvPr/>
          </p:nvSpPr>
          <p:spPr>
            <a:xfrm>
              <a:off x="4925249" y="5966308"/>
              <a:ext cx="1996200" cy="37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Who can become loyal? </a:t>
              </a:r>
            </a:p>
          </p:txBody>
        </p:sp>
        <p:sp>
          <p:nvSpPr>
            <p:cNvPr id="17" name="Google Shape;843;p27">
              <a:extLst>
                <a:ext uri="{FF2B5EF4-FFF2-40B4-BE49-F238E27FC236}">
                  <a16:creationId xmlns:a16="http://schemas.microsoft.com/office/drawing/2014/main" id="{5888701E-A739-3B11-927F-886FF8D8D6C1}"/>
                </a:ext>
              </a:extLst>
            </p:cNvPr>
            <p:cNvSpPr txBox="1"/>
            <p:nvPr/>
          </p:nvSpPr>
          <p:spPr>
            <a:xfrm>
              <a:off x="4925126" y="5756111"/>
              <a:ext cx="1996200" cy="37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noProof="0" dirty="0">
                  <a:solidFill>
                    <a:srgbClr val="000000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Potential Loyalist</a:t>
              </a:r>
            </a:p>
          </p:txBody>
        </p:sp>
        <p:sp>
          <p:nvSpPr>
            <p:cNvPr id="18" name="Google Shape;844;p27">
              <a:extLst>
                <a:ext uri="{FF2B5EF4-FFF2-40B4-BE49-F238E27FC236}">
                  <a16:creationId xmlns:a16="http://schemas.microsoft.com/office/drawing/2014/main" id="{CC8B8EFE-4005-97EE-C004-063E130479B6}"/>
                </a:ext>
              </a:extLst>
            </p:cNvPr>
            <p:cNvSpPr txBox="1"/>
            <p:nvPr/>
          </p:nvSpPr>
          <p:spPr>
            <a:xfrm>
              <a:off x="3011510" y="5312842"/>
              <a:ext cx="1996200" cy="37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Who may churn? </a:t>
              </a:r>
            </a:p>
          </p:txBody>
        </p:sp>
        <p:sp>
          <p:nvSpPr>
            <p:cNvPr id="19" name="Google Shape;845;p27">
              <a:extLst>
                <a:ext uri="{FF2B5EF4-FFF2-40B4-BE49-F238E27FC236}">
                  <a16:creationId xmlns:a16="http://schemas.microsoft.com/office/drawing/2014/main" id="{76AE30CE-D705-3D7E-55A8-8CF627800B8E}"/>
                </a:ext>
              </a:extLst>
            </p:cNvPr>
            <p:cNvSpPr txBox="1"/>
            <p:nvPr/>
          </p:nvSpPr>
          <p:spPr>
            <a:xfrm>
              <a:off x="3011660" y="5059121"/>
              <a:ext cx="1996200" cy="37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noProof="0" dirty="0">
                  <a:solidFill>
                    <a:srgbClr val="000000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Churn Risk</a:t>
              </a:r>
            </a:p>
          </p:txBody>
        </p:sp>
        <p:sp>
          <p:nvSpPr>
            <p:cNvPr id="20" name="Google Shape;846;p27">
              <a:extLst>
                <a:ext uri="{FF2B5EF4-FFF2-40B4-BE49-F238E27FC236}">
                  <a16:creationId xmlns:a16="http://schemas.microsoft.com/office/drawing/2014/main" id="{CB70DC50-D632-A8A4-C4E0-F1ADC72D591F}"/>
                </a:ext>
              </a:extLst>
            </p:cNvPr>
            <p:cNvSpPr txBox="1"/>
            <p:nvPr/>
          </p:nvSpPr>
          <p:spPr>
            <a:xfrm>
              <a:off x="1832129" y="4256364"/>
              <a:ext cx="2304540" cy="37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ctr">
                <a:buClr>
                  <a:schemeClr val="dk1"/>
                </a:buClr>
                <a:buSzPts val="1100"/>
              </a:pPr>
              <a:r>
                <a:rPr lang="en-US" sz="1200" i="1" noProof="0" dirty="0"/>
                <a:t>Who are our best customers? 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lang="en-US" sz="1200" i="1" noProof="0" dirty="0">
                <a:solidFill>
                  <a:srgbClr val="000000"/>
                </a:solidFill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1" name="Google Shape;847;p27">
              <a:extLst>
                <a:ext uri="{FF2B5EF4-FFF2-40B4-BE49-F238E27FC236}">
                  <a16:creationId xmlns:a16="http://schemas.microsoft.com/office/drawing/2014/main" id="{1A4B2824-2735-4DCC-1909-2C331A0EB4ED}"/>
                </a:ext>
              </a:extLst>
            </p:cNvPr>
            <p:cNvSpPr txBox="1"/>
            <p:nvPr/>
          </p:nvSpPr>
          <p:spPr>
            <a:xfrm>
              <a:off x="1970635" y="4002063"/>
              <a:ext cx="1996200" cy="37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noProof="0" dirty="0">
                  <a:solidFill>
                    <a:srgbClr val="000000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Valuable Customers</a:t>
              </a:r>
            </a:p>
          </p:txBody>
        </p:sp>
        <p:sp>
          <p:nvSpPr>
            <p:cNvPr id="22" name="Google Shape;848;p27">
              <a:extLst>
                <a:ext uri="{FF2B5EF4-FFF2-40B4-BE49-F238E27FC236}">
                  <a16:creationId xmlns:a16="http://schemas.microsoft.com/office/drawing/2014/main" id="{51E50679-709C-FEAB-10D4-C58CE497B32B}"/>
                </a:ext>
              </a:extLst>
            </p:cNvPr>
            <p:cNvSpPr txBox="1"/>
            <p:nvPr/>
          </p:nvSpPr>
          <p:spPr>
            <a:xfrm>
              <a:off x="6839110" y="5454000"/>
              <a:ext cx="1996200" cy="37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ctr"/>
              <a:r>
                <a:rPr lang="en-US" sz="1200" i="1" noProof="0" dirty="0"/>
                <a:t>Is marketing driving value? </a:t>
              </a:r>
            </a:p>
          </p:txBody>
        </p:sp>
        <p:sp>
          <p:nvSpPr>
            <p:cNvPr id="23" name="Google Shape;849;p27">
              <a:extLst>
                <a:ext uri="{FF2B5EF4-FFF2-40B4-BE49-F238E27FC236}">
                  <a16:creationId xmlns:a16="http://schemas.microsoft.com/office/drawing/2014/main" id="{540AADF5-0039-6252-47ED-CB8BF7608E74}"/>
                </a:ext>
              </a:extLst>
            </p:cNvPr>
            <p:cNvSpPr txBox="1"/>
            <p:nvPr/>
          </p:nvSpPr>
          <p:spPr>
            <a:xfrm>
              <a:off x="6839260" y="5200279"/>
              <a:ext cx="1996200" cy="37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noProof="0" dirty="0">
                  <a:solidFill>
                    <a:srgbClr val="000000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Marketing Effectiveness</a:t>
              </a:r>
            </a:p>
          </p:txBody>
        </p:sp>
        <p:sp>
          <p:nvSpPr>
            <p:cNvPr id="24" name="Google Shape;850;p27">
              <a:extLst>
                <a:ext uri="{FF2B5EF4-FFF2-40B4-BE49-F238E27FC236}">
                  <a16:creationId xmlns:a16="http://schemas.microsoft.com/office/drawing/2014/main" id="{977FA941-D20C-9B21-AB50-9EB5F7B0C976}"/>
                </a:ext>
              </a:extLst>
            </p:cNvPr>
            <p:cNvSpPr txBox="1"/>
            <p:nvPr/>
          </p:nvSpPr>
          <p:spPr>
            <a:xfrm>
              <a:off x="7711458" y="4197650"/>
              <a:ext cx="2648413" cy="3705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ctr"/>
              <a:r>
                <a:rPr lang="en-US" sz="1200" i="1" noProof="0" dirty="0"/>
                <a:t>Which customer age groups &amp; gender deserve strategic focus?</a:t>
              </a:r>
            </a:p>
          </p:txBody>
        </p:sp>
        <p:sp>
          <p:nvSpPr>
            <p:cNvPr id="25" name="Google Shape;851;p27">
              <a:extLst>
                <a:ext uri="{FF2B5EF4-FFF2-40B4-BE49-F238E27FC236}">
                  <a16:creationId xmlns:a16="http://schemas.microsoft.com/office/drawing/2014/main" id="{4724842D-B484-68BE-7606-67E18A1038C7}"/>
                </a:ext>
              </a:extLst>
            </p:cNvPr>
            <p:cNvSpPr txBox="1"/>
            <p:nvPr/>
          </p:nvSpPr>
          <p:spPr>
            <a:xfrm>
              <a:off x="7989472" y="3962834"/>
              <a:ext cx="1996200" cy="37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noProof="0" dirty="0">
                  <a:solidFill>
                    <a:srgbClr val="000000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Demographic Influence</a:t>
              </a:r>
            </a:p>
          </p:txBody>
        </p:sp>
        <p:sp>
          <p:nvSpPr>
            <p:cNvPr id="26" name="Google Shape;852;p27">
              <a:extLst>
                <a:ext uri="{FF2B5EF4-FFF2-40B4-BE49-F238E27FC236}">
                  <a16:creationId xmlns:a16="http://schemas.microsoft.com/office/drawing/2014/main" id="{7E3DF930-E337-DA99-74EF-403389DF321A}"/>
                </a:ext>
              </a:extLst>
            </p:cNvPr>
            <p:cNvSpPr/>
            <p:nvPr/>
          </p:nvSpPr>
          <p:spPr>
            <a:xfrm>
              <a:off x="5304529" y="2780869"/>
              <a:ext cx="1239092" cy="1239092"/>
            </a:xfrm>
            <a:custGeom>
              <a:avLst/>
              <a:gdLst/>
              <a:ahLst/>
              <a:cxnLst/>
              <a:rect l="l" t="t" r="r" b="b"/>
              <a:pathLst>
                <a:path w="1129013" h="1129013" extrusionOk="0">
                  <a:moveTo>
                    <a:pt x="1129013" y="564507"/>
                  </a:moveTo>
                  <a:cubicBezTo>
                    <a:pt x="1129013" y="876275"/>
                    <a:pt x="876275" y="1129013"/>
                    <a:pt x="564507" y="1129013"/>
                  </a:cubicBezTo>
                  <a:cubicBezTo>
                    <a:pt x="252738" y="1129013"/>
                    <a:pt x="0" y="876275"/>
                    <a:pt x="0" y="564507"/>
                  </a:cubicBezTo>
                  <a:cubicBezTo>
                    <a:pt x="0" y="252738"/>
                    <a:pt x="252738" y="0"/>
                    <a:pt x="564507" y="0"/>
                  </a:cubicBezTo>
                  <a:cubicBezTo>
                    <a:pt x="876275" y="0"/>
                    <a:pt x="1129013" y="252738"/>
                    <a:pt x="1129013" y="56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54;p27">
              <a:extLst>
                <a:ext uri="{FF2B5EF4-FFF2-40B4-BE49-F238E27FC236}">
                  <a16:creationId xmlns:a16="http://schemas.microsoft.com/office/drawing/2014/main" id="{359746B6-0858-B557-BB03-94EB21B0850D}"/>
                </a:ext>
              </a:extLst>
            </p:cNvPr>
            <p:cNvSpPr/>
            <p:nvPr/>
          </p:nvSpPr>
          <p:spPr>
            <a:xfrm>
              <a:off x="5711334" y="4742227"/>
              <a:ext cx="444600" cy="444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30" name="Google Shape;856;p27">
              <a:extLst>
                <a:ext uri="{FF2B5EF4-FFF2-40B4-BE49-F238E27FC236}">
                  <a16:creationId xmlns:a16="http://schemas.microsoft.com/office/drawing/2014/main" id="{07608EC0-D80B-FDBD-17C5-C49F12F4AC61}"/>
                </a:ext>
              </a:extLst>
            </p:cNvPr>
            <p:cNvSpPr/>
            <p:nvPr/>
          </p:nvSpPr>
          <p:spPr>
            <a:xfrm>
              <a:off x="4318257" y="3622057"/>
              <a:ext cx="444600" cy="444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grpSp>
          <p:nvGrpSpPr>
            <p:cNvPr id="85" name="Google Shape;911;p27">
              <a:extLst>
                <a:ext uri="{FF2B5EF4-FFF2-40B4-BE49-F238E27FC236}">
                  <a16:creationId xmlns:a16="http://schemas.microsoft.com/office/drawing/2014/main" id="{6DB6FF24-51BD-6356-BEFB-F8EF48DDF61B}"/>
                </a:ext>
              </a:extLst>
            </p:cNvPr>
            <p:cNvGrpSpPr/>
            <p:nvPr/>
          </p:nvGrpSpPr>
          <p:grpSpPr>
            <a:xfrm>
              <a:off x="5558692" y="3035801"/>
              <a:ext cx="729057" cy="729057"/>
              <a:chOff x="3976750" y="2006316"/>
              <a:chExt cx="452437" cy="452437"/>
            </a:xfrm>
          </p:grpSpPr>
          <p:sp>
            <p:nvSpPr>
              <p:cNvPr id="86" name="Google Shape;912;p27">
                <a:extLst>
                  <a:ext uri="{FF2B5EF4-FFF2-40B4-BE49-F238E27FC236}">
                    <a16:creationId xmlns:a16="http://schemas.microsoft.com/office/drawing/2014/main" id="{6E7EAF42-51AE-F405-A4A7-C77256E8E8CB}"/>
                  </a:ext>
                </a:extLst>
              </p:cNvPr>
              <p:cNvSpPr/>
              <p:nvPr/>
            </p:nvSpPr>
            <p:spPr>
              <a:xfrm>
                <a:off x="4112765" y="2119067"/>
                <a:ext cx="180407" cy="226933"/>
              </a:xfrm>
              <a:custGeom>
                <a:avLst/>
                <a:gdLst/>
                <a:ahLst/>
                <a:cxnLst/>
                <a:rect l="l" t="t" r="r" b="b"/>
                <a:pathLst>
                  <a:path w="240542" h="302578" extrusionOk="0">
                    <a:moveTo>
                      <a:pt x="194953" y="83211"/>
                    </a:moveTo>
                    <a:cubicBezTo>
                      <a:pt x="199835" y="83211"/>
                      <a:pt x="203790" y="79256"/>
                      <a:pt x="203790" y="74374"/>
                    </a:cubicBezTo>
                    <a:cubicBezTo>
                      <a:pt x="203790" y="69493"/>
                      <a:pt x="199835" y="65537"/>
                      <a:pt x="194953" y="65537"/>
                    </a:cubicBezTo>
                    <a:lnTo>
                      <a:pt x="187913" y="65537"/>
                    </a:lnTo>
                    <a:cubicBezTo>
                      <a:pt x="193595" y="56445"/>
                      <a:pt x="203896" y="44208"/>
                      <a:pt x="221035" y="36609"/>
                    </a:cubicBezTo>
                    <a:cubicBezTo>
                      <a:pt x="227069" y="33932"/>
                      <a:pt x="230929" y="27922"/>
                      <a:pt x="230868" y="21298"/>
                    </a:cubicBezTo>
                    <a:cubicBezTo>
                      <a:pt x="230806" y="14689"/>
                      <a:pt x="226846" y="8766"/>
                      <a:pt x="220779" y="6209"/>
                    </a:cubicBezTo>
                    <a:cubicBezTo>
                      <a:pt x="208877" y="1194"/>
                      <a:pt x="190686" y="-1811"/>
                      <a:pt x="169354" y="10304"/>
                    </a:cubicBezTo>
                    <a:cubicBezTo>
                      <a:pt x="161143" y="3459"/>
                      <a:pt x="152677" y="0"/>
                      <a:pt x="144110" y="0"/>
                    </a:cubicBezTo>
                    <a:cubicBezTo>
                      <a:pt x="144034" y="0"/>
                      <a:pt x="143954" y="0"/>
                      <a:pt x="143876" y="1"/>
                    </a:cubicBezTo>
                    <a:cubicBezTo>
                      <a:pt x="135919" y="60"/>
                      <a:pt x="128126" y="3100"/>
                      <a:pt x="120624" y="9056"/>
                    </a:cubicBezTo>
                    <a:cubicBezTo>
                      <a:pt x="114384" y="3644"/>
                      <a:pt x="107609" y="637"/>
                      <a:pt x="100400" y="97"/>
                    </a:cubicBezTo>
                    <a:cubicBezTo>
                      <a:pt x="90994" y="-604"/>
                      <a:pt x="81486" y="2795"/>
                      <a:pt x="71501" y="10480"/>
                    </a:cubicBezTo>
                    <a:cubicBezTo>
                      <a:pt x="50035" y="-1840"/>
                      <a:pt x="31725" y="1171"/>
                      <a:pt x="19764" y="6209"/>
                    </a:cubicBezTo>
                    <a:cubicBezTo>
                      <a:pt x="13697" y="8766"/>
                      <a:pt x="9737" y="14689"/>
                      <a:pt x="9675" y="21299"/>
                    </a:cubicBezTo>
                    <a:cubicBezTo>
                      <a:pt x="9614" y="27923"/>
                      <a:pt x="13474" y="33932"/>
                      <a:pt x="19509" y="36609"/>
                    </a:cubicBezTo>
                    <a:cubicBezTo>
                      <a:pt x="36495" y="44141"/>
                      <a:pt x="46828" y="56416"/>
                      <a:pt x="52559" y="65537"/>
                    </a:cubicBezTo>
                    <a:lnTo>
                      <a:pt x="45591" y="65537"/>
                    </a:lnTo>
                    <a:cubicBezTo>
                      <a:pt x="40711" y="65537"/>
                      <a:pt x="36754" y="69493"/>
                      <a:pt x="36754" y="74374"/>
                    </a:cubicBezTo>
                    <a:cubicBezTo>
                      <a:pt x="36754" y="79256"/>
                      <a:pt x="40711" y="83211"/>
                      <a:pt x="45591" y="83211"/>
                    </a:cubicBezTo>
                    <a:lnTo>
                      <a:pt x="49737" y="83211"/>
                    </a:lnTo>
                    <a:cubicBezTo>
                      <a:pt x="32021" y="110524"/>
                      <a:pt x="18854" y="137918"/>
                      <a:pt x="10518" y="164836"/>
                    </a:cubicBezTo>
                    <a:cubicBezTo>
                      <a:pt x="9074" y="169498"/>
                      <a:pt x="11683" y="174448"/>
                      <a:pt x="16345" y="175891"/>
                    </a:cubicBezTo>
                    <a:cubicBezTo>
                      <a:pt x="21007" y="177338"/>
                      <a:pt x="25957" y="174727"/>
                      <a:pt x="27400" y="170065"/>
                    </a:cubicBezTo>
                    <a:cubicBezTo>
                      <a:pt x="36227" y="141562"/>
                      <a:pt x="50887" y="112361"/>
                      <a:pt x="70999" y="83211"/>
                    </a:cubicBezTo>
                    <a:lnTo>
                      <a:pt x="169544" y="83211"/>
                    </a:lnTo>
                    <a:cubicBezTo>
                      <a:pt x="205370" y="135143"/>
                      <a:pt x="223782" y="187222"/>
                      <a:pt x="222836" y="234068"/>
                    </a:cubicBezTo>
                    <a:cubicBezTo>
                      <a:pt x="222527" y="249357"/>
                      <a:pt x="211257" y="262136"/>
                      <a:pt x="196045" y="264453"/>
                    </a:cubicBezTo>
                    <a:cubicBezTo>
                      <a:pt x="195140" y="264590"/>
                      <a:pt x="194238" y="264724"/>
                      <a:pt x="193333" y="264857"/>
                    </a:cubicBezTo>
                    <a:cubicBezTo>
                      <a:pt x="178040" y="267104"/>
                      <a:pt x="163136" y="271807"/>
                      <a:pt x="149040" y="278836"/>
                    </a:cubicBezTo>
                    <a:cubicBezTo>
                      <a:pt x="141190" y="282750"/>
                      <a:pt x="130973" y="284906"/>
                      <a:pt x="120271" y="284906"/>
                    </a:cubicBezTo>
                    <a:cubicBezTo>
                      <a:pt x="109570" y="284906"/>
                      <a:pt x="99352" y="282750"/>
                      <a:pt x="91503" y="278836"/>
                    </a:cubicBezTo>
                    <a:cubicBezTo>
                      <a:pt x="77405" y="271807"/>
                      <a:pt x="62503" y="267104"/>
                      <a:pt x="47210" y="264857"/>
                    </a:cubicBezTo>
                    <a:cubicBezTo>
                      <a:pt x="46306" y="264725"/>
                      <a:pt x="45404" y="264590"/>
                      <a:pt x="44505" y="264454"/>
                    </a:cubicBezTo>
                    <a:cubicBezTo>
                      <a:pt x="29286" y="262136"/>
                      <a:pt x="18017" y="249357"/>
                      <a:pt x="17707" y="234068"/>
                    </a:cubicBezTo>
                    <a:cubicBezTo>
                      <a:pt x="17508" y="224166"/>
                      <a:pt x="18190" y="213843"/>
                      <a:pt x="19735" y="203386"/>
                    </a:cubicBezTo>
                    <a:cubicBezTo>
                      <a:pt x="20448" y="198558"/>
                      <a:pt x="17112" y="194066"/>
                      <a:pt x="12285" y="193352"/>
                    </a:cubicBezTo>
                    <a:cubicBezTo>
                      <a:pt x="7453" y="192624"/>
                      <a:pt x="2964" y="195974"/>
                      <a:pt x="2251" y="200801"/>
                    </a:cubicBezTo>
                    <a:cubicBezTo>
                      <a:pt x="563" y="212229"/>
                      <a:pt x="-182" y="223541"/>
                      <a:pt x="37" y="234424"/>
                    </a:cubicBezTo>
                    <a:cubicBezTo>
                      <a:pt x="520" y="258331"/>
                      <a:pt x="18102" y="278309"/>
                      <a:pt x="41848" y="281925"/>
                    </a:cubicBezTo>
                    <a:cubicBezTo>
                      <a:pt x="42780" y="282067"/>
                      <a:pt x="43712" y="282206"/>
                      <a:pt x="44641" y="282342"/>
                    </a:cubicBezTo>
                    <a:cubicBezTo>
                      <a:pt x="58081" y="284316"/>
                      <a:pt x="71195" y="288456"/>
                      <a:pt x="83616" y="294650"/>
                    </a:cubicBezTo>
                    <a:cubicBezTo>
                      <a:pt x="93868" y="299762"/>
                      <a:pt x="106886" y="302578"/>
                      <a:pt x="120271" y="302578"/>
                    </a:cubicBezTo>
                    <a:cubicBezTo>
                      <a:pt x="133657" y="302578"/>
                      <a:pt x="146675" y="299762"/>
                      <a:pt x="156927" y="294650"/>
                    </a:cubicBezTo>
                    <a:cubicBezTo>
                      <a:pt x="169348" y="288456"/>
                      <a:pt x="182460" y="284316"/>
                      <a:pt x="195900" y="282342"/>
                    </a:cubicBezTo>
                    <a:cubicBezTo>
                      <a:pt x="196831" y="282206"/>
                      <a:pt x="197762" y="282067"/>
                      <a:pt x="198701" y="281924"/>
                    </a:cubicBezTo>
                    <a:cubicBezTo>
                      <a:pt x="222441" y="278308"/>
                      <a:pt x="240023" y="258331"/>
                      <a:pt x="240504" y="234424"/>
                    </a:cubicBezTo>
                    <a:cubicBezTo>
                      <a:pt x="241465" y="186925"/>
                      <a:pt x="224327" y="134930"/>
                      <a:pt x="190803" y="83210"/>
                    </a:cubicBezTo>
                    <a:lnTo>
                      <a:pt x="194953" y="83210"/>
                    </a:lnTo>
                    <a:close/>
                    <a:moveTo>
                      <a:pt x="29072" y="21558"/>
                    </a:moveTo>
                    <a:cubicBezTo>
                      <a:pt x="41346" y="17300"/>
                      <a:pt x="54170" y="19687"/>
                      <a:pt x="67228" y="28663"/>
                    </a:cubicBezTo>
                    <a:cubicBezTo>
                      <a:pt x="70596" y="30978"/>
                      <a:pt x="75115" y="30681"/>
                      <a:pt x="78151" y="27944"/>
                    </a:cubicBezTo>
                    <a:cubicBezTo>
                      <a:pt x="86162" y="20719"/>
                      <a:pt x="93203" y="17275"/>
                      <a:pt x="99076" y="17720"/>
                    </a:cubicBezTo>
                    <a:cubicBezTo>
                      <a:pt x="103924" y="18085"/>
                      <a:pt x="108622" y="21116"/>
                      <a:pt x="113441" y="26986"/>
                    </a:cubicBezTo>
                    <a:cubicBezTo>
                      <a:pt x="115051" y="28947"/>
                      <a:pt x="117425" y="30121"/>
                      <a:pt x="119959" y="30211"/>
                    </a:cubicBezTo>
                    <a:cubicBezTo>
                      <a:pt x="122503" y="30284"/>
                      <a:pt x="124944" y="29297"/>
                      <a:pt x="126689" y="27454"/>
                    </a:cubicBezTo>
                    <a:cubicBezTo>
                      <a:pt x="132796" y="21003"/>
                      <a:pt x="138621" y="17712"/>
                      <a:pt x="144006" y="17672"/>
                    </a:cubicBezTo>
                    <a:cubicBezTo>
                      <a:pt x="149475" y="17587"/>
                      <a:pt x="155555" y="20955"/>
                      <a:pt x="161983" y="27548"/>
                    </a:cubicBezTo>
                    <a:cubicBezTo>
                      <a:pt x="164985" y="30628"/>
                      <a:pt x="169769" y="31098"/>
                      <a:pt x="173316" y="28661"/>
                    </a:cubicBezTo>
                    <a:cubicBezTo>
                      <a:pt x="186373" y="19685"/>
                      <a:pt x="199198" y="17299"/>
                      <a:pt x="211471" y="21557"/>
                    </a:cubicBezTo>
                    <a:cubicBezTo>
                      <a:pt x="185434" y="33998"/>
                      <a:pt x="172790" y="54981"/>
                      <a:pt x="167817" y="65536"/>
                    </a:cubicBezTo>
                    <a:lnTo>
                      <a:pt x="157605" y="65536"/>
                    </a:lnTo>
                    <a:cubicBezTo>
                      <a:pt x="158240" y="63797"/>
                      <a:pt x="159076" y="63357"/>
                      <a:pt x="159464" y="63153"/>
                    </a:cubicBezTo>
                    <a:cubicBezTo>
                      <a:pt x="163783" y="60880"/>
                      <a:pt x="165443" y="55537"/>
                      <a:pt x="163171" y="51219"/>
                    </a:cubicBezTo>
                    <a:cubicBezTo>
                      <a:pt x="160898" y="46899"/>
                      <a:pt x="155555" y="45238"/>
                      <a:pt x="151236" y="47512"/>
                    </a:cubicBezTo>
                    <a:cubicBezTo>
                      <a:pt x="144695" y="50953"/>
                      <a:pt x="140778" y="57001"/>
                      <a:pt x="139545" y="65537"/>
                    </a:cubicBezTo>
                    <a:lnTo>
                      <a:pt x="129108" y="65537"/>
                    </a:lnTo>
                    <a:lnTo>
                      <a:pt x="129108" y="57613"/>
                    </a:lnTo>
                    <a:cubicBezTo>
                      <a:pt x="129108" y="52731"/>
                      <a:pt x="125152" y="48776"/>
                      <a:pt x="120271" y="48776"/>
                    </a:cubicBezTo>
                    <a:cubicBezTo>
                      <a:pt x="115391" y="48776"/>
                      <a:pt x="111435" y="52731"/>
                      <a:pt x="111435" y="57613"/>
                    </a:cubicBezTo>
                    <a:lnTo>
                      <a:pt x="111435" y="65537"/>
                    </a:lnTo>
                    <a:lnTo>
                      <a:pt x="100997" y="65537"/>
                    </a:lnTo>
                    <a:cubicBezTo>
                      <a:pt x="99763" y="57001"/>
                      <a:pt x="95847" y="50953"/>
                      <a:pt x="89304" y="47512"/>
                    </a:cubicBezTo>
                    <a:cubicBezTo>
                      <a:pt x="84987" y="45240"/>
                      <a:pt x="79643" y="46899"/>
                      <a:pt x="77370" y="51219"/>
                    </a:cubicBezTo>
                    <a:cubicBezTo>
                      <a:pt x="75098" y="55538"/>
                      <a:pt x="76757" y="60881"/>
                      <a:pt x="81077" y="63153"/>
                    </a:cubicBezTo>
                    <a:cubicBezTo>
                      <a:pt x="81464" y="63357"/>
                      <a:pt x="82302" y="63798"/>
                      <a:pt x="82936" y="65536"/>
                    </a:cubicBezTo>
                    <a:lnTo>
                      <a:pt x="72723" y="65536"/>
                    </a:lnTo>
                    <a:cubicBezTo>
                      <a:pt x="67753" y="54981"/>
                      <a:pt x="55108" y="33999"/>
                      <a:pt x="29072" y="215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913;p27">
                <a:extLst>
                  <a:ext uri="{FF2B5EF4-FFF2-40B4-BE49-F238E27FC236}">
                    <a16:creationId xmlns:a16="http://schemas.microsoft.com/office/drawing/2014/main" id="{8B041874-07AA-BF75-D723-ED2DB08FB55F}"/>
                  </a:ext>
                </a:extLst>
              </p:cNvPr>
              <p:cNvSpPr/>
              <p:nvPr/>
            </p:nvSpPr>
            <p:spPr>
              <a:xfrm>
                <a:off x="4177525" y="2222579"/>
                <a:ext cx="50890" cy="69062"/>
              </a:xfrm>
              <a:custGeom>
                <a:avLst/>
                <a:gdLst/>
                <a:ahLst/>
                <a:cxnLst/>
                <a:rect l="l" t="t" r="r" b="b"/>
                <a:pathLst>
                  <a:path w="67853" h="92082" extrusionOk="0">
                    <a:moveTo>
                      <a:pt x="0" y="47345"/>
                    </a:moveTo>
                    <a:cubicBezTo>
                      <a:pt x="0" y="52226"/>
                      <a:pt x="3956" y="56181"/>
                      <a:pt x="8837" y="56181"/>
                    </a:cubicBezTo>
                    <a:lnTo>
                      <a:pt x="16599" y="56181"/>
                    </a:lnTo>
                    <a:cubicBezTo>
                      <a:pt x="17003" y="61286"/>
                      <a:pt x="16217" y="63555"/>
                      <a:pt x="11499" y="69895"/>
                    </a:cubicBezTo>
                    <a:lnTo>
                      <a:pt x="5581" y="77336"/>
                    </a:lnTo>
                    <a:cubicBezTo>
                      <a:pt x="3478" y="79980"/>
                      <a:pt x="3067" y="83591"/>
                      <a:pt x="4522" y="86639"/>
                    </a:cubicBezTo>
                    <a:cubicBezTo>
                      <a:pt x="5977" y="89688"/>
                      <a:pt x="9042" y="91642"/>
                      <a:pt x="12420" y="91672"/>
                    </a:cubicBezTo>
                    <a:lnTo>
                      <a:pt x="58938" y="92083"/>
                    </a:lnTo>
                    <a:lnTo>
                      <a:pt x="59017" y="92083"/>
                    </a:lnTo>
                    <a:cubicBezTo>
                      <a:pt x="63861" y="92083"/>
                      <a:pt x="67809" y="88178"/>
                      <a:pt x="67853" y="83324"/>
                    </a:cubicBezTo>
                    <a:cubicBezTo>
                      <a:pt x="67895" y="78443"/>
                      <a:pt x="63974" y="74453"/>
                      <a:pt x="59094" y="74410"/>
                    </a:cubicBezTo>
                    <a:lnTo>
                      <a:pt x="29904" y="74151"/>
                    </a:lnTo>
                    <a:cubicBezTo>
                      <a:pt x="33390" y="68179"/>
                      <a:pt x="34593" y="63067"/>
                      <a:pt x="34283" y="56180"/>
                    </a:cubicBezTo>
                    <a:lnTo>
                      <a:pt x="41505" y="56180"/>
                    </a:lnTo>
                    <a:cubicBezTo>
                      <a:pt x="46387" y="56180"/>
                      <a:pt x="50342" y="52225"/>
                      <a:pt x="50342" y="47343"/>
                    </a:cubicBezTo>
                    <a:cubicBezTo>
                      <a:pt x="50342" y="42462"/>
                      <a:pt x="46387" y="38507"/>
                      <a:pt x="41505" y="38507"/>
                    </a:cubicBezTo>
                    <a:lnTo>
                      <a:pt x="29853" y="38507"/>
                    </a:lnTo>
                    <a:cubicBezTo>
                      <a:pt x="27811" y="35152"/>
                      <a:pt x="25064" y="29663"/>
                      <a:pt x="25083" y="25309"/>
                    </a:cubicBezTo>
                    <a:cubicBezTo>
                      <a:pt x="25083" y="25298"/>
                      <a:pt x="25083" y="25286"/>
                      <a:pt x="25083" y="25274"/>
                    </a:cubicBezTo>
                    <a:cubicBezTo>
                      <a:pt x="25083" y="25262"/>
                      <a:pt x="25083" y="25252"/>
                      <a:pt x="25083" y="25241"/>
                    </a:cubicBezTo>
                    <a:cubicBezTo>
                      <a:pt x="25077" y="23471"/>
                      <a:pt x="25465" y="21217"/>
                      <a:pt x="28545" y="19477"/>
                    </a:cubicBezTo>
                    <a:cubicBezTo>
                      <a:pt x="33134" y="16889"/>
                      <a:pt x="40008" y="17318"/>
                      <a:pt x="43306" y="19323"/>
                    </a:cubicBezTo>
                    <a:cubicBezTo>
                      <a:pt x="46295" y="21141"/>
                      <a:pt x="48604" y="23648"/>
                      <a:pt x="49188" y="25710"/>
                    </a:cubicBezTo>
                    <a:cubicBezTo>
                      <a:pt x="50521" y="30404"/>
                      <a:pt x="55398" y="33129"/>
                      <a:pt x="60101" y="31801"/>
                    </a:cubicBezTo>
                    <a:cubicBezTo>
                      <a:pt x="64795" y="30470"/>
                      <a:pt x="67524" y="25585"/>
                      <a:pt x="66193" y="20889"/>
                    </a:cubicBezTo>
                    <a:cubicBezTo>
                      <a:pt x="64378" y="14490"/>
                      <a:pt x="59384" y="8415"/>
                      <a:pt x="52489" y="4222"/>
                    </a:cubicBezTo>
                    <a:cubicBezTo>
                      <a:pt x="43317" y="-1355"/>
                      <a:pt x="29592" y="-1414"/>
                      <a:pt x="19854" y="4087"/>
                    </a:cubicBezTo>
                    <a:cubicBezTo>
                      <a:pt x="11940" y="8555"/>
                      <a:pt x="7409" y="16251"/>
                      <a:pt x="7409" y="25209"/>
                    </a:cubicBezTo>
                    <a:lnTo>
                      <a:pt x="7409" y="25233"/>
                    </a:lnTo>
                    <a:lnTo>
                      <a:pt x="7409" y="25266"/>
                    </a:lnTo>
                    <a:lnTo>
                      <a:pt x="7409" y="25301"/>
                    </a:lnTo>
                    <a:lnTo>
                      <a:pt x="7409" y="25328"/>
                    </a:lnTo>
                    <a:cubicBezTo>
                      <a:pt x="7405" y="29949"/>
                      <a:pt x="8592" y="34511"/>
                      <a:pt x="10147" y="38506"/>
                    </a:cubicBezTo>
                    <a:lnTo>
                      <a:pt x="8833" y="38506"/>
                    </a:lnTo>
                    <a:cubicBezTo>
                      <a:pt x="3956" y="38508"/>
                      <a:pt x="0" y="42463"/>
                      <a:pt x="0" y="473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914;p27">
                <a:extLst>
                  <a:ext uri="{FF2B5EF4-FFF2-40B4-BE49-F238E27FC236}">
                    <a16:creationId xmlns:a16="http://schemas.microsoft.com/office/drawing/2014/main" id="{398963D9-B4D9-C9E3-2296-670B5D65B990}"/>
                  </a:ext>
                </a:extLst>
              </p:cNvPr>
              <p:cNvSpPr/>
              <p:nvPr/>
            </p:nvSpPr>
            <p:spPr>
              <a:xfrm>
                <a:off x="4188673" y="2067331"/>
                <a:ext cx="28591" cy="31108"/>
              </a:xfrm>
              <a:custGeom>
                <a:avLst/>
                <a:gdLst/>
                <a:ahLst/>
                <a:cxnLst/>
                <a:rect l="l" t="t" r="r" b="b"/>
                <a:pathLst>
                  <a:path w="38121" h="41478" extrusionOk="0">
                    <a:moveTo>
                      <a:pt x="19060" y="41478"/>
                    </a:moveTo>
                    <a:cubicBezTo>
                      <a:pt x="23942" y="41478"/>
                      <a:pt x="27897" y="37523"/>
                      <a:pt x="27897" y="32642"/>
                    </a:cubicBezTo>
                    <a:lnTo>
                      <a:pt x="27897" y="26689"/>
                    </a:lnTo>
                    <a:cubicBezTo>
                      <a:pt x="28355" y="26762"/>
                      <a:pt x="28818" y="26798"/>
                      <a:pt x="29281" y="26798"/>
                    </a:cubicBezTo>
                    <a:cubicBezTo>
                      <a:pt x="31712" y="26798"/>
                      <a:pt x="34132" y="25801"/>
                      <a:pt x="35878" y="23845"/>
                    </a:cubicBezTo>
                    <a:cubicBezTo>
                      <a:pt x="39128" y="20203"/>
                      <a:pt x="38810" y="14617"/>
                      <a:pt x="35169" y="11368"/>
                    </a:cubicBezTo>
                    <a:lnTo>
                      <a:pt x="24944" y="2244"/>
                    </a:lnTo>
                    <a:cubicBezTo>
                      <a:pt x="21591" y="-748"/>
                      <a:pt x="16528" y="-748"/>
                      <a:pt x="13177" y="2244"/>
                    </a:cubicBezTo>
                    <a:lnTo>
                      <a:pt x="2953" y="11368"/>
                    </a:lnTo>
                    <a:cubicBezTo>
                      <a:pt x="-688" y="14617"/>
                      <a:pt x="-1006" y="20203"/>
                      <a:pt x="2244" y="23845"/>
                    </a:cubicBezTo>
                    <a:cubicBezTo>
                      <a:pt x="4321" y="26173"/>
                      <a:pt x="7355" y="27142"/>
                      <a:pt x="10224" y="26689"/>
                    </a:cubicBezTo>
                    <a:lnTo>
                      <a:pt x="10224" y="32642"/>
                    </a:lnTo>
                    <a:cubicBezTo>
                      <a:pt x="10224" y="37523"/>
                      <a:pt x="14180" y="41478"/>
                      <a:pt x="19060" y="41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915;p27">
                <a:extLst>
                  <a:ext uri="{FF2B5EF4-FFF2-40B4-BE49-F238E27FC236}">
                    <a16:creationId xmlns:a16="http://schemas.microsoft.com/office/drawing/2014/main" id="{A8CE20CB-E86C-7640-3E14-23E0A7EC4887}"/>
                  </a:ext>
                </a:extLst>
              </p:cNvPr>
              <p:cNvSpPr/>
              <p:nvPr/>
            </p:nvSpPr>
            <p:spPr>
              <a:xfrm>
                <a:off x="4295846" y="2113193"/>
                <a:ext cx="26464" cy="26463"/>
              </a:xfrm>
              <a:custGeom>
                <a:avLst/>
                <a:gdLst/>
                <a:ahLst/>
                <a:cxnLst/>
                <a:rect l="l" t="t" r="r" b="b"/>
                <a:pathLst>
                  <a:path w="35285" h="35284" extrusionOk="0">
                    <a:moveTo>
                      <a:pt x="8836" y="35285"/>
                    </a:moveTo>
                    <a:cubicBezTo>
                      <a:pt x="11097" y="35285"/>
                      <a:pt x="13359" y="34422"/>
                      <a:pt x="15086" y="32696"/>
                    </a:cubicBezTo>
                    <a:lnTo>
                      <a:pt x="19294" y="28486"/>
                    </a:lnTo>
                    <a:cubicBezTo>
                      <a:pt x="20908" y="30707"/>
                      <a:pt x="23526" y="32133"/>
                      <a:pt x="26440" y="32133"/>
                    </a:cubicBezTo>
                    <a:cubicBezTo>
                      <a:pt x="31530" y="32133"/>
                      <a:pt x="35559" y="27862"/>
                      <a:pt x="35271" y="22793"/>
                    </a:cubicBezTo>
                    <a:lnTo>
                      <a:pt x="34492" y="9113"/>
                    </a:lnTo>
                    <a:cubicBezTo>
                      <a:pt x="34236" y="4627"/>
                      <a:pt x="30657" y="1048"/>
                      <a:pt x="26171" y="792"/>
                    </a:cubicBezTo>
                    <a:lnTo>
                      <a:pt x="12491" y="13"/>
                    </a:lnTo>
                    <a:cubicBezTo>
                      <a:pt x="7610" y="-253"/>
                      <a:pt x="3442" y="3462"/>
                      <a:pt x="3165" y="8334"/>
                    </a:cubicBezTo>
                    <a:cubicBezTo>
                      <a:pt x="2988" y="11450"/>
                      <a:pt x="4449" y="14281"/>
                      <a:pt x="6798" y="15990"/>
                    </a:cubicBezTo>
                    <a:lnTo>
                      <a:pt x="2588" y="20201"/>
                    </a:lnTo>
                    <a:cubicBezTo>
                      <a:pt x="-863" y="23652"/>
                      <a:pt x="-863" y="29248"/>
                      <a:pt x="2589" y="32697"/>
                    </a:cubicBezTo>
                    <a:cubicBezTo>
                      <a:pt x="4313" y="34421"/>
                      <a:pt x="6575" y="35285"/>
                      <a:pt x="8836" y="352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16;p27">
                <a:extLst>
                  <a:ext uri="{FF2B5EF4-FFF2-40B4-BE49-F238E27FC236}">
                    <a16:creationId xmlns:a16="http://schemas.microsoft.com/office/drawing/2014/main" id="{E8498EA6-888F-4F4B-D6DF-ED9F4E4FD2B3}"/>
                  </a:ext>
                </a:extLst>
              </p:cNvPr>
              <p:cNvSpPr/>
              <p:nvPr/>
            </p:nvSpPr>
            <p:spPr>
              <a:xfrm>
                <a:off x="4314765" y="2064309"/>
                <a:ext cx="56414" cy="56428"/>
              </a:xfrm>
              <a:custGeom>
                <a:avLst/>
                <a:gdLst/>
                <a:ahLst/>
                <a:cxnLst/>
                <a:rect l="l" t="t" r="r" b="b"/>
                <a:pathLst>
                  <a:path w="75219" h="75237" extrusionOk="0">
                    <a:moveTo>
                      <a:pt x="37619" y="0"/>
                    </a:moveTo>
                    <a:cubicBezTo>
                      <a:pt x="27572" y="0"/>
                      <a:pt x="18125" y="3913"/>
                      <a:pt x="11020" y="11019"/>
                    </a:cubicBezTo>
                    <a:cubicBezTo>
                      <a:pt x="3914" y="18123"/>
                      <a:pt x="0" y="27570"/>
                      <a:pt x="0" y="37618"/>
                    </a:cubicBezTo>
                    <a:cubicBezTo>
                      <a:pt x="0" y="47666"/>
                      <a:pt x="3913" y="57113"/>
                      <a:pt x="11019" y="64219"/>
                    </a:cubicBezTo>
                    <a:cubicBezTo>
                      <a:pt x="18125" y="71324"/>
                      <a:pt x="27572" y="75238"/>
                      <a:pt x="37619" y="75238"/>
                    </a:cubicBezTo>
                    <a:cubicBezTo>
                      <a:pt x="47667" y="75238"/>
                      <a:pt x="57114" y="71325"/>
                      <a:pt x="64220" y="64219"/>
                    </a:cubicBezTo>
                    <a:cubicBezTo>
                      <a:pt x="64220" y="64218"/>
                      <a:pt x="64220" y="64218"/>
                      <a:pt x="64220" y="64218"/>
                    </a:cubicBezTo>
                    <a:cubicBezTo>
                      <a:pt x="78886" y="49550"/>
                      <a:pt x="78886" y="25685"/>
                      <a:pt x="64220" y="11019"/>
                    </a:cubicBezTo>
                    <a:cubicBezTo>
                      <a:pt x="57114" y="3913"/>
                      <a:pt x="47667" y="0"/>
                      <a:pt x="37619" y="0"/>
                    </a:cubicBezTo>
                    <a:close/>
                    <a:moveTo>
                      <a:pt x="51723" y="51720"/>
                    </a:moveTo>
                    <a:cubicBezTo>
                      <a:pt x="43947" y="59499"/>
                      <a:pt x="31292" y="59499"/>
                      <a:pt x="23517" y="51720"/>
                    </a:cubicBezTo>
                    <a:cubicBezTo>
                      <a:pt x="19749" y="47954"/>
                      <a:pt x="17675" y="42945"/>
                      <a:pt x="17675" y="37617"/>
                    </a:cubicBezTo>
                    <a:cubicBezTo>
                      <a:pt x="17675" y="32289"/>
                      <a:pt x="19749" y="27282"/>
                      <a:pt x="23517" y="23515"/>
                    </a:cubicBezTo>
                    <a:cubicBezTo>
                      <a:pt x="27284" y="19747"/>
                      <a:pt x="32293" y="17672"/>
                      <a:pt x="37621" y="17672"/>
                    </a:cubicBezTo>
                    <a:cubicBezTo>
                      <a:pt x="42949" y="17672"/>
                      <a:pt x="47956" y="19747"/>
                      <a:pt x="51724" y="23515"/>
                    </a:cubicBezTo>
                    <a:cubicBezTo>
                      <a:pt x="59499" y="31292"/>
                      <a:pt x="59498" y="43945"/>
                      <a:pt x="51723" y="517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7;p27">
                <a:extLst>
                  <a:ext uri="{FF2B5EF4-FFF2-40B4-BE49-F238E27FC236}">
                    <a16:creationId xmlns:a16="http://schemas.microsoft.com/office/drawing/2014/main" id="{B050F8C3-D0F6-5DB2-E318-32C299BBAE63}"/>
                  </a:ext>
                </a:extLst>
              </p:cNvPr>
              <p:cNvSpPr/>
              <p:nvPr/>
            </p:nvSpPr>
            <p:spPr>
              <a:xfrm>
                <a:off x="4337062" y="2218237"/>
                <a:ext cx="31108" cy="28592"/>
              </a:xfrm>
              <a:custGeom>
                <a:avLst/>
                <a:gdLst/>
                <a:ahLst/>
                <a:cxnLst/>
                <a:rect l="l" t="t" r="r" b="b"/>
                <a:pathLst>
                  <a:path w="41477" h="38122" extrusionOk="0">
                    <a:moveTo>
                      <a:pt x="0" y="19062"/>
                    </a:moveTo>
                    <a:cubicBezTo>
                      <a:pt x="0" y="23944"/>
                      <a:pt x="3955" y="27899"/>
                      <a:pt x="8837" y="27899"/>
                    </a:cubicBezTo>
                    <a:lnTo>
                      <a:pt x="14789" y="27899"/>
                    </a:lnTo>
                    <a:cubicBezTo>
                      <a:pt x="14335" y="30768"/>
                      <a:pt x="15305" y="33802"/>
                      <a:pt x="17632" y="35879"/>
                    </a:cubicBezTo>
                    <a:cubicBezTo>
                      <a:pt x="19318" y="37382"/>
                      <a:pt x="21419" y="38122"/>
                      <a:pt x="23513" y="38122"/>
                    </a:cubicBezTo>
                    <a:cubicBezTo>
                      <a:pt x="25943" y="38122"/>
                      <a:pt x="28363" y="37126"/>
                      <a:pt x="30109" y="35170"/>
                    </a:cubicBezTo>
                    <a:lnTo>
                      <a:pt x="39234" y="24945"/>
                    </a:lnTo>
                    <a:cubicBezTo>
                      <a:pt x="42225" y="21592"/>
                      <a:pt x="42225" y="16529"/>
                      <a:pt x="39234" y="13177"/>
                    </a:cubicBezTo>
                    <a:lnTo>
                      <a:pt x="30109" y="2952"/>
                    </a:lnTo>
                    <a:cubicBezTo>
                      <a:pt x="26862" y="-687"/>
                      <a:pt x="21278" y="-1006"/>
                      <a:pt x="17632" y="2243"/>
                    </a:cubicBezTo>
                    <a:cubicBezTo>
                      <a:pt x="15304" y="4320"/>
                      <a:pt x="14335" y="7354"/>
                      <a:pt x="14789" y="10223"/>
                    </a:cubicBezTo>
                    <a:lnTo>
                      <a:pt x="8837" y="10223"/>
                    </a:lnTo>
                    <a:cubicBezTo>
                      <a:pt x="3955" y="10226"/>
                      <a:pt x="0" y="14181"/>
                      <a:pt x="0" y="1906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18;p27">
                <a:extLst>
                  <a:ext uri="{FF2B5EF4-FFF2-40B4-BE49-F238E27FC236}">
                    <a16:creationId xmlns:a16="http://schemas.microsoft.com/office/drawing/2014/main" id="{A2A1706C-F025-63E4-E6D2-0B71B09402F8}"/>
                  </a:ext>
                </a:extLst>
              </p:cNvPr>
              <p:cNvSpPr/>
              <p:nvPr/>
            </p:nvSpPr>
            <p:spPr>
              <a:xfrm>
                <a:off x="4372760" y="2204320"/>
                <a:ext cx="56427" cy="56427"/>
              </a:xfrm>
              <a:custGeom>
                <a:avLst/>
                <a:gdLst/>
                <a:ahLst/>
                <a:cxnLst/>
                <a:rect l="l" t="t" r="r" b="b"/>
                <a:pathLst>
                  <a:path w="75236" h="75236" extrusionOk="0">
                    <a:moveTo>
                      <a:pt x="37618" y="0"/>
                    </a:moveTo>
                    <a:cubicBezTo>
                      <a:pt x="16876" y="0"/>
                      <a:pt x="0" y="16874"/>
                      <a:pt x="0" y="37618"/>
                    </a:cubicBezTo>
                    <a:cubicBezTo>
                      <a:pt x="0" y="58362"/>
                      <a:pt x="16874" y="75237"/>
                      <a:pt x="37618" y="75237"/>
                    </a:cubicBezTo>
                    <a:cubicBezTo>
                      <a:pt x="58362" y="75237"/>
                      <a:pt x="75237" y="58361"/>
                      <a:pt x="75237" y="37618"/>
                    </a:cubicBezTo>
                    <a:cubicBezTo>
                      <a:pt x="75237" y="16876"/>
                      <a:pt x="58361" y="0"/>
                      <a:pt x="37618" y="0"/>
                    </a:cubicBezTo>
                    <a:close/>
                    <a:moveTo>
                      <a:pt x="37618" y="57563"/>
                    </a:moveTo>
                    <a:cubicBezTo>
                      <a:pt x="26621" y="57563"/>
                      <a:pt x="17673" y="48616"/>
                      <a:pt x="17673" y="37618"/>
                    </a:cubicBezTo>
                    <a:cubicBezTo>
                      <a:pt x="17673" y="26621"/>
                      <a:pt x="26621" y="17673"/>
                      <a:pt x="37618" y="17673"/>
                    </a:cubicBezTo>
                    <a:cubicBezTo>
                      <a:pt x="48616" y="17673"/>
                      <a:pt x="57563" y="26621"/>
                      <a:pt x="57563" y="37618"/>
                    </a:cubicBezTo>
                    <a:cubicBezTo>
                      <a:pt x="57563" y="48616"/>
                      <a:pt x="48616" y="57563"/>
                      <a:pt x="37618" y="575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19;p27">
                <a:extLst>
                  <a:ext uri="{FF2B5EF4-FFF2-40B4-BE49-F238E27FC236}">
                    <a16:creationId xmlns:a16="http://schemas.microsoft.com/office/drawing/2014/main" id="{04E88B88-0C69-B831-2F81-4F1431533AB2}"/>
                  </a:ext>
                </a:extLst>
              </p:cNvPr>
              <p:cNvSpPr/>
              <p:nvPr/>
            </p:nvSpPr>
            <p:spPr>
              <a:xfrm>
                <a:off x="4295846" y="2325411"/>
                <a:ext cx="26464" cy="26462"/>
              </a:xfrm>
              <a:custGeom>
                <a:avLst/>
                <a:gdLst/>
                <a:ahLst/>
                <a:cxnLst/>
                <a:rect l="l" t="t" r="r" b="b"/>
                <a:pathLst>
                  <a:path w="35285" h="35283" extrusionOk="0">
                    <a:moveTo>
                      <a:pt x="34492" y="26171"/>
                    </a:moveTo>
                    <a:lnTo>
                      <a:pt x="35271" y="12491"/>
                    </a:lnTo>
                    <a:cubicBezTo>
                      <a:pt x="35548" y="7618"/>
                      <a:pt x="31822" y="3443"/>
                      <a:pt x="26950" y="3165"/>
                    </a:cubicBezTo>
                    <a:cubicBezTo>
                      <a:pt x="23828" y="2995"/>
                      <a:pt x="21000" y="4452"/>
                      <a:pt x="19294" y="6797"/>
                    </a:cubicBezTo>
                    <a:lnTo>
                      <a:pt x="15084" y="2588"/>
                    </a:lnTo>
                    <a:cubicBezTo>
                      <a:pt x="11635" y="-862"/>
                      <a:pt x="6039" y="-863"/>
                      <a:pt x="2588" y="2589"/>
                    </a:cubicBezTo>
                    <a:cubicBezTo>
                      <a:pt x="-863" y="6040"/>
                      <a:pt x="-863" y="11635"/>
                      <a:pt x="2589" y="15085"/>
                    </a:cubicBezTo>
                    <a:lnTo>
                      <a:pt x="6798" y="19294"/>
                    </a:lnTo>
                    <a:cubicBezTo>
                      <a:pt x="4449" y="21002"/>
                      <a:pt x="2989" y="23832"/>
                      <a:pt x="3165" y="26949"/>
                    </a:cubicBezTo>
                    <a:cubicBezTo>
                      <a:pt x="3434" y="31650"/>
                      <a:pt x="7329" y="35283"/>
                      <a:pt x="11980" y="35283"/>
                    </a:cubicBezTo>
                    <a:cubicBezTo>
                      <a:pt x="12399" y="35283"/>
                      <a:pt x="13863" y="35187"/>
                      <a:pt x="26170" y="34492"/>
                    </a:cubicBezTo>
                    <a:cubicBezTo>
                      <a:pt x="30656" y="34236"/>
                      <a:pt x="34236" y="30656"/>
                      <a:pt x="34492" y="261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920;p27">
                <a:extLst>
                  <a:ext uri="{FF2B5EF4-FFF2-40B4-BE49-F238E27FC236}">
                    <a16:creationId xmlns:a16="http://schemas.microsoft.com/office/drawing/2014/main" id="{1AACA44E-221A-636A-FB66-3840537B2CFE}"/>
                  </a:ext>
                </a:extLst>
              </p:cNvPr>
              <p:cNvSpPr/>
              <p:nvPr/>
            </p:nvSpPr>
            <p:spPr>
              <a:xfrm>
                <a:off x="4188672" y="2366628"/>
                <a:ext cx="28592" cy="31107"/>
              </a:xfrm>
              <a:custGeom>
                <a:avLst/>
                <a:gdLst/>
                <a:ahLst/>
                <a:cxnLst/>
                <a:rect l="l" t="t" r="r" b="b"/>
                <a:pathLst>
                  <a:path w="38122" h="41476" extrusionOk="0">
                    <a:moveTo>
                      <a:pt x="19061" y="0"/>
                    </a:moveTo>
                    <a:cubicBezTo>
                      <a:pt x="14181" y="0"/>
                      <a:pt x="10225" y="3955"/>
                      <a:pt x="10225" y="8837"/>
                    </a:cubicBezTo>
                    <a:lnTo>
                      <a:pt x="10225" y="14790"/>
                    </a:lnTo>
                    <a:cubicBezTo>
                      <a:pt x="7355" y="14337"/>
                      <a:pt x="4321" y="15306"/>
                      <a:pt x="2243" y="17634"/>
                    </a:cubicBezTo>
                    <a:cubicBezTo>
                      <a:pt x="-1006" y="21276"/>
                      <a:pt x="-688" y="26861"/>
                      <a:pt x="2954" y="30111"/>
                    </a:cubicBezTo>
                    <a:lnTo>
                      <a:pt x="13179" y="39234"/>
                    </a:lnTo>
                    <a:cubicBezTo>
                      <a:pt x="14854" y="40730"/>
                      <a:pt x="16958" y="41477"/>
                      <a:pt x="19061" y="41477"/>
                    </a:cubicBezTo>
                    <a:cubicBezTo>
                      <a:pt x="21165" y="41477"/>
                      <a:pt x="23269" y="40729"/>
                      <a:pt x="24945" y="39234"/>
                    </a:cubicBezTo>
                    <a:lnTo>
                      <a:pt x="35169" y="30111"/>
                    </a:lnTo>
                    <a:cubicBezTo>
                      <a:pt x="38811" y="26861"/>
                      <a:pt x="39128" y="21275"/>
                      <a:pt x="35879" y="17634"/>
                    </a:cubicBezTo>
                    <a:cubicBezTo>
                      <a:pt x="33802" y="15305"/>
                      <a:pt x="30769" y="14337"/>
                      <a:pt x="27900" y="14790"/>
                    </a:cubicBezTo>
                    <a:lnTo>
                      <a:pt x="27900" y="8838"/>
                    </a:lnTo>
                    <a:cubicBezTo>
                      <a:pt x="27899" y="3955"/>
                      <a:pt x="23942" y="0"/>
                      <a:pt x="190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921;p27">
                <a:extLst>
                  <a:ext uri="{FF2B5EF4-FFF2-40B4-BE49-F238E27FC236}">
                    <a16:creationId xmlns:a16="http://schemas.microsoft.com/office/drawing/2014/main" id="{3CEEB567-1D17-6CAF-B9F9-B48C00CA728D}"/>
                  </a:ext>
                </a:extLst>
              </p:cNvPr>
              <p:cNvSpPr/>
              <p:nvPr/>
            </p:nvSpPr>
            <p:spPr>
              <a:xfrm>
                <a:off x="4174755" y="2402325"/>
                <a:ext cx="56427" cy="56427"/>
              </a:xfrm>
              <a:custGeom>
                <a:avLst/>
                <a:gdLst/>
                <a:ahLst/>
                <a:cxnLst/>
                <a:rect l="l" t="t" r="r" b="b"/>
                <a:pathLst>
                  <a:path w="75236" h="75236" extrusionOk="0">
                    <a:moveTo>
                      <a:pt x="37618" y="0"/>
                    </a:moveTo>
                    <a:cubicBezTo>
                      <a:pt x="16876" y="0"/>
                      <a:pt x="0" y="16876"/>
                      <a:pt x="0" y="37619"/>
                    </a:cubicBezTo>
                    <a:cubicBezTo>
                      <a:pt x="0" y="58363"/>
                      <a:pt x="16876" y="75237"/>
                      <a:pt x="37618" y="75237"/>
                    </a:cubicBezTo>
                    <a:cubicBezTo>
                      <a:pt x="58361" y="75237"/>
                      <a:pt x="75237" y="58362"/>
                      <a:pt x="75237" y="37618"/>
                    </a:cubicBezTo>
                    <a:cubicBezTo>
                      <a:pt x="75237" y="16874"/>
                      <a:pt x="58361" y="0"/>
                      <a:pt x="37618" y="0"/>
                    </a:cubicBezTo>
                    <a:close/>
                    <a:moveTo>
                      <a:pt x="37618" y="57563"/>
                    </a:moveTo>
                    <a:cubicBezTo>
                      <a:pt x="26621" y="57563"/>
                      <a:pt x="17673" y="48616"/>
                      <a:pt x="17673" y="37618"/>
                    </a:cubicBezTo>
                    <a:cubicBezTo>
                      <a:pt x="17673" y="26620"/>
                      <a:pt x="26621" y="17672"/>
                      <a:pt x="37618" y="17672"/>
                    </a:cubicBezTo>
                    <a:cubicBezTo>
                      <a:pt x="48616" y="17672"/>
                      <a:pt x="57563" y="26620"/>
                      <a:pt x="57563" y="37618"/>
                    </a:cubicBezTo>
                    <a:cubicBezTo>
                      <a:pt x="57563" y="48616"/>
                      <a:pt x="48617" y="57563"/>
                      <a:pt x="37618" y="575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22;p27">
                <a:extLst>
                  <a:ext uri="{FF2B5EF4-FFF2-40B4-BE49-F238E27FC236}">
                    <a16:creationId xmlns:a16="http://schemas.microsoft.com/office/drawing/2014/main" id="{F6CFE55E-6399-A9D1-2502-A4390C8ADEE7}"/>
                  </a:ext>
                </a:extLst>
              </p:cNvPr>
              <p:cNvSpPr/>
              <p:nvPr/>
            </p:nvSpPr>
            <p:spPr>
              <a:xfrm>
                <a:off x="4083629" y="2325412"/>
                <a:ext cx="26463" cy="26461"/>
              </a:xfrm>
              <a:custGeom>
                <a:avLst/>
                <a:gdLst/>
                <a:ahLst/>
                <a:cxnLst/>
                <a:rect l="l" t="t" r="r" b="b"/>
                <a:pathLst>
                  <a:path w="35284" h="35281" extrusionOk="0">
                    <a:moveTo>
                      <a:pt x="20199" y="2587"/>
                    </a:moveTo>
                    <a:lnTo>
                      <a:pt x="15986" y="6800"/>
                    </a:lnTo>
                    <a:cubicBezTo>
                      <a:pt x="14279" y="4462"/>
                      <a:pt x="11453" y="3012"/>
                      <a:pt x="8335" y="3165"/>
                    </a:cubicBezTo>
                    <a:cubicBezTo>
                      <a:pt x="3463" y="3442"/>
                      <a:pt x="-262" y="7617"/>
                      <a:pt x="14" y="12489"/>
                    </a:cubicBezTo>
                    <a:lnTo>
                      <a:pt x="793" y="26170"/>
                    </a:lnTo>
                    <a:cubicBezTo>
                      <a:pt x="1048" y="30656"/>
                      <a:pt x="4628" y="34236"/>
                      <a:pt x="9114" y="34490"/>
                    </a:cubicBezTo>
                    <a:lnTo>
                      <a:pt x="22794" y="35268"/>
                    </a:lnTo>
                    <a:cubicBezTo>
                      <a:pt x="27732" y="35534"/>
                      <a:pt x="31844" y="31768"/>
                      <a:pt x="32119" y="26947"/>
                    </a:cubicBezTo>
                    <a:cubicBezTo>
                      <a:pt x="32297" y="23832"/>
                      <a:pt x="30837" y="21002"/>
                      <a:pt x="28487" y="19293"/>
                    </a:cubicBezTo>
                    <a:lnTo>
                      <a:pt x="32696" y="15085"/>
                    </a:lnTo>
                    <a:cubicBezTo>
                      <a:pt x="36147" y="11633"/>
                      <a:pt x="36147" y="6038"/>
                      <a:pt x="32696" y="2587"/>
                    </a:cubicBezTo>
                    <a:cubicBezTo>
                      <a:pt x="29244" y="-862"/>
                      <a:pt x="23648" y="-862"/>
                      <a:pt x="20199" y="258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23;p27">
                <a:extLst>
                  <a:ext uri="{FF2B5EF4-FFF2-40B4-BE49-F238E27FC236}">
                    <a16:creationId xmlns:a16="http://schemas.microsoft.com/office/drawing/2014/main" id="{AE058C15-90A1-B1CE-A545-03640AA7E036}"/>
                  </a:ext>
                </a:extLst>
              </p:cNvPr>
              <p:cNvSpPr/>
              <p:nvPr/>
            </p:nvSpPr>
            <p:spPr>
              <a:xfrm>
                <a:off x="4034743" y="2344331"/>
                <a:ext cx="56428" cy="56428"/>
              </a:xfrm>
              <a:custGeom>
                <a:avLst/>
                <a:gdLst/>
                <a:ahLst/>
                <a:cxnLst/>
                <a:rect l="l" t="t" r="r" b="b"/>
                <a:pathLst>
                  <a:path w="75237" h="75237" extrusionOk="0">
                    <a:moveTo>
                      <a:pt x="37619" y="0"/>
                    </a:moveTo>
                    <a:cubicBezTo>
                      <a:pt x="27572" y="0"/>
                      <a:pt x="18125" y="3913"/>
                      <a:pt x="11019" y="11019"/>
                    </a:cubicBezTo>
                    <a:cubicBezTo>
                      <a:pt x="3913" y="18125"/>
                      <a:pt x="0" y="27570"/>
                      <a:pt x="0" y="37618"/>
                    </a:cubicBezTo>
                    <a:cubicBezTo>
                      <a:pt x="0" y="47666"/>
                      <a:pt x="3913" y="57113"/>
                      <a:pt x="11019" y="64219"/>
                    </a:cubicBezTo>
                    <a:cubicBezTo>
                      <a:pt x="18123" y="71324"/>
                      <a:pt x="27570" y="75238"/>
                      <a:pt x="37619" y="75238"/>
                    </a:cubicBezTo>
                    <a:cubicBezTo>
                      <a:pt x="47669" y="75238"/>
                      <a:pt x="57114" y="71325"/>
                      <a:pt x="64219" y="64219"/>
                    </a:cubicBezTo>
                    <a:cubicBezTo>
                      <a:pt x="71325" y="57113"/>
                      <a:pt x="75238" y="47666"/>
                      <a:pt x="75238" y="37618"/>
                    </a:cubicBezTo>
                    <a:cubicBezTo>
                      <a:pt x="75238" y="27570"/>
                      <a:pt x="71325" y="18123"/>
                      <a:pt x="64219" y="11020"/>
                    </a:cubicBezTo>
                    <a:cubicBezTo>
                      <a:pt x="57114" y="3913"/>
                      <a:pt x="47669" y="0"/>
                      <a:pt x="37619" y="0"/>
                    </a:cubicBezTo>
                    <a:close/>
                    <a:moveTo>
                      <a:pt x="51723" y="51722"/>
                    </a:moveTo>
                    <a:cubicBezTo>
                      <a:pt x="47956" y="55488"/>
                      <a:pt x="42947" y="57563"/>
                      <a:pt x="37619" y="57563"/>
                    </a:cubicBezTo>
                    <a:cubicBezTo>
                      <a:pt x="32292" y="57563"/>
                      <a:pt x="27284" y="55488"/>
                      <a:pt x="23516" y="51722"/>
                    </a:cubicBezTo>
                    <a:cubicBezTo>
                      <a:pt x="19749" y="47954"/>
                      <a:pt x="17675" y="42945"/>
                      <a:pt x="17675" y="37617"/>
                    </a:cubicBezTo>
                    <a:cubicBezTo>
                      <a:pt x="17675" y="32289"/>
                      <a:pt x="19749" y="27282"/>
                      <a:pt x="23516" y="23515"/>
                    </a:cubicBezTo>
                    <a:cubicBezTo>
                      <a:pt x="27284" y="19747"/>
                      <a:pt x="32293" y="17672"/>
                      <a:pt x="37619" y="17672"/>
                    </a:cubicBezTo>
                    <a:cubicBezTo>
                      <a:pt x="42946" y="17672"/>
                      <a:pt x="47955" y="19747"/>
                      <a:pt x="51723" y="23515"/>
                    </a:cubicBezTo>
                    <a:cubicBezTo>
                      <a:pt x="55490" y="27281"/>
                      <a:pt x="57564" y="32289"/>
                      <a:pt x="57564" y="37617"/>
                    </a:cubicBezTo>
                    <a:cubicBezTo>
                      <a:pt x="57564" y="42945"/>
                      <a:pt x="55490" y="47954"/>
                      <a:pt x="51723" y="517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24;p27">
                <a:extLst>
                  <a:ext uri="{FF2B5EF4-FFF2-40B4-BE49-F238E27FC236}">
                    <a16:creationId xmlns:a16="http://schemas.microsoft.com/office/drawing/2014/main" id="{8CCBBA04-3000-2E3A-8831-F3C25ACC0B57}"/>
                  </a:ext>
                </a:extLst>
              </p:cNvPr>
              <p:cNvSpPr/>
              <p:nvPr/>
            </p:nvSpPr>
            <p:spPr>
              <a:xfrm>
                <a:off x="4037767" y="2218239"/>
                <a:ext cx="31108" cy="28592"/>
              </a:xfrm>
              <a:custGeom>
                <a:avLst/>
                <a:gdLst/>
                <a:ahLst/>
                <a:cxnLst/>
                <a:rect l="l" t="t" r="r" b="b"/>
                <a:pathLst>
                  <a:path w="41477" h="38122" extrusionOk="0">
                    <a:moveTo>
                      <a:pt x="41477" y="19060"/>
                    </a:moveTo>
                    <a:cubicBezTo>
                      <a:pt x="41477" y="14179"/>
                      <a:pt x="37521" y="10224"/>
                      <a:pt x="32641" y="10224"/>
                    </a:cubicBezTo>
                    <a:lnTo>
                      <a:pt x="26688" y="10224"/>
                    </a:lnTo>
                    <a:cubicBezTo>
                      <a:pt x="27142" y="7355"/>
                      <a:pt x="26172" y="4321"/>
                      <a:pt x="23844" y="2243"/>
                    </a:cubicBezTo>
                    <a:cubicBezTo>
                      <a:pt x="20202" y="-1006"/>
                      <a:pt x="14616" y="-688"/>
                      <a:pt x="11368" y="2954"/>
                    </a:cubicBezTo>
                    <a:lnTo>
                      <a:pt x="2244" y="13179"/>
                    </a:lnTo>
                    <a:cubicBezTo>
                      <a:pt x="-748" y="16531"/>
                      <a:pt x="-748" y="21593"/>
                      <a:pt x="2244" y="24944"/>
                    </a:cubicBezTo>
                    <a:lnTo>
                      <a:pt x="11368" y="35169"/>
                    </a:lnTo>
                    <a:cubicBezTo>
                      <a:pt x="13113" y="37126"/>
                      <a:pt x="15533" y="38123"/>
                      <a:pt x="17963" y="38123"/>
                    </a:cubicBezTo>
                    <a:cubicBezTo>
                      <a:pt x="20057" y="38123"/>
                      <a:pt x="22159" y="37383"/>
                      <a:pt x="23844" y="35879"/>
                    </a:cubicBezTo>
                    <a:cubicBezTo>
                      <a:pt x="26172" y="33801"/>
                      <a:pt x="27142" y="30768"/>
                      <a:pt x="26688" y="27899"/>
                    </a:cubicBezTo>
                    <a:lnTo>
                      <a:pt x="32641" y="27899"/>
                    </a:lnTo>
                    <a:cubicBezTo>
                      <a:pt x="37521" y="27897"/>
                      <a:pt x="41477" y="23942"/>
                      <a:pt x="41477" y="1906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25;p27">
                <a:extLst>
                  <a:ext uri="{FF2B5EF4-FFF2-40B4-BE49-F238E27FC236}">
                    <a16:creationId xmlns:a16="http://schemas.microsoft.com/office/drawing/2014/main" id="{6620481B-68AD-95FC-2595-3A9A0CD07D85}"/>
                  </a:ext>
                </a:extLst>
              </p:cNvPr>
              <p:cNvSpPr/>
              <p:nvPr/>
            </p:nvSpPr>
            <p:spPr>
              <a:xfrm>
                <a:off x="3976750" y="2204320"/>
                <a:ext cx="56427" cy="56427"/>
              </a:xfrm>
              <a:custGeom>
                <a:avLst/>
                <a:gdLst/>
                <a:ahLst/>
                <a:cxnLst/>
                <a:rect l="l" t="t" r="r" b="b"/>
                <a:pathLst>
                  <a:path w="75236" h="75236" extrusionOk="0">
                    <a:moveTo>
                      <a:pt x="37618" y="0"/>
                    </a:moveTo>
                    <a:cubicBezTo>
                      <a:pt x="16876" y="0"/>
                      <a:pt x="0" y="16876"/>
                      <a:pt x="0" y="37618"/>
                    </a:cubicBezTo>
                    <a:cubicBezTo>
                      <a:pt x="0" y="58361"/>
                      <a:pt x="16876" y="75237"/>
                      <a:pt x="37618" y="75237"/>
                    </a:cubicBezTo>
                    <a:cubicBezTo>
                      <a:pt x="58361" y="75237"/>
                      <a:pt x="75237" y="58362"/>
                      <a:pt x="75237" y="37618"/>
                    </a:cubicBezTo>
                    <a:cubicBezTo>
                      <a:pt x="75237" y="16874"/>
                      <a:pt x="58361" y="0"/>
                      <a:pt x="37618" y="0"/>
                    </a:cubicBezTo>
                    <a:close/>
                    <a:moveTo>
                      <a:pt x="37618" y="57563"/>
                    </a:moveTo>
                    <a:cubicBezTo>
                      <a:pt x="26621" y="57563"/>
                      <a:pt x="17673" y="48616"/>
                      <a:pt x="17673" y="37618"/>
                    </a:cubicBezTo>
                    <a:cubicBezTo>
                      <a:pt x="17673" y="26621"/>
                      <a:pt x="26621" y="17673"/>
                      <a:pt x="37618" y="17673"/>
                    </a:cubicBezTo>
                    <a:cubicBezTo>
                      <a:pt x="48616" y="17673"/>
                      <a:pt x="57563" y="26621"/>
                      <a:pt x="57563" y="37618"/>
                    </a:cubicBezTo>
                    <a:cubicBezTo>
                      <a:pt x="57563" y="48616"/>
                      <a:pt x="48616" y="57563"/>
                      <a:pt x="37618" y="575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926;p27">
                <a:extLst>
                  <a:ext uri="{FF2B5EF4-FFF2-40B4-BE49-F238E27FC236}">
                    <a16:creationId xmlns:a16="http://schemas.microsoft.com/office/drawing/2014/main" id="{4C9C1986-9CDB-DCC5-A38F-EA8F6C2CDE35}"/>
                  </a:ext>
                </a:extLst>
              </p:cNvPr>
              <p:cNvSpPr/>
              <p:nvPr/>
            </p:nvSpPr>
            <p:spPr>
              <a:xfrm>
                <a:off x="4083628" y="2113193"/>
                <a:ext cx="26462" cy="26462"/>
              </a:xfrm>
              <a:custGeom>
                <a:avLst/>
                <a:gdLst/>
                <a:ahLst/>
                <a:cxnLst/>
                <a:rect l="l" t="t" r="r" b="b"/>
                <a:pathLst>
                  <a:path w="35283" h="35283" extrusionOk="0">
                    <a:moveTo>
                      <a:pt x="793" y="9114"/>
                    </a:moveTo>
                    <a:lnTo>
                      <a:pt x="14" y="22794"/>
                    </a:lnTo>
                    <a:cubicBezTo>
                      <a:pt x="-262" y="27666"/>
                      <a:pt x="3462" y="31842"/>
                      <a:pt x="8335" y="32119"/>
                    </a:cubicBezTo>
                    <a:cubicBezTo>
                      <a:pt x="11494" y="32288"/>
                      <a:pt x="14297" y="30815"/>
                      <a:pt x="15989" y="28486"/>
                    </a:cubicBezTo>
                    <a:lnTo>
                      <a:pt x="20199" y="32696"/>
                    </a:lnTo>
                    <a:cubicBezTo>
                      <a:pt x="21924" y="34421"/>
                      <a:pt x="24186" y="35284"/>
                      <a:pt x="26447" y="35284"/>
                    </a:cubicBezTo>
                    <a:cubicBezTo>
                      <a:pt x="28708" y="35284"/>
                      <a:pt x="30970" y="34421"/>
                      <a:pt x="32695" y="32696"/>
                    </a:cubicBezTo>
                    <a:cubicBezTo>
                      <a:pt x="36146" y="29244"/>
                      <a:pt x="36146" y="23650"/>
                      <a:pt x="32695" y="20199"/>
                    </a:cubicBezTo>
                    <a:lnTo>
                      <a:pt x="28485" y="15989"/>
                    </a:lnTo>
                    <a:cubicBezTo>
                      <a:pt x="30836" y="14281"/>
                      <a:pt x="32294" y="11449"/>
                      <a:pt x="32118" y="8333"/>
                    </a:cubicBezTo>
                    <a:cubicBezTo>
                      <a:pt x="31841" y="3460"/>
                      <a:pt x="27670" y="-241"/>
                      <a:pt x="22793" y="12"/>
                    </a:cubicBezTo>
                    <a:lnTo>
                      <a:pt x="9113" y="791"/>
                    </a:lnTo>
                    <a:cubicBezTo>
                      <a:pt x="4628" y="1048"/>
                      <a:pt x="1048" y="4629"/>
                      <a:pt x="793" y="911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927;p27">
                <a:extLst>
                  <a:ext uri="{FF2B5EF4-FFF2-40B4-BE49-F238E27FC236}">
                    <a16:creationId xmlns:a16="http://schemas.microsoft.com/office/drawing/2014/main" id="{957EA0C1-0325-BED7-8473-B0BE40E857E2}"/>
                  </a:ext>
                </a:extLst>
              </p:cNvPr>
              <p:cNvSpPr/>
              <p:nvPr/>
            </p:nvSpPr>
            <p:spPr>
              <a:xfrm>
                <a:off x="4034744" y="2064309"/>
                <a:ext cx="56427" cy="56428"/>
              </a:xfrm>
              <a:custGeom>
                <a:avLst/>
                <a:gdLst/>
                <a:ahLst/>
                <a:cxnLst/>
                <a:rect l="l" t="t" r="r" b="b"/>
                <a:pathLst>
                  <a:path w="75236" h="75237" extrusionOk="0">
                    <a:moveTo>
                      <a:pt x="37618" y="75238"/>
                    </a:moveTo>
                    <a:cubicBezTo>
                      <a:pt x="47666" y="75238"/>
                      <a:pt x="57113" y="71325"/>
                      <a:pt x="64218" y="64219"/>
                    </a:cubicBezTo>
                    <a:cubicBezTo>
                      <a:pt x="71324" y="57113"/>
                      <a:pt x="75237" y="47666"/>
                      <a:pt x="75237" y="37618"/>
                    </a:cubicBezTo>
                    <a:cubicBezTo>
                      <a:pt x="75237" y="27570"/>
                      <a:pt x="71324" y="18123"/>
                      <a:pt x="64218" y="11020"/>
                    </a:cubicBezTo>
                    <a:cubicBezTo>
                      <a:pt x="57113" y="3914"/>
                      <a:pt x="47666" y="0"/>
                      <a:pt x="37618" y="0"/>
                    </a:cubicBezTo>
                    <a:cubicBezTo>
                      <a:pt x="27570" y="0"/>
                      <a:pt x="18123" y="3914"/>
                      <a:pt x="11019" y="11019"/>
                    </a:cubicBezTo>
                    <a:cubicBezTo>
                      <a:pt x="3914" y="18123"/>
                      <a:pt x="0" y="27570"/>
                      <a:pt x="0" y="37618"/>
                    </a:cubicBezTo>
                    <a:cubicBezTo>
                      <a:pt x="0" y="47666"/>
                      <a:pt x="3913" y="57113"/>
                      <a:pt x="11019" y="64219"/>
                    </a:cubicBezTo>
                    <a:cubicBezTo>
                      <a:pt x="18123" y="71325"/>
                      <a:pt x="27570" y="75238"/>
                      <a:pt x="37618" y="75238"/>
                    </a:cubicBezTo>
                    <a:close/>
                    <a:moveTo>
                      <a:pt x="23515" y="23517"/>
                    </a:moveTo>
                    <a:cubicBezTo>
                      <a:pt x="27283" y="19749"/>
                      <a:pt x="32292" y="17675"/>
                      <a:pt x="37618" y="17675"/>
                    </a:cubicBezTo>
                    <a:cubicBezTo>
                      <a:pt x="42945" y="17675"/>
                      <a:pt x="47954" y="19749"/>
                      <a:pt x="51722" y="23516"/>
                    </a:cubicBezTo>
                    <a:lnTo>
                      <a:pt x="51722" y="23517"/>
                    </a:lnTo>
                    <a:cubicBezTo>
                      <a:pt x="55488" y="27283"/>
                      <a:pt x="57563" y="32292"/>
                      <a:pt x="57563" y="37619"/>
                    </a:cubicBezTo>
                    <a:cubicBezTo>
                      <a:pt x="57563" y="42947"/>
                      <a:pt x="55488" y="47955"/>
                      <a:pt x="51722" y="51724"/>
                    </a:cubicBezTo>
                    <a:cubicBezTo>
                      <a:pt x="47955" y="55491"/>
                      <a:pt x="42946" y="57566"/>
                      <a:pt x="37618" y="57566"/>
                    </a:cubicBezTo>
                    <a:cubicBezTo>
                      <a:pt x="32290" y="57566"/>
                      <a:pt x="27283" y="55491"/>
                      <a:pt x="23515" y="51724"/>
                    </a:cubicBezTo>
                    <a:cubicBezTo>
                      <a:pt x="19748" y="47956"/>
                      <a:pt x="17673" y="42947"/>
                      <a:pt x="17673" y="37619"/>
                    </a:cubicBezTo>
                    <a:cubicBezTo>
                      <a:pt x="17673" y="32292"/>
                      <a:pt x="19748" y="27283"/>
                      <a:pt x="23515" y="235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928;p27">
                <a:extLst>
                  <a:ext uri="{FF2B5EF4-FFF2-40B4-BE49-F238E27FC236}">
                    <a16:creationId xmlns:a16="http://schemas.microsoft.com/office/drawing/2014/main" id="{263DC386-9EF0-F3E7-B5C6-1C9A521483D8}"/>
                  </a:ext>
                </a:extLst>
              </p:cNvPr>
              <p:cNvSpPr/>
              <p:nvPr/>
            </p:nvSpPr>
            <p:spPr>
              <a:xfrm>
                <a:off x="4314765" y="2344344"/>
                <a:ext cx="56395" cy="56396"/>
              </a:xfrm>
              <a:custGeom>
                <a:avLst/>
                <a:gdLst/>
                <a:ahLst/>
                <a:cxnLst/>
                <a:rect l="l" t="t" r="r" b="b"/>
                <a:pathLst>
                  <a:path w="75193" h="75195" extrusionOk="0">
                    <a:moveTo>
                      <a:pt x="64220" y="11000"/>
                    </a:moveTo>
                    <a:cubicBezTo>
                      <a:pt x="49553" y="-3665"/>
                      <a:pt x="25688" y="-3668"/>
                      <a:pt x="11020" y="11000"/>
                    </a:cubicBezTo>
                    <a:cubicBezTo>
                      <a:pt x="3914" y="18105"/>
                      <a:pt x="0" y="27552"/>
                      <a:pt x="0" y="37599"/>
                    </a:cubicBezTo>
                    <a:cubicBezTo>
                      <a:pt x="0" y="47647"/>
                      <a:pt x="3913" y="57094"/>
                      <a:pt x="11019" y="64200"/>
                    </a:cubicBezTo>
                    <a:cubicBezTo>
                      <a:pt x="18149" y="71331"/>
                      <a:pt x="27784" y="75195"/>
                      <a:pt x="37641" y="75195"/>
                    </a:cubicBezTo>
                    <a:cubicBezTo>
                      <a:pt x="40977" y="75195"/>
                      <a:pt x="44342" y="74751"/>
                      <a:pt x="47640" y="73843"/>
                    </a:cubicBezTo>
                    <a:cubicBezTo>
                      <a:pt x="52345" y="72544"/>
                      <a:pt x="55108" y="67681"/>
                      <a:pt x="53811" y="62975"/>
                    </a:cubicBezTo>
                    <a:cubicBezTo>
                      <a:pt x="52513" y="58269"/>
                      <a:pt x="47645" y="55507"/>
                      <a:pt x="42943" y="56804"/>
                    </a:cubicBezTo>
                    <a:cubicBezTo>
                      <a:pt x="36017" y="58716"/>
                      <a:pt x="28572" y="56761"/>
                      <a:pt x="23516" y="51703"/>
                    </a:cubicBezTo>
                    <a:cubicBezTo>
                      <a:pt x="19748" y="47936"/>
                      <a:pt x="17673" y="42927"/>
                      <a:pt x="17673" y="37599"/>
                    </a:cubicBezTo>
                    <a:cubicBezTo>
                      <a:pt x="17673" y="32272"/>
                      <a:pt x="19748" y="27265"/>
                      <a:pt x="23516" y="23497"/>
                    </a:cubicBezTo>
                    <a:cubicBezTo>
                      <a:pt x="27283" y="19729"/>
                      <a:pt x="32292" y="17654"/>
                      <a:pt x="37619" y="17654"/>
                    </a:cubicBezTo>
                    <a:cubicBezTo>
                      <a:pt x="42947" y="17654"/>
                      <a:pt x="47955" y="19729"/>
                      <a:pt x="51723" y="23497"/>
                    </a:cubicBezTo>
                    <a:cubicBezTo>
                      <a:pt x="55303" y="27078"/>
                      <a:pt x="57364" y="31861"/>
                      <a:pt x="57526" y="36967"/>
                    </a:cubicBezTo>
                    <a:cubicBezTo>
                      <a:pt x="57680" y="41845"/>
                      <a:pt x="61749" y="45723"/>
                      <a:pt x="66634" y="45522"/>
                    </a:cubicBezTo>
                    <a:cubicBezTo>
                      <a:pt x="71513" y="45369"/>
                      <a:pt x="75344" y="41290"/>
                      <a:pt x="75189" y="36413"/>
                    </a:cubicBezTo>
                    <a:cubicBezTo>
                      <a:pt x="74887" y="26796"/>
                      <a:pt x="70991" y="17771"/>
                      <a:pt x="64220" y="110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929;p27">
                <a:extLst>
                  <a:ext uri="{FF2B5EF4-FFF2-40B4-BE49-F238E27FC236}">
                    <a16:creationId xmlns:a16="http://schemas.microsoft.com/office/drawing/2014/main" id="{4342223C-C817-8A9F-E3B5-471EC5E5CD25}"/>
                  </a:ext>
                </a:extLst>
              </p:cNvPr>
              <p:cNvSpPr/>
              <p:nvPr/>
            </p:nvSpPr>
            <p:spPr>
              <a:xfrm>
                <a:off x="4174755" y="2006316"/>
                <a:ext cx="53968" cy="56426"/>
              </a:xfrm>
              <a:custGeom>
                <a:avLst/>
                <a:gdLst/>
                <a:ahLst/>
                <a:cxnLst/>
                <a:rect l="l" t="t" r="r" b="b"/>
                <a:pathLst>
                  <a:path w="71957" h="75235" extrusionOk="0">
                    <a:moveTo>
                      <a:pt x="37618" y="75235"/>
                    </a:moveTo>
                    <a:cubicBezTo>
                      <a:pt x="51650" y="75235"/>
                      <a:pt x="64420" y="67506"/>
                      <a:pt x="70944" y="55065"/>
                    </a:cubicBezTo>
                    <a:cubicBezTo>
                      <a:pt x="73211" y="50744"/>
                      <a:pt x="71545" y="45403"/>
                      <a:pt x="67224" y="43136"/>
                    </a:cubicBezTo>
                    <a:cubicBezTo>
                      <a:pt x="62899" y="40869"/>
                      <a:pt x="57561" y="42533"/>
                      <a:pt x="55294" y="46857"/>
                    </a:cubicBezTo>
                    <a:cubicBezTo>
                      <a:pt x="51831" y="53459"/>
                      <a:pt x="45058" y="57562"/>
                      <a:pt x="37619" y="57562"/>
                    </a:cubicBezTo>
                    <a:cubicBezTo>
                      <a:pt x="26622" y="57562"/>
                      <a:pt x="17675" y="48615"/>
                      <a:pt x="17675" y="37617"/>
                    </a:cubicBezTo>
                    <a:cubicBezTo>
                      <a:pt x="17675" y="26620"/>
                      <a:pt x="26621" y="17673"/>
                      <a:pt x="37618" y="17673"/>
                    </a:cubicBezTo>
                    <a:cubicBezTo>
                      <a:pt x="42435" y="17673"/>
                      <a:pt x="47089" y="19419"/>
                      <a:pt x="50720" y="22590"/>
                    </a:cubicBezTo>
                    <a:cubicBezTo>
                      <a:pt x="54396" y="25803"/>
                      <a:pt x="59979" y="25423"/>
                      <a:pt x="63188" y="21745"/>
                    </a:cubicBezTo>
                    <a:cubicBezTo>
                      <a:pt x="66399" y="18069"/>
                      <a:pt x="66019" y="12487"/>
                      <a:pt x="62343" y="9277"/>
                    </a:cubicBezTo>
                    <a:cubicBezTo>
                      <a:pt x="55492" y="3294"/>
                      <a:pt x="46711" y="0"/>
                      <a:pt x="37618" y="0"/>
                    </a:cubicBezTo>
                    <a:cubicBezTo>
                      <a:pt x="16876" y="0"/>
                      <a:pt x="0" y="16875"/>
                      <a:pt x="0" y="37618"/>
                    </a:cubicBezTo>
                    <a:cubicBezTo>
                      <a:pt x="0" y="58362"/>
                      <a:pt x="16876" y="75235"/>
                      <a:pt x="37618" y="752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4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9" name="Google Shape;856;p27">
              <a:extLst>
                <a:ext uri="{FF2B5EF4-FFF2-40B4-BE49-F238E27FC236}">
                  <a16:creationId xmlns:a16="http://schemas.microsoft.com/office/drawing/2014/main" id="{80084408-2594-37D7-131B-08B015D8A793}"/>
                </a:ext>
              </a:extLst>
            </p:cNvPr>
            <p:cNvSpPr/>
            <p:nvPr/>
          </p:nvSpPr>
          <p:spPr>
            <a:xfrm>
              <a:off x="4788882" y="4427200"/>
              <a:ext cx="444600" cy="444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170" name="Google Shape;854;p27">
              <a:extLst>
                <a:ext uri="{FF2B5EF4-FFF2-40B4-BE49-F238E27FC236}">
                  <a16:creationId xmlns:a16="http://schemas.microsoft.com/office/drawing/2014/main" id="{772A11E6-21D7-4700-0CDA-218BE9FA63BF}"/>
                </a:ext>
              </a:extLst>
            </p:cNvPr>
            <p:cNvSpPr/>
            <p:nvPr/>
          </p:nvSpPr>
          <p:spPr>
            <a:xfrm>
              <a:off x="6639545" y="4444164"/>
              <a:ext cx="444600" cy="444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171" name="Google Shape;854;p27">
              <a:extLst>
                <a:ext uri="{FF2B5EF4-FFF2-40B4-BE49-F238E27FC236}">
                  <a16:creationId xmlns:a16="http://schemas.microsoft.com/office/drawing/2014/main" id="{D748C81F-36C9-BD4A-F4B2-E53351816DB6}"/>
                </a:ext>
              </a:extLst>
            </p:cNvPr>
            <p:cNvSpPr/>
            <p:nvPr/>
          </p:nvSpPr>
          <p:spPr>
            <a:xfrm>
              <a:off x="7157591" y="3648648"/>
              <a:ext cx="444600" cy="444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pic>
          <p:nvPicPr>
            <p:cNvPr id="178" name="Picture 177">
              <a:extLst>
                <a:ext uri="{FF2B5EF4-FFF2-40B4-BE49-F238E27FC236}">
                  <a16:creationId xmlns:a16="http://schemas.microsoft.com/office/drawing/2014/main" id="{B0CEC925-5032-14AA-080C-8B233AE20F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50460" y="4498640"/>
              <a:ext cx="292108" cy="292108"/>
            </a:xfrm>
            <a:prstGeom prst="rect">
              <a:avLst/>
            </a:prstGeom>
          </p:spPr>
        </p:pic>
        <p:pic>
          <p:nvPicPr>
            <p:cNvPr id="180" name="Picture 179">
              <a:extLst>
                <a:ext uri="{FF2B5EF4-FFF2-40B4-BE49-F238E27FC236}">
                  <a16:creationId xmlns:a16="http://schemas.microsoft.com/office/drawing/2014/main" id="{CE685E2A-8ED3-08E3-B4A1-2F2E6C3860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56983" y="4799665"/>
              <a:ext cx="340492" cy="340492"/>
            </a:xfrm>
            <a:prstGeom prst="rect">
              <a:avLst/>
            </a:prstGeom>
          </p:spPr>
        </p:pic>
        <p:pic>
          <p:nvPicPr>
            <p:cNvPr id="182" name="Picture 181">
              <a:extLst>
                <a:ext uri="{FF2B5EF4-FFF2-40B4-BE49-F238E27FC236}">
                  <a16:creationId xmlns:a16="http://schemas.microsoft.com/office/drawing/2014/main" id="{322AC4B4-1CD4-21A4-F2A5-9950E9F093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08277" y="4517066"/>
              <a:ext cx="307136" cy="307136"/>
            </a:xfrm>
            <a:prstGeom prst="rect">
              <a:avLst/>
            </a:prstGeom>
          </p:spPr>
        </p:pic>
        <p:pic>
          <p:nvPicPr>
            <p:cNvPr id="186" name="Picture 185">
              <a:extLst>
                <a:ext uri="{FF2B5EF4-FFF2-40B4-BE49-F238E27FC236}">
                  <a16:creationId xmlns:a16="http://schemas.microsoft.com/office/drawing/2014/main" id="{71AD8090-C207-1164-70E7-88F3CDA207C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329408" y="3622460"/>
              <a:ext cx="386350" cy="386350"/>
            </a:xfrm>
            <a:prstGeom prst="rect">
              <a:avLst/>
            </a:prstGeom>
          </p:spPr>
        </p:pic>
        <p:pic>
          <p:nvPicPr>
            <p:cNvPr id="188" name="Picture 187">
              <a:extLst>
                <a:ext uri="{FF2B5EF4-FFF2-40B4-BE49-F238E27FC236}">
                  <a16:creationId xmlns:a16="http://schemas.microsoft.com/office/drawing/2014/main" id="{1AA46EFC-8192-4389-D0C3-AF502FC0733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222800" y="3711500"/>
              <a:ext cx="342064" cy="3420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540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3B4D8D-67EC-1F70-199F-3742CC1B9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96B393D6-0DD7-A316-4CD5-980E40FFC1F0}"/>
              </a:ext>
            </a:extLst>
          </p:cNvPr>
          <p:cNvSpPr/>
          <p:nvPr/>
        </p:nvSpPr>
        <p:spPr>
          <a:xfrm>
            <a:off x="844780" y="657225"/>
            <a:ext cx="3198583" cy="498429"/>
          </a:xfrm>
          <a:prstGeom prst="roundRect">
            <a:avLst>
              <a:gd name="adj" fmla="val 25000"/>
            </a:avLst>
          </a:prstGeom>
          <a:solidFill>
            <a:srgbClr val="1A56A0">
              <a:alpha val="84706"/>
            </a:srgbClr>
          </a:solidFill>
          <a:ln w="12700">
            <a:solidFill>
              <a:srgbClr val="1A56A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A946BFF8-AE9C-8BFC-50F9-D1776FBD123E}"/>
              </a:ext>
            </a:extLst>
          </p:cNvPr>
          <p:cNvSpPr/>
          <p:nvPr/>
        </p:nvSpPr>
        <p:spPr>
          <a:xfrm>
            <a:off x="844780" y="668080"/>
            <a:ext cx="3198583" cy="492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noProof="0" dirty="0">
                <a:solidFill>
                  <a:srgbClr val="F8FAFC"/>
                </a:solidFill>
              </a:rPr>
              <a:t>DATASET </a:t>
            </a:r>
            <a:endParaRPr lang="en-US" sz="1600" noProof="0" dirty="0"/>
          </a:p>
        </p:txBody>
      </p:sp>
      <p:sp>
        <p:nvSpPr>
          <p:cNvPr id="9" name="Text 18">
            <a:extLst>
              <a:ext uri="{FF2B5EF4-FFF2-40B4-BE49-F238E27FC236}">
                <a16:creationId xmlns:a16="http://schemas.microsoft.com/office/drawing/2014/main" id="{C3A42538-ECE7-1AA4-E14B-FEA4F6D40B76}"/>
              </a:ext>
            </a:extLst>
          </p:cNvPr>
          <p:cNvSpPr/>
          <p:nvPr/>
        </p:nvSpPr>
        <p:spPr>
          <a:xfrm>
            <a:off x="839788" y="1930725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cs typeface="Calibri" pitchFamily="34" charset="-120"/>
              </a:rPr>
              <a:t>Dataset</a:t>
            </a:r>
            <a:r>
              <a:rPr lang="en-US" sz="2000" b="1" noProof="0" dirty="0">
                <a:solidFill>
                  <a:srgbClr val="0A1628"/>
                </a:solidFill>
              </a:rPr>
              <a:t> </a:t>
            </a:r>
            <a:r>
              <a:rPr lang="en-US" sz="2000" b="1" dirty="0">
                <a:cs typeface="Calibri" pitchFamily="34" charset="-120"/>
              </a:rPr>
              <a:t>Overview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FC4C57C-BDEA-54A1-51D1-27C175CD2248}"/>
              </a:ext>
            </a:extLst>
          </p:cNvPr>
          <p:cNvGrpSpPr/>
          <p:nvPr/>
        </p:nvGrpSpPr>
        <p:grpSpPr>
          <a:xfrm>
            <a:off x="2520363" y="3121196"/>
            <a:ext cx="7151274" cy="1874520"/>
            <a:chOff x="2648414" y="2016557"/>
            <a:chExt cx="7151274" cy="1874520"/>
          </a:xfrm>
        </p:grpSpPr>
        <p:sp>
          <p:nvSpPr>
            <p:cNvPr id="11" name="Shape 19">
              <a:extLst>
                <a:ext uri="{FF2B5EF4-FFF2-40B4-BE49-F238E27FC236}">
                  <a16:creationId xmlns:a16="http://schemas.microsoft.com/office/drawing/2014/main" id="{5CB63DC4-4795-7FFD-F856-F66A30A04F8D}"/>
                </a:ext>
              </a:extLst>
            </p:cNvPr>
            <p:cNvSpPr/>
            <p:nvPr/>
          </p:nvSpPr>
          <p:spPr>
            <a:xfrm>
              <a:off x="2648414" y="2016557"/>
              <a:ext cx="2286000" cy="868680"/>
            </a:xfrm>
            <a:prstGeom prst="rect">
              <a:avLst/>
            </a:prstGeom>
            <a:solidFill>
              <a:srgbClr val="E2EEF9"/>
            </a:solidFill>
            <a:ln w="12700">
              <a:solidFill>
                <a:srgbClr val="B0C9E5"/>
              </a:solidFill>
              <a:prstDash val="solid"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12" name="Text 20">
              <a:extLst>
                <a:ext uri="{FF2B5EF4-FFF2-40B4-BE49-F238E27FC236}">
                  <a16:creationId xmlns:a16="http://schemas.microsoft.com/office/drawing/2014/main" id="{799F1DC1-C6F7-20AE-3C69-21BD305C47F2}"/>
                </a:ext>
              </a:extLst>
            </p:cNvPr>
            <p:cNvSpPr/>
            <p:nvPr/>
          </p:nvSpPr>
          <p:spPr>
            <a:xfrm>
              <a:off x="2648414" y="2053133"/>
              <a:ext cx="228600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noProof="0" dirty="0">
                  <a:solidFill>
                    <a:srgbClr val="1A56A0"/>
                  </a:solidFill>
                </a:rPr>
                <a:t>8,000</a:t>
              </a:r>
              <a:endParaRPr lang="en-US" sz="2200" noProof="0" dirty="0"/>
            </a:p>
          </p:txBody>
        </p:sp>
        <p:sp>
          <p:nvSpPr>
            <p:cNvPr id="13" name="Text 21">
              <a:extLst>
                <a:ext uri="{FF2B5EF4-FFF2-40B4-BE49-F238E27FC236}">
                  <a16:creationId xmlns:a16="http://schemas.microsoft.com/office/drawing/2014/main" id="{1FA77A73-31A5-F7DF-EC46-F85C3C35F402}"/>
                </a:ext>
              </a:extLst>
            </p:cNvPr>
            <p:cNvSpPr/>
            <p:nvPr/>
          </p:nvSpPr>
          <p:spPr>
            <a:xfrm>
              <a:off x="2648414" y="2501189"/>
              <a:ext cx="2286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noProof="0" dirty="0">
                  <a:solidFill>
                    <a:srgbClr val="4A6080"/>
                  </a:solidFill>
                </a:rPr>
                <a:t>Unique customers</a:t>
              </a:r>
              <a:endParaRPr lang="en-US" sz="1100" noProof="0" dirty="0"/>
            </a:p>
          </p:txBody>
        </p:sp>
        <p:sp>
          <p:nvSpPr>
            <p:cNvPr id="14" name="Shape 22">
              <a:extLst>
                <a:ext uri="{FF2B5EF4-FFF2-40B4-BE49-F238E27FC236}">
                  <a16:creationId xmlns:a16="http://schemas.microsoft.com/office/drawing/2014/main" id="{557CE27B-E5F9-B527-01E6-F553E4D4A4D9}"/>
                </a:ext>
              </a:extLst>
            </p:cNvPr>
            <p:cNvSpPr/>
            <p:nvPr/>
          </p:nvSpPr>
          <p:spPr>
            <a:xfrm>
              <a:off x="5071574" y="2016557"/>
              <a:ext cx="2286000" cy="868680"/>
            </a:xfrm>
            <a:prstGeom prst="rect">
              <a:avLst/>
            </a:prstGeom>
            <a:solidFill>
              <a:srgbClr val="E2EEF9"/>
            </a:solidFill>
            <a:ln w="12700">
              <a:solidFill>
                <a:srgbClr val="B0C9E5"/>
              </a:solidFill>
              <a:prstDash val="solid"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27" name="Text 23">
              <a:extLst>
                <a:ext uri="{FF2B5EF4-FFF2-40B4-BE49-F238E27FC236}">
                  <a16:creationId xmlns:a16="http://schemas.microsoft.com/office/drawing/2014/main" id="{52133193-13D3-B94B-9DAA-D94DC72606A2}"/>
                </a:ext>
              </a:extLst>
            </p:cNvPr>
            <p:cNvSpPr/>
            <p:nvPr/>
          </p:nvSpPr>
          <p:spPr>
            <a:xfrm>
              <a:off x="5071574" y="2053133"/>
              <a:ext cx="228600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noProof="0" dirty="0">
                  <a:solidFill>
                    <a:srgbClr val="1A56A0"/>
                  </a:solidFill>
                </a:rPr>
                <a:t>132362</a:t>
              </a:r>
              <a:endParaRPr lang="en-US" sz="2200" noProof="0" dirty="0"/>
            </a:p>
          </p:txBody>
        </p:sp>
        <p:sp>
          <p:nvSpPr>
            <p:cNvPr id="29" name="Text 24">
              <a:extLst>
                <a:ext uri="{FF2B5EF4-FFF2-40B4-BE49-F238E27FC236}">
                  <a16:creationId xmlns:a16="http://schemas.microsoft.com/office/drawing/2014/main" id="{18CF37C0-5575-D8B8-3978-9A71D2B13412}"/>
                </a:ext>
              </a:extLst>
            </p:cNvPr>
            <p:cNvSpPr/>
            <p:nvPr/>
          </p:nvSpPr>
          <p:spPr>
            <a:xfrm>
              <a:off x="5071574" y="2501189"/>
              <a:ext cx="2286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noProof="0" dirty="0">
                  <a:solidFill>
                    <a:srgbClr val="4A6080"/>
                  </a:solidFill>
                </a:rPr>
                <a:t>Total Orders</a:t>
              </a:r>
              <a:endParaRPr lang="en-US" sz="1100" noProof="0" dirty="0"/>
            </a:p>
          </p:txBody>
        </p:sp>
        <p:sp>
          <p:nvSpPr>
            <p:cNvPr id="31" name="Shape 25">
              <a:extLst>
                <a:ext uri="{FF2B5EF4-FFF2-40B4-BE49-F238E27FC236}">
                  <a16:creationId xmlns:a16="http://schemas.microsoft.com/office/drawing/2014/main" id="{2A6423B9-82C4-9F67-0B12-D08FE6830FD9}"/>
                </a:ext>
              </a:extLst>
            </p:cNvPr>
            <p:cNvSpPr/>
            <p:nvPr/>
          </p:nvSpPr>
          <p:spPr>
            <a:xfrm>
              <a:off x="2648414" y="3022397"/>
              <a:ext cx="2286000" cy="868680"/>
            </a:xfrm>
            <a:prstGeom prst="rect">
              <a:avLst/>
            </a:prstGeom>
            <a:solidFill>
              <a:srgbClr val="E2EEF9"/>
            </a:solidFill>
            <a:ln w="12700">
              <a:solidFill>
                <a:srgbClr val="B0C9E5"/>
              </a:solidFill>
              <a:prstDash val="solid"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32" name="Text 26">
              <a:extLst>
                <a:ext uri="{FF2B5EF4-FFF2-40B4-BE49-F238E27FC236}">
                  <a16:creationId xmlns:a16="http://schemas.microsoft.com/office/drawing/2014/main" id="{FE7025FF-62A2-2825-C006-23E726FA30D8}"/>
                </a:ext>
              </a:extLst>
            </p:cNvPr>
            <p:cNvSpPr/>
            <p:nvPr/>
          </p:nvSpPr>
          <p:spPr>
            <a:xfrm>
              <a:off x="2648414" y="3058973"/>
              <a:ext cx="228600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noProof="0" dirty="0">
                  <a:solidFill>
                    <a:srgbClr val="1A56A0"/>
                  </a:solidFill>
                </a:rPr>
                <a:t>$8,652</a:t>
              </a:r>
              <a:endParaRPr lang="en-US" sz="2200" noProof="0" dirty="0"/>
            </a:p>
          </p:txBody>
        </p:sp>
        <p:sp>
          <p:nvSpPr>
            <p:cNvPr id="33" name="Text 27">
              <a:extLst>
                <a:ext uri="{FF2B5EF4-FFF2-40B4-BE49-F238E27FC236}">
                  <a16:creationId xmlns:a16="http://schemas.microsoft.com/office/drawing/2014/main" id="{2D260F17-398B-FE11-2201-A9D772353FBB}"/>
                </a:ext>
              </a:extLst>
            </p:cNvPr>
            <p:cNvSpPr/>
            <p:nvPr/>
          </p:nvSpPr>
          <p:spPr>
            <a:xfrm>
              <a:off x="2648414" y="3507029"/>
              <a:ext cx="2286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noProof="0" dirty="0">
                  <a:solidFill>
                    <a:srgbClr val="4A6080"/>
                  </a:solidFill>
                </a:rPr>
                <a:t>Avg Order Value</a:t>
              </a:r>
              <a:endParaRPr lang="en-US" sz="1100" noProof="0" dirty="0"/>
            </a:p>
          </p:txBody>
        </p:sp>
        <p:sp>
          <p:nvSpPr>
            <p:cNvPr id="34" name="Shape 28">
              <a:extLst>
                <a:ext uri="{FF2B5EF4-FFF2-40B4-BE49-F238E27FC236}">
                  <a16:creationId xmlns:a16="http://schemas.microsoft.com/office/drawing/2014/main" id="{A1DFC9FD-1E20-04B8-B90D-412D3B8816F1}"/>
                </a:ext>
              </a:extLst>
            </p:cNvPr>
            <p:cNvSpPr/>
            <p:nvPr/>
          </p:nvSpPr>
          <p:spPr>
            <a:xfrm>
              <a:off x="5071574" y="3022397"/>
              <a:ext cx="2286000" cy="868680"/>
            </a:xfrm>
            <a:prstGeom prst="rect">
              <a:avLst/>
            </a:prstGeom>
            <a:solidFill>
              <a:srgbClr val="E2EEF9"/>
            </a:solidFill>
            <a:ln w="12700">
              <a:solidFill>
                <a:srgbClr val="B0C9E5"/>
              </a:solidFill>
              <a:prstDash val="solid"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35" name="Text 29">
              <a:extLst>
                <a:ext uri="{FF2B5EF4-FFF2-40B4-BE49-F238E27FC236}">
                  <a16:creationId xmlns:a16="http://schemas.microsoft.com/office/drawing/2014/main" id="{5AEAAF52-23C1-A140-0D85-A007C1D99A5E}"/>
                </a:ext>
              </a:extLst>
            </p:cNvPr>
            <p:cNvSpPr/>
            <p:nvPr/>
          </p:nvSpPr>
          <p:spPr>
            <a:xfrm>
              <a:off x="5071574" y="3058973"/>
              <a:ext cx="228600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noProof="0" dirty="0">
                  <a:solidFill>
                    <a:srgbClr val="1A56A0"/>
                  </a:solidFill>
                </a:rPr>
                <a:t>6 Years</a:t>
              </a:r>
              <a:endParaRPr lang="en-US" sz="2200" noProof="0" dirty="0"/>
            </a:p>
          </p:txBody>
        </p:sp>
        <p:sp>
          <p:nvSpPr>
            <p:cNvPr id="36" name="Text 30">
              <a:extLst>
                <a:ext uri="{FF2B5EF4-FFF2-40B4-BE49-F238E27FC236}">
                  <a16:creationId xmlns:a16="http://schemas.microsoft.com/office/drawing/2014/main" id="{F2C215FC-AF8E-B41B-4A23-04F8431DA1E1}"/>
                </a:ext>
              </a:extLst>
            </p:cNvPr>
            <p:cNvSpPr/>
            <p:nvPr/>
          </p:nvSpPr>
          <p:spPr>
            <a:xfrm>
              <a:off x="5071574" y="3507029"/>
              <a:ext cx="2286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noProof="0" dirty="0">
                  <a:solidFill>
                    <a:srgbClr val="4A6080"/>
                  </a:solidFill>
                </a:rPr>
                <a:t>2020–2026</a:t>
              </a:r>
              <a:endParaRPr lang="en-US" sz="1100" noProof="0" dirty="0"/>
            </a:p>
          </p:txBody>
        </p:sp>
        <p:sp>
          <p:nvSpPr>
            <p:cNvPr id="38" name="Shape 19">
              <a:extLst>
                <a:ext uri="{FF2B5EF4-FFF2-40B4-BE49-F238E27FC236}">
                  <a16:creationId xmlns:a16="http://schemas.microsoft.com/office/drawing/2014/main" id="{08157869-D6F1-FE1A-6B60-055EA40094EC}"/>
                </a:ext>
              </a:extLst>
            </p:cNvPr>
            <p:cNvSpPr/>
            <p:nvPr/>
          </p:nvSpPr>
          <p:spPr>
            <a:xfrm>
              <a:off x="7513688" y="2016557"/>
              <a:ext cx="2286000" cy="868680"/>
            </a:xfrm>
            <a:prstGeom prst="rect">
              <a:avLst/>
            </a:prstGeom>
            <a:solidFill>
              <a:srgbClr val="E2EEF9"/>
            </a:solidFill>
            <a:ln w="12700">
              <a:solidFill>
                <a:srgbClr val="B0C9E5"/>
              </a:solidFill>
              <a:prstDash val="solid"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39" name="Text 20">
              <a:extLst>
                <a:ext uri="{FF2B5EF4-FFF2-40B4-BE49-F238E27FC236}">
                  <a16:creationId xmlns:a16="http://schemas.microsoft.com/office/drawing/2014/main" id="{CB084845-D65F-494F-275D-D1E7C82C55F2}"/>
                </a:ext>
              </a:extLst>
            </p:cNvPr>
            <p:cNvSpPr/>
            <p:nvPr/>
          </p:nvSpPr>
          <p:spPr>
            <a:xfrm>
              <a:off x="7513688" y="2053133"/>
              <a:ext cx="228600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noProof="0" dirty="0">
                  <a:solidFill>
                    <a:srgbClr val="1A56A0"/>
                  </a:solidFill>
                </a:rPr>
                <a:t>6</a:t>
              </a:r>
              <a:endParaRPr lang="en-US" sz="2200" noProof="0" dirty="0"/>
            </a:p>
          </p:txBody>
        </p:sp>
        <p:sp>
          <p:nvSpPr>
            <p:cNvPr id="40" name="Text 21">
              <a:extLst>
                <a:ext uri="{FF2B5EF4-FFF2-40B4-BE49-F238E27FC236}">
                  <a16:creationId xmlns:a16="http://schemas.microsoft.com/office/drawing/2014/main" id="{75C5ED1C-083B-8D70-3EBA-BF55AAAC2FFD}"/>
                </a:ext>
              </a:extLst>
            </p:cNvPr>
            <p:cNvSpPr/>
            <p:nvPr/>
          </p:nvSpPr>
          <p:spPr>
            <a:xfrm>
              <a:off x="7513688" y="2501189"/>
              <a:ext cx="2286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noProof="0" dirty="0">
                  <a:solidFill>
                    <a:srgbClr val="4A6080"/>
                  </a:solidFill>
                </a:rPr>
                <a:t>Acquisition Channel</a:t>
              </a:r>
            </a:p>
          </p:txBody>
        </p:sp>
        <p:sp>
          <p:nvSpPr>
            <p:cNvPr id="44" name="Shape 25">
              <a:extLst>
                <a:ext uri="{FF2B5EF4-FFF2-40B4-BE49-F238E27FC236}">
                  <a16:creationId xmlns:a16="http://schemas.microsoft.com/office/drawing/2014/main" id="{4B5214FA-94B0-8EF5-45F3-B6F23DFDF828}"/>
                </a:ext>
              </a:extLst>
            </p:cNvPr>
            <p:cNvSpPr/>
            <p:nvPr/>
          </p:nvSpPr>
          <p:spPr>
            <a:xfrm>
              <a:off x="7513688" y="3022397"/>
              <a:ext cx="2286000" cy="868680"/>
            </a:xfrm>
            <a:prstGeom prst="rect">
              <a:avLst/>
            </a:prstGeom>
            <a:solidFill>
              <a:srgbClr val="E2EEF9"/>
            </a:solidFill>
            <a:ln w="12700">
              <a:solidFill>
                <a:srgbClr val="B0C9E5"/>
              </a:solidFill>
              <a:prstDash val="solid"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45" name="Text 26">
              <a:extLst>
                <a:ext uri="{FF2B5EF4-FFF2-40B4-BE49-F238E27FC236}">
                  <a16:creationId xmlns:a16="http://schemas.microsoft.com/office/drawing/2014/main" id="{CFF690CF-DAAF-32CD-35BC-2997210B5944}"/>
                </a:ext>
              </a:extLst>
            </p:cNvPr>
            <p:cNvSpPr/>
            <p:nvPr/>
          </p:nvSpPr>
          <p:spPr>
            <a:xfrm>
              <a:off x="7513688" y="3058973"/>
              <a:ext cx="228600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noProof="0" dirty="0">
                  <a:solidFill>
                    <a:srgbClr val="1A56A0"/>
                  </a:solidFill>
                </a:rPr>
                <a:t>20</a:t>
              </a:r>
              <a:endParaRPr lang="en-US" sz="2200" noProof="0" dirty="0"/>
            </a:p>
          </p:txBody>
        </p:sp>
        <p:sp>
          <p:nvSpPr>
            <p:cNvPr id="46" name="Text 27">
              <a:extLst>
                <a:ext uri="{FF2B5EF4-FFF2-40B4-BE49-F238E27FC236}">
                  <a16:creationId xmlns:a16="http://schemas.microsoft.com/office/drawing/2014/main" id="{632C3D1D-4712-3E55-F907-F7400889AB68}"/>
                </a:ext>
              </a:extLst>
            </p:cNvPr>
            <p:cNvSpPr/>
            <p:nvPr/>
          </p:nvSpPr>
          <p:spPr>
            <a:xfrm>
              <a:off x="7513688" y="3507029"/>
              <a:ext cx="2286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1100" dirty="0">
                  <a:solidFill>
                    <a:srgbClr val="4A6080"/>
                  </a:solidFill>
                </a:rPr>
                <a:t>C</a:t>
              </a:r>
              <a:r>
                <a:rPr lang="en-US" sz="1100" dirty="0">
                  <a:solidFill>
                    <a:srgbClr val="4A6080"/>
                  </a:solidFill>
                </a:rPr>
                <a:t>countries</a:t>
              </a:r>
              <a:endParaRPr lang="en-US" sz="1100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778078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DB747A-367F-A164-E8B6-694F455C3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B6F21CBC-7ED2-DF1C-0508-38A1FA28A30F}"/>
              </a:ext>
            </a:extLst>
          </p:cNvPr>
          <p:cNvSpPr/>
          <p:nvPr/>
        </p:nvSpPr>
        <p:spPr>
          <a:xfrm>
            <a:off x="844780" y="657225"/>
            <a:ext cx="3198583" cy="498429"/>
          </a:xfrm>
          <a:prstGeom prst="roundRect">
            <a:avLst>
              <a:gd name="adj" fmla="val 25000"/>
            </a:avLst>
          </a:prstGeom>
          <a:solidFill>
            <a:srgbClr val="3B6EAE"/>
          </a:solidFill>
          <a:ln w="12700">
            <a:solidFill>
              <a:srgbClr val="1A56A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7858F912-E7AF-A69A-291C-7B73965ABF0E}"/>
              </a:ext>
            </a:extLst>
          </p:cNvPr>
          <p:cNvSpPr/>
          <p:nvPr/>
        </p:nvSpPr>
        <p:spPr>
          <a:xfrm>
            <a:off x="844780" y="668080"/>
            <a:ext cx="3198583" cy="492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noProof="0" dirty="0">
                <a:solidFill>
                  <a:srgbClr val="F8FAFC"/>
                </a:solidFill>
              </a:rPr>
              <a:t>THE PROCESS</a:t>
            </a:r>
            <a:endParaRPr lang="en-US" sz="1600" noProof="0" dirty="0"/>
          </a:p>
        </p:txBody>
      </p:sp>
      <p:sp>
        <p:nvSpPr>
          <p:cNvPr id="9" name="Text 18">
            <a:extLst>
              <a:ext uri="{FF2B5EF4-FFF2-40B4-BE49-F238E27FC236}">
                <a16:creationId xmlns:a16="http://schemas.microsoft.com/office/drawing/2014/main" id="{7859411B-0AD1-8C28-C227-C84C0054D50A}"/>
              </a:ext>
            </a:extLst>
          </p:cNvPr>
          <p:cNvSpPr/>
          <p:nvPr/>
        </p:nvSpPr>
        <p:spPr>
          <a:xfrm>
            <a:off x="1977995" y="3378397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b="1" dirty="0">
              <a:cs typeface="Calibri" pitchFamily="34" charset="-120"/>
            </a:endParaRPr>
          </a:p>
        </p:txBody>
      </p: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CBE40A3D-E36B-BF80-C61E-F754CD47D3E6}"/>
              </a:ext>
            </a:extLst>
          </p:cNvPr>
          <p:cNvGrpSpPr/>
          <p:nvPr/>
        </p:nvGrpSpPr>
        <p:grpSpPr>
          <a:xfrm>
            <a:off x="1786647" y="2182198"/>
            <a:ext cx="8618707" cy="3411189"/>
            <a:chOff x="2363161" y="2126479"/>
            <a:chExt cx="7559535" cy="3153268"/>
          </a:xfrm>
        </p:grpSpPr>
        <p:sp>
          <p:nvSpPr>
            <p:cNvPr id="2" name="Google Shape;134;p17">
              <a:extLst>
                <a:ext uri="{FF2B5EF4-FFF2-40B4-BE49-F238E27FC236}">
                  <a16:creationId xmlns:a16="http://schemas.microsoft.com/office/drawing/2014/main" id="{9BC67691-5D0D-94A0-3E89-F1780326EEF6}"/>
                </a:ext>
              </a:extLst>
            </p:cNvPr>
            <p:cNvSpPr txBox="1"/>
            <p:nvPr/>
          </p:nvSpPr>
          <p:spPr>
            <a:xfrm>
              <a:off x="5244325" y="2423896"/>
              <a:ext cx="1479172" cy="91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>
                <a:buClr>
                  <a:srgbClr val="000000"/>
                </a:buClr>
                <a:buSzPts val="1100"/>
              </a:pPr>
              <a:r>
                <a:rPr lang="en-US" sz="1400" dirty="0"/>
                <a:t>Built customer segments using Recency, Frequency, and Monetary scoring</a:t>
              </a:r>
              <a:endParaRPr sz="14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3" name="Google Shape;135;p17">
              <a:extLst>
                <a:ext uri="{FF2B5EF4-FFF2-40B4-BE49-F238E27FC236}">
                  <a16:creationId xmlns:a16="http://schemas.microsoft.com/office/drawing/2014/main" id="{BC662C28-CDEB-0E22-4352-91AE362AE5B4}"/>
                </a:ext>
              </a:extLst>
            </p:cNvPr>
            <p:cNvSpPr txBox="1"/>
            <p:nvPr/>
          </p:nvSpPr>
          <p:spPr>
            <a:xfrm>
              <a:off x="5428172" y="2138572"/>
              <a:ext cx="1187700" cy="32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 dirty="0">
                  <a:solidFill>
                    <a:schemeClr val="dk1"/>
                  </a:solidFill>
                  <a:ea typeface="Montserrat SemiBold"/>
                  <a:cs typeface="Montserrat SemiBold"/>
                  <a:sym typeface="Montserrat SemiBold"/>
                </a:rPr>
                <a:t>RFM Model</a:t>
              </a:r>
              <a:endParaRPr sz="1600" b="1" dirty="0">
                <a:solidFill>
                  <a:schemeClr val="dk1"/>
                </a:solidFill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6" name="Google Shape;137;p17">
              <a:extLst>
                <a:ext uri="{FF2B5EF4-FFF2-40B4-BE49-F238E27FC236}">
                  <a16:creationId xmlns:a16="http://schemas.microsoft.com/office/drawing/2014/main" id="{C0471073-4C20-63B9-D025-962D61819E0C}"/>
                </a:ext>
              </a:extLst>
            </p:cNvPr>
            <p:cNvSpPr txBox="1"/>
            <p:nvPr/>
          </p:nvSpPr>
          <p:spPr>
            <a:xfrm>
              <a:off x="6933218" y="4022210"/>
              <a:ext cx="1187700" cy="32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600" b="1" dirty="0">
                  <a:solidFill>
                    <a:schemeClr val="dk1"/>
                  </a:solidFill>
                  <a:ea typeface="Montserrat SemiBold"/>
                  <a:cs typeface="Montserrat SemiBold"/>
                  <a:sym typeface="Montserrat SemiBold"/>
                </a:rPr>
                <a:t>Pivot Analysis</a:t>
              </a:r>
              <a:endParaRPr sz="1600" b="1" dirty="0">
                <a:solidFill>
                  <a:schemeClr val="dk1"/>
                </a:solidFill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7" name="Google Shape;138;p17">
              <a:extLst>
                <a:ext uri="{FF2B5EF4-FFF2-40B4-BE49-F238E27FC236}">
                  <a16:creationId xmlns:a16="http://schemas.microsoft.com/office/drawing/2014/main" id="{140BFED8-ACBA-9D83-A765-6C59B5B4C201}"/>
                </a:ext>
              </a:extLst>
            </p:cNvPr>
            <p:cNvSpPr txBox="1"/>
            <p:nvPr/>
          </p:nvSpPr>
          <p:spPr>
            <a:xfrm>
              <a:off x="8281389" y="2550970"/>
              <a:ext cx="1640741" cy="98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400" dirty="0"/>
                <a:t>Generated business recommendations for growth and retention</a:t>
              </a:r>
              <a:endParaRPr sz="14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8" name="Google Shape;139;p17">
              <a:extLst>
                <a:ext uri="{FF2B5EF4-FFF2-40B4-BE49-F238E27FC236}">
                  <a16:creationId xmlns:a16="http://schemas.microsoft.com/office/drawing/2014/main" id="{E9854577-8D42-68F0-D4B5-0044A3B434ED}"/>
                </a:ext>
              </a:extLst>
            </p:cNvPr>
            <p:cNvSpPr txBox="1"/>
            <p:nvPr/>
          </p:nvSpPr>
          <p:spPr>
            <a:xfrm>
              <a:off x="8281955" y="2126479"/>
              <a:ext cx="1640741" cy="32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 dirty="0">
                  <a:solidFill>
                    <a:schemeClr val="dk1"/>
                  </a:solidFill>
                  <a:ea typeface="Montserrat SemiBold"/>
                  <a:cs typeface="Montserrat SemiBold"/>
                  <a:sym typeface="Montserrat SemiBold"/>
                </a:rPr>
                <a:t>Strategic Insights </a:t>
              </a:r>
              <a:endParaRPr sz="1600" b="1" dirty="0">
                <a:solidFill>
                  <a:schemeClr val="dk1"/>
                </a:solidFill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0" name="Google Shape;140;p17">
              <a:extLst>
                <a:ext uri="{FF2B5EF4-FFF2-40B4-BE49-F238E27FC236}">
                  <a16:creationId xmlns:a16="http://schemas.microsoft.com/office/drawing/2014/main" id="{7FF08105-8463-B08A-305B-4E46E34131B0}"/>
                </a:ext>
              </a:extLst>
            </p:cNvPr>
            <p:cNvSpPr txBox="1"/>
            <p:nvPr/>
          </p:nvSpPr>
          <p:spPr>
            <a:xfrm>
              <a:off x="2363161" y="2138610"/>
              <a:ext cx="1187700" cy="32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600" b="1" dirty="0">
                  <a:solidFill>
                    <a:schemeClr val="dk1"/>
                  </a:solidFill>
                  <a:ea typeface="Montserrat SemiBold"/>
                  <a:cs typeface="Montserrat SemiBold"/>
                  <a:sym typeface="Montserrat SemiBold"/>
                </a:rPr>
                <a:t>R</a:t>
              </a:r>
              <a:r>
                <a:rPr lang="en" sz="1600" b="1" dirty="0">
                  <a:solidFill>
                    <a:schemeClr val="dk1"/>
                  </a:solidFill>
                  <a:ea typeface="Montserrat SemiBold"/>
                  <a:cs typeface="Montserrat SemiBold"/>
                  <a:sym typeface="Montserrat SemiBold"/>
                </a:rPr>
                <a:t>aw data</a:t>
              </a:r>
              <a:endParaRPr sz="1600" b="1" dirty="0">
                <a:solidFill>
                  <a:schemeClr val="dk1"/>
                </a:solidFill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5" name="Google Shape;141;p17">
              <a:extLst>
                <a:ext uri="{FF2B5EF4-FFF2-40B4-BE49-F238E27FC236}">
                  <a16:creationId xmlns:a16="http://schemas.microsoft.com/office/drawing/2014/main" id="{1EAFFD86-7562-13DC-419E-912BCEBAD470}"/>
                </a:ext>
              </a:extLst>
            </p:cNvPr>
            <p:cNvSpPr txBox="1"/>
            <p:nvPr/>
          </p:nvSpPr>
          <p:spPr>
            <a:xfrm>
              <a:off x="2363174" y="2462845"/>
              <a:ext cx="1187700" cy="98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/>
                <a:t>Ecommerce customer data collection</a:t>
              </a:r>
              <a:endParaRPr sz="14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16" name="Google Shape;143;p17">
              <a:extLst>
                <a:ext uri="{FF2B5EF4-FFF2-40B4-BE49-F238E27FC236}">
                  <a16:creationId xmlns:a16="http://schemas.microsoft.com/office/drawing/2014/main" id="{5AB652AC-1988-1DF3-CA72-1A86F4AD291F}"/>
                </a:ext>
              </a:extLst>
            </p:cNvPr>
            <p:cNvSpPr txBox="1"/>
            <p:nvPr/>
          </p:nvSpPr>
          <p:spPr>
            <a:xfrm>
              <a:off x="3886513" y="4024897"/>
              <a:ext cx="1187700" cy="32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 dirty="0">
                  <a:solidFill>
                    <a:schemeClr val="dk1"/>
                  </a:solidFill>
                  <a:ea typeface="Montserrat SemiBold"/>
                  <a:cs typeface="Montserrat SemiBold"/>
                  <a:sym typeface="Montserrat SemiBold"/>
                </a:rPr>
                <a:t>Data </a:t>
              </a:r>
              <a:r>
                <a:rPr lang="en" sz="1600" b="1" dirty="0">
                  <a:solidFill>
                    <a:schemeClr val="dk1"/>
                  </a:solidFill>
                  <a:sym typeface="Montserrat SemiBold"/>
                </a:rPr>
                <a:t>cleaning</a:t>
              </a:r>
              <a:r>
                <a:rPr lang="en" sz="1600" b="1" dirty="0">
                  <a:solidFill>
                    <a:schemeClr val="dk1"/>
                  </a:solidFill>
                  <a:ea typeface="Montserrat SemiBold"/>
                  <a:cs typeface="Montserrat SemiBold"/>
                  <a:sym typeface="Montserrat SemiBold"/>
                </a:rPr>
                <a:t> </a:t>
              </a:r>
              <a:endParaRPr sz="1600" b="1" dirty="0">
                <a:solidFill>
                  <a:schemeClr val="dk1"/>
                </a:solidFill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7" name="Google Shape;144;p17">
              <a:extLst>
                <a:ext uri="{FF2B5EF4-FFF2-40B4-BE49-F238E27FC236}">
                  <a16:creationId xmlns:a16="http://schemas.microsoft.com/office/drawing/2014/main" id="{7F65F8F5-3786-0780-D654-2B2AB7B47A94}"/>
                </a:ext>
              </a:extLst>
            </p:cNvPr>
            <p:cNvSpPr/>
            <p:nvPr/>
          </p:nvSpPr>
          <p:spPr>
            <a:xfrm>
              <a:off x="2381468" y="4111566"/>
              <a:ext cx="1151100" cy="1151100"/>
            </a:xfrm>
            <a:prstGeom prst="ellipse">
              <a:avLst/>
            </a:prstGeom>
            <a:solidFill>
              <a:srgbClr val="3B6EAE"/>
            </a:solidFill>
            <a:ln w="12700">
              <a:solidFill>
                <a:srgbClr val="1A56A0"/>
              </a:solidFill>
              <a:prstDash val="solid"/>
            </a:ln>
          </p:spPr>
          <p:txBody>
            <a:bodyPr/>
            <a:lstStyle/>
            <a:p>
              <a:r>
                <a:rPr lang="en">
                  <a:sym typeface="Montserrat Medium"/>
                </a:rPr>
                <a:t> </a:t>
              </a:r>
              <a:endParaRPr>
                <a:sym typeface="Montserrat Medium"/>
              </a:endParaRPr>
            </a:p>
          </p:txBody>
        </p:sp>
        <p:sp>
          <p:nvSpPr>
            <p:cNvPr id="18" name="Google Shape;147;p17">
              <a:extLst>
                <a:ext uri="{FF2B5EF4-FFF2-40B4-BE49-F238E27FC236}">
                  <a16:creationId xmlns:a16="http://schemas.microsoft.com/office/drawing/2014/main" id="{2A21C5BE-BF8B-5FE9-C14C-C847225E49EA}"/>
                </a:ext>
              </a:extLst>
            </p:cNvPr>
            <p:cNvSpPr/>
            <p:nvPr/>
          </p:nvSpPr>
          <p:spPr>
            <a:xfrm>
              <a:off x="3836258" y="2141329"/>
              <a:ext cx="1288200" cy="12882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Montserrat Medium"/>
                  <a:ea typeface="Montserrat Medium"/>
                  <a:cs typeface="Montserrat Medium"/>
                  <a:sym typeface="Montserrat Medium"/>
                </a:rPr>
                <a:t> </a:t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19" name="Google Shape;148;p17">
              <a:extLst>
                <a:ext uri="{FF2B5EF4-FFF2-40B4-BE49-F238E27FC236}">
                  <a16:creationId xmlns:a16="http://schemas.microsoft.com/office/drawing/2014/main" id="{A9D72DC6-34C9-6B39-4D3D-7F5F32C0EE4A}"/>
                </a:ext>
              </a:extLst>
            </p:cNvPr>
            <p:cNvSpPr/>
            <p:nvPr/>
          </p:nvSpPr>
          <p:spPr>
            <a:xfrm>
              <a:off x="6882946" y="2141329"/>
              <a:ext cx="1288200" cy="12882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Montserrat Medium"/>
                  <a:ea typeface="Montserrat Medium"/>
                  <a:cs typeface="Montserrat Medium"/>
                  <a:sym typeface="Montserrat Medium"/>
                </a:rPr>
                <a:t> </a:t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cxnSp>
          <p:nvCxnSpPr>
            <p:cNvPr id="20" name="Google Shape;149;p17">
              <a:extLst>
                <a:ext uri="{FF2B5EF4-FFF2-40B4-BE49-F238E27FC236}">
                  <a16:creationId xmlns:a16="http://schemas.microsoft.com/office/drawing/2014/main" id="{1B6ECAB5-CEA3-F28E-886C-B71FDE1AB9B5}"/>
                </a:ext>
              </a:extLst>
            </p:cNvPr>
            <p:cNvCxnSpPr>
              <a:endCxn id="18" idx="6"/>
            </p:cNvCxnSpPr>
            <p:nvPr/>
          </p:nvCxnSpPr>
          <p:spPr>
            <a:xfrm rot="10800000">
              <a:off x="5124396" y="2785366"/>
              <a:ext cx="235200" cy="1901700"/>
            </a:xfrm>
            <a:prstGeom prst="bentConnector3">
              <a:avLst>
                <a:gd name="adj1" fmla="val 49987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150;p17">
              <a:extLst>
                <a:ext uri="{FF2B5EF4-FFF2-40B4-BE49-F238E27FC236}">
                  <a16:creationId xmlns:a16="http://schemas.microsoft.com/office/drawing/2014/main" id="{A1411F3A-BD1B-4411-B8BF-D532E6A31564}"/>
                </a:ext>
              </a:extLst>
            </p:cNvPr>
            <p:cNvCxnSpPr>
              <a:cxnSpLocks/>
              <a:endCxn id="18" idx="2"/>
            </p:cNvCxnSpPr>
            <p:nvPr/>
          </p:nvCxnSpPr>
          <p:spPr>
            <a:xfrm rot="10800000" flipH="1">
              <a:off x="3600921" y="2785366"/>
              <a:ext cx="235200" cy="1901700"/>
            </a:xfrm>
            <a:prstGeom prst="bentConnector3">
              <a:avLst>
                <a:gd name="adj1" fmla="val 50029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" name="Google Shape;151;p17">
              <a:extLst>
                <a:ext uri="{FF2B5EF4-FFF2-40B4-BE49-F238E27FC236}">
                  <a16:creationId xmlns:a16="http://schemas.microsoft.com/office/drawing/2014/main" id="{732A9342-DA08-F167-22FA-DD8DE511F620}"/>
                </a:ext>
              </a:extLst>
            </p:cNvPr>
            <p:cNvCxnSpPr>
              <a:endCxn id="19" idx="2"/>
            </p:cNvCxnSpPr>
            <p:nvPr/>
          </p:nvCxnSpPr>
          <p:spPr>
            <a:xfrm rot="10800000" flipH="1">
              <a:off x="6647796" y="2785366"/>
              <a:ext cx="235200" cy="1901700"/>
            </a:xfrm>
            <a:prstGeom prst="bentConnector3">
              <a:avLst>
                <a:gd name="adj1" fmla="val 49989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" name="Google Shape;152;p17">
              <a:extLst>
                <a:ext uri="{FF2B5EF4-FFF2-40B4-BE49-F238E27FC236}">
                  <a16:creationId xmlns:a16="http://schemas.microsoft.com/office/drawing/2014/main" id="{497D68C5-0DC9-DD53-6173-2912F88C5D86}"/>
                </a:ext>
              </a:extLst>
            </p:cNvPr>
            <p:cNvCxnSpPr>
              <a:stCxn id="19" idx="6"/>
            </p:cNvCxnSpPr>
            <p:nvPr/>
          </p:nvCxnSpPr>
          <p:spPr>
            <a:xfrm>
              <a:off x="8171146" y="2785429"/>
              <a:ext cx="235200" cy="1901700"/>
            </a:xfrm>
            <a:prstGeom prst="bentConnector3">
              <a:avLst>
                <a:gd name="adj1" fmla="val 50003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" name="Google Shape;153;p17">
              <a:extLst>
                <a:ext uri="{FF2B5EF4-FFF2-40B4-BE49-F238E27FC236}">
                  <a16:creationId xmlns:a16="http://schemas.microsoft.com/office/drawing/2014/main" id="{60389667-0057-C52C-606B-1A9D75AB7BA5}"/>
                </a:ext>
              </a:extLst>
            </p:cNvPr>
            <p:cNvSpPr/>
            <p:nvPr/>
          </p:nvSpPr>
          <p:spPr>
            <a:xfrm>
              <a:off x="2524133" y="4254366"/>
              <a:ext cx="865500" cy="865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5" name="Google Shape;154;p17">
              <a:extLst>
                <a:ext uri="{FF2B5EF4-FFF2-40B4-BE49-F238E27FC236}">
                  <a16:creationId xmlns:a16="http://schemas.microsoft.com/office/drawing/2014/main" id="{34B08519-A1C3-6897-9F8C-5D280F4B34F2}"/>
                </a:ext>
              </a:extLst>
            </p:cNvPr>
            <p:cNvSpPr/>
            <p:nvPr/>
          </p:nvSpPr>
          <p:spPr>
            <a:xfrm>
              <a:off x="5428172" y="4111566"/>
              <a:ext cx="1151100" cy="1151100"/>
            </a:xfrm>
            <a:prstGeom prst="ellipse">
              <a:avLst/>
            </a:prstGeom>
            <a:solidFill>
              <a:srgbClr val="3B6EAE"/>
            </a:solidFill>
            <a:ln w="12700">
              <a:solidFill>
                <a:srgbClr val="1A56A0"/>
              </a:solidFill>
              <a:prstDash val="solid"/>
            </a:ln>
          </p:spPr>
          <p:txBody>
            <a:bodyPr/>
            <a:lstStyle/>
            <a:p>
              <a:r>
                <a:rPr lang="en">
                  <a:sym typeface="Montserrat Medium"/>
                </a:rPr>
                <a:t> </a:t>
              </a:r>
              <a:endParaRPr>
                <a:sym typeface="Montserrat Medium"/>
              </a:endParaRPr>
            </a:p>
          </p:txBody>
        </p:sp>
        <p:sp>
          <p:nvSpPr>
            <p:cNvPr id="26" name="Google Shape;155;p17">
              <a:extLst>
                <a:ext uri="{FF2B5EF4-FFF2-40B4-BE49-F238E27FC236}">
                  <a16:creationId xmlns:a16="http://schemas.microsoft.com/office/drawing/2014/main" id="{707B148A-73EB-DC7A-9810-55F0599749AD}"/>
                </a:ext>
              </a:extLst>
            </p:cNvPr>
            <p:cNvSpPr/>
            <p:nvPr/>
          </p:nvSpPr>
          <p:spPr>
            <a:xfrm>
              <a:off x="5570958" y="4254366"/>
              <a:ext cx="865500" cy="865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8" name="Google Shape;156;p17">
              <a:extLst>
                <a:ext uri="{FF2B5EF4-FFF2-40B4-BE49-F238E27FC236}">
                  <a16:creationId xmlns:a16="http://schemas.microsoft.com/office/drawing/2014/main" id="{4621D229-2703-3D35-1813-EE1F58D9F39F}"/>
                </a:ext>
              </a:extLst>
            </p:cNvPr>
            <p:cNvSpPr/>
            <p:nvPr/>
          </p:nvSpPr>
          <p:spPr>
            <a:xfrm>
              <a:off x="8474876" y="4111566"/>
              <a:ext cx="1151100" cy="1151100"/>
            </a:xfrm>
            <a:prstGeom prst="ellipse">
              <a:avLst/>
            </a:prstGeom>
            <a:solidFill>
              <a:srgbClr val="3B6EAE"/>
            </a:solidFill>
            <a:ln w="12700">
              <a:solidFill>
                <a:srgbClr val="1A56A0"/>
              </a:solidFill>
              <a:prstDash val="solid"/>
            </a:ln>
          </p:spPr>
          <p:txBody>
            <a:bodyPr/>
            <a:lstStyle/>
            <a:p>
              <a:r>
                <a:rPr lang="en">
                  <a:sym typeface="Montserrat Medium"/>
                </a:rPr>
                <a:t> </a:t>
              </a:r>
              <a:endParaRPr>
                <a:sym typeface="Montserrat Medium"/>
              </a:endParaRPr>
            </a:p>
          </p:txBody>
        </p:sp>
        <p:sp>
          <p:nvSpPr>
            <p:cNvPr id="30" name="Google Shape;157;p17">
              <a:extLst>
                <a:ext uri="{FF2B5EF4-FFF2-40B4-BE49-F238E27FC236}">
                  <a16:creationId xmlns:a16="http://schemas.microsoft.com/office/drawing/2014/main" id="{B21A40A8-11B1-EEE3-7288-F9B114344DE4}"/>
                </a:ext>
              </a:extLst>
            </p:cNvPr>
            <p:cNvSpPr/>
            <p:nvPr/>
          </p:nvSpPr>
          <p:spPr>
            <a:xfrm>
              <a:off x="8617708" y="4254366"/>
              <a:ext cx="865500" cy="865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37" name="Google Shape;158;p17">
              <a:extLst>
                <a:ext uri="{FF2B5EF4-FFF2-40B4-BE49-F238E27FC236}">
                  <a16:creationId xmlns:a16="http://schemas.microsoft.com/office/drawing/2014/main" id="{3FED15C1-0F36-E2DE-6364-26AF90B1DDCE}"/>
                </a:ext>
              </a:extLst>
            </p:cNvPr>
            <p:cNvSpPr/>
            <p:nvPr/>
          </p:nvSpPr>
          <p:spPr>
            <a:xfrm>
              <a:off x="3904820" y="2209891"/>
              <a:ext cx="1151100" cy="1151100"/>
            </a:xfrm>
            <a:prstGeom prst="ellipse">
              <a:avLst/>
            </a:prstGeom>
            <a:solidFill>
              <a:srgbClr val="3B6EAE"/>
            </a:solidFill>
            <a:ln w="12700">
              <a:solidFill>
                <a:srgbClr val="1A56A0"/>
              </a:solidFill>
              <a:prstDash val="solid"/>
            </a:ln>
          </p:spPr>
          <p:txBody>
            <a:bodyPr/>
            <a:lstStyle/>
            <a:p>
              <a:r>
                <a:rPr lang="en">
                  <a:sym typeface="Montserrat Medium"/>
                </a:rPr>
                <a:t> </a:t>
              </a:r>
              <a:endParaRPr>
                <a:sym typeface="Montserrat Medium"/>
              </a:endParaRPr>
            </a:p>
          </p:txBody>
        </p:sp>
        <p:sp>
          <p:nvSpPr>
            <p:cNvPr id="41" name="Google Shape;159;p17">
              <a:extLst>
                <a:ext uri="{FF2B5EF4-FFF2-40B4-BE49-F238E27FC236}">
                  <a16:creationId xmlns:a16="http://schemas.microsoft.com/office/drawing/2014/main" id="{59A4AD50-2685-3502-DD87-3F9800CE337E}"/>
                </a:ext>
              </a:extLst>
            </p:cNvPr>
            <p:cNvSpPr/>
            <p:nvPr/>
          </p:nvSpPr>
          <p:spPr>
            <a:xfrm>
              <a:off x="4047633" y="2352691"/>
              <a:ext cx="865500" cy="865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42" name="Google Shape;160;p17">
              <a:extLst>
                <a:ext uri="{FF2B5EF4-FFF2-40B4-BE49-F238E27FC236}">
                  <a16:creationId xmlns:a16="http://schemas.microsoft.com/office/drawing/2014/main" id="{881BA633-FD7C-9131-AAC8-383B0F253282}"/>
                </a:ext>
              </a:extLst>
            </p:cNvPr>
            <p:cNvSpPr/>
            <p:nvPr/>
          </p:nvSpPr>
          <p:spPr>
            <a:xfrm>
              <a:off x="6951524" y="2209891"/>
              <a:ext cx="1151100" cy="1151100"/>
            </a:xfrm>
            <a:prstGeom prst="ellipse">
              <a:avLst/>
            </a:prstGeom>
            <a:solidFill>
              <a:srgbClr val="3B6EAE"/>
            </a:solidFill>
            <a:ln w="12700">
              <a:solidFill>
                <a:srgbClr val="1A56A0"/>
              </a:solidFill>
              <a:prstDash val="solid"/>
            </a:ln>
          </p:spPr>
          <p:txBody>
            <a:bodyPr/>
            <a:lstStyle/>
            <a:p>
              <a:r>
                <a:rPr lang="en">
                  <a:sym typeface="Montserrat Medium"/>
                </a:rPr>
                <a:t> </a:t>
              </a:r>
              <a:endParaRPr>
                <a:sym typeface="Montserrat Medium"/>
              </a:endParaRPr>
            </a:p>
          </p:txBody>
        </p:sp>
        <p:sp>
          <p:nvSpPr>
            <p:cNvPr id="43" name="Google Shape;161;p17">
              <a:extLst>
                <a:ext uri="{FF2B5EF4-FFF2-40B4-BE49-F238E27FC236}">
                  <a16:creationId xmlns:a16="http://schemas.microsoft.com/office/drawing/2014/main" id="{358C8ACC-D8F6-3DAC-041F-C7CDBC9DD4E1}"/>
                </a:ext>
              </a:extLst>
            </p:cNvPr>
            <p:cNvSpPr/>
            <p:nvPr/>
          </p:nvSpPr>
          <p:spPr>
            <a:xfrm>
              <a:off x="7094321" y="2352691"/>
              <a:ext cx="865500" cy="865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121" name="Google Shape;235;p17">
              <a:extLst>
                <a:ext uri="{FF2B5EF4-FFF2-40B4-BE49-F238E27FC236}">
                  <a16:creationId xmlns:a16="http://schemas.microsoft.com/office/drawing/2014/main" id="{DBF7EDB4-1E1D-3D14-FB6B-1FDB529D3376}"/>
                </a:ext>
              </a:extLst>
            </p:cNvPr>
            <p:cNvSpPr/>
            <p:nvPr/>
          </p:nvSpPr>
          <p:spPr>
            <a:xfrm>
              <a:off x="2811187" y="3254883"/>
              <a:ext cx="291300" cy="2913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122" name="Google Shape;236;p17">
              <a:extLst>
                <a:ext uri="{FF2B5EF4-FFF2-40B4-BE49-F238E27FC236}">
                  <a16:creationId xmlns:a16="http://schemas.microsoft.com/office/drawing/2014/main" id="{7164A37D-5A21-CBAD-A7EC-9F287CE20722}"/>
                </a:ext>
              </a:extLst>
            </p:cNvPr>
            <p:cNvSpPr/>
            <p:nvPr/>
          </p:nvSpPr>
          <p:spPr>
            <a:xfrm>
              <a:off x="5858050" y="3254883"/>
              <a:ext cx="291300" cy="2913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123" name="Google Shape;237;p17">
              <a:extLst>
                <a:ext uri="{FF2B5EF4-FFF2-40B4-BE49-F238E27FC236}">
                  <a16:creationId xmlns:a16="http://schemas.microsoft.com/office/drawing/2014/main" id="{AB5ABFC5-D168-D55C-509C-62243D72CF4B}"/>
                </a:ext>
              </a:extLst>
            </p:cNvPr>
            <p:cNvSpPr/>
            <p:nvPr/>
          </p:nvSpPr>
          <p:spPr>
            <a:xfrm>
              <a:off x="8904750" y="3254883"/>
              <a:ext cx="291300" cy="2913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124" name="Google Shape;238;p17">
              <a:extLst>
                <a:ext uri="{FF2B5EF4-FFF2-40B4-BE49-F238E27FC236}">
                  <a16:creationId xmlns:a16="http://schemas.microsoft.com/office/drawing/2014/main" id="{93F8E8F7-EFC7-0DD0-8D18-29FDC9A0E143}"/>
                </a:ext>
              </a:extLst>
            </p:cNvPr>
            <p:cNvSpPr/>
            <p:nvPr/>
          </p:nvSpPr>
          <p:spPr>
            <a:xfrm>
              <a:off x="4334612" y="3754620"/>
              <a:ext cx="291300" cy="2913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125" name="Google Shape;239;p17">
              <a:extLst>
                <a:ext uri="{FF2B5EF4-FFF2-40B4-BE49-F238E27FC236}">
                  <a16:creationId xmlns:a16="http://schemas.microsoft.com/office/drawing/2014/main" id="{B9F8E776-FC9A-B0B1-6369-0EC2197DF6CC}"/>
                </a:ext>
              </a:extLst>
            </p:cNvPr>
            <p:cNvSpPr/>
            <p:nvPr/>
          </p:nvSpPr>
          <p:spPr>
            <a:xfrm>
              <a:off x="7381437" y="3754620"/>
              <a:ext cx="291300" cy="2913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cxnSp>
          <p:nvCxnSpPr>
            <p:cNvPr id="126" name="Google Shape;240;p17">
              <a:extLst>
                <a:ext uri="{FF2B5EF4-FFF2-40B4-BE49-F238E27FC236}">
                  <a16:creationId xmlns:a16="http://schemas.microsoft.com/office/drawing/2014/main" id="{E832DB5F-E07D-5A4A-DA7F-266933B81207}"/>
                </a:ext>
              </a:extLst>
            </p:cNvPr>
            <p:cNvCxnSpPr>
              <a:endCxn id="121" idx="4"/>
            </p:cNvCxnSpPr>
            <p:nvPr/>
          </p:nvCxnSpPr>
          <p:spPr>
            <a:xfrm rot="10800000">
              <a:off x="2956821" y="3546166"/>
              <a:ext cx="0" cy="496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27" name="Google Shape;241;p17">
              <a:extLst>
                <a:ext uri="{FF2B5EF4-FFF2-40B4-BE49-F238E27FC236}">
                  <a16:creationId xmlns:a16="http://schemas.microsoft.com/office/drawing/2014/main" id="{336EF637-5181-606D-DE9E-31D46C26D4CF}"/>
                </a:ext>
              </a:extLst>
            </p:cNvPr>
            <p:cNvCxnSpPr>
              <a:stCxn id="124" idx="0"/>
              <a:endCxn id="18" idx="4"/>
            </p:cNvCxnSpPr>
            <p:nvPr/>
          </p:nvCxnSpPr>
          <p:spPr>
            <a:xfrm rot="10800000">
              <a:off x="4480262" y="3429420"/>
              <a:ext cx="0" cy="325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28" name="Google Shape;242;p17">
              <a:extLst>
                <a:ext uri="{FF2B5EF4-FFF2-40B4-BE49-F238E27FC236}">
                  <a16:creationId xmlns:a16="http://schemas.microsoft.com/office/drawing/2014/main" id="{D4E7A6EB-7179-8473-6273-F0E5A66DFC63}"/>
                </a:ext>
              </a:extLst>
            </p:cNvPr>
            <p:cNvCxnSpPr>
              <a:endCxn id="122" idx="4"/>
            </p:cNvCxnSpPr>
            <p:nvPr/>
          </p:nvCxnSpPr>
          <p:spPr>
            <a:xfrm rot="10800000">
              <a:off x="6003696" y="3546166"/>
              <a:ext cx="0" cy="496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29" name="Google Shape;243;p17">
              <a:extLst>
                <a:ext uri="{FF2B5EF4-FFF2-40B4-BE49-F238E27FC236}">
                  <a16:creationId xmlns:a16="http://schemas.microsoft.com/office/drawing/2014/main" id="{DC84CEB3-2CB7-DC08-D79A-C247BFD5EC3A}"/>
                </a:ext>
              </a:extLst>
            </p:cNvPr>
            <p:cNvCxnSpPr>
              <a:stCxn id="125" idx="0"/>
              <a:endCxn id="19" idx="4"/>
            </p:cNvCxnSpPr>
            <p:nvPr/>
          </p:nvCxnSpPr>
          <p:spPr>
            <a:xfrm rot="10800000">
              <a:off x="7527087" y="3429420"/>
              <a:ext cx="0" cy="325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30" name="Google Shape;244;p17">
              <a:extLst>
                <a:ext uri="{FF2B5EF4-FFF2-40B4-BE49-F238E27FC236}">
                  <a16:creationId xmlns:a16="http://schemas.microsoft.com/office/drawing/2014/main" id="{026F9E09-1013-4431-FB87-C310D3298856}"/>
                </a:ext>
              </a:extLst>
            </p:cNvPr>
            <p:cNvCxnSpPr>
              <a:stCxn id="123" idx="4"/>
            </p:cNvCxnSpPr>
            <p:nvPr/>
          </p:nvCxnSpPr>
          <p:spPr>
            <a:xfrm>
              <a:off x="9050400" y="3546183"/>
              <a:ext cx="0" cy="496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sp>
          <p:nvSpPr>
            <p:cNvPr id="131" name="Google Shape;245;p17">
              <a:extLst>
                <a:ext uri="{FF2B5EF4-FFF2-40B4-BE49-F238E27FC236}">
                  <a16:creationId xmlns:a16="http://schemas.microsoft.com/office/drawing/2014/main" id="{AE6D441C-7732-CED2-F7CA-A975D826753A}"/>
                </a:ext>
              </a:extLst>
            </p:cNvPr>
            <p:cNvSpPr/>
            <p:nvPr/>
          </p:nvSpPr>
          <p:spPr>
            <a:xfrm rot="10800000" flipH="1">
              <a:off x="5144171" y="3730616"/>
              <a:ext cx="195600" cy="2526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132" name="Google Shape;246;p17">
              <a:extLst>
                <a:ext uri="{FF2B5EF4-FFF2-40B4-BE49-F238E27FC236}">
                  <a16:creationId xmlns:a16="http://schemas.microsoft.com/office/drawing/2014/main" id="{25417BC7-B5F0-EC35-4978-707CA248AE5B}"/>
                </a:ext>
              </a:extLst>
            </p:cNvPr>
            <p:cNvSpPr/>
            <p:nvPr/>
          </p:nvSpPr>
          <p:spPr>
            <a:xfrm>
              <a:off x="3620746" y="3317554"/>
              <a:ext cx="195600" cy="2526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133" name="Google Shape;247;p17">
              <a:extLst>
                <a:ext uri="{FF2B5EF4-FFF2-40B4-BE49-F238E27FC236}">
                  <a16:creationId xmlns:a16="http://schemas.microsoft.com/office/drawing/2014/main" id="{FB4C6687-84A2-D6CA-B46E-A5FE09788C3E}"/>
                </a:ext>
              </a:extLst>
            </p:cNvPr>
            <p:cNvSpPr/>
            <p:nvPr/>
          </p:nvSpPr>
          <p:spPr>
            <a:xfrm>
              <a:off x="6667583" y="3317554"/>
              <a:ext cx="195600" cy="2526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134" name="Google Shape;248;p17">
              <a:extLst>
                <a:ext uri="{FF2B5EF4-FFF2-40B4-BE49-F238E27FC236}">
                  <a16:creationId xmlns:a16="http://schemas.microsoft.com/office/drawing/2014/main" id="{9C2ED9E7-E2E2-D315-ED15-EAABDBEFA098}"/>
                </a:ext>
              </a:extLst>
            </p:cNvPr>
            <p:cNvSpPr/>
            <p:nvPr/>
          </p:nvSpPr>
          <p:spPr>
            <a:xfrm rot="10800000" flipH="1">
              <a:off x="8190933" y="3730616"/>
              <a:ext cx="195600" cy="2526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46" name="Google Shape;141;p17">
              <a:extLst>
                <a:ext uri="{FF2B5EF4-FFF2-40B4-BE49-F238E27FC236}">
                  <a16:creationId xmlns:a16="http://schemas.microsoft.com/office/drawing/2014/main" id="{7B2518E5-FAC5-B2FE-25E7-5563CF926EA8}"/>
                </a:ext>
              </a:extLst>
            </p:cNvPr>
            <p:cNvSpPr txBox="1"/>
            <p:nvPr/>
          </p:nvSpPr>
          <p:spPr>
            <a:xfrm>
              <a:off x="3689978" y="4254095"/>
              <a:ext cx="1580567" cy="9968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>
                <a:defRPr lang="fr-FR"/>
              </a:defPPr>
              <a:lvl1pPr lvl="0" indent="0" algn="ctr">
                <a:spcBef>
                  <a:spcPts val="0"/>
                </a:spcBef>
                <a:spcAft>
                  <a:spcPts val="0"/>
                </a:spcAft>
                <a:buNone/>
                <a:defRPr sz="1400"/>
              </a:lvl1pPr>
            </a:lstStyle>
            <a:p>
              <a:r>
                <a:rPr lang="en-US" dirty="0"/>
                <a:t>Cleaned and standardized data using Power Query</a:t>
              </a:r>
              <a:endParaRPr dirty="0">
                <a:sym typeface="Montserrat Medium"/>
              </a:endParaRPr>
            </a:p>
          </p:txBody>
        </p:sp>
        <p:sp>
          <p:nvSpPr>
            <p:cNvPr id="247" name="Google Shape;141;p17">
              <a:extLst>
                <a:ext uri="{FF2B5EF4-FFF2-40B4-BE49-F238E27FC236}">
                  <a16:creationId xmlns:a16="http://schemas.microsoft.com/office/drawing/2014/main" id="{4804D041-0090-C6A5-55FA-0CA884750F39}"/>
                </a:ext>
              </a:extLst>
            </p:cNvPr>
            <p:cNvSpPr txBox="1"/>
            <p:nvPr/>
          </p:nvSpPr>
          <p:spPr>
            <a:xfrm>
              <a:off x="6772753" y="4295147"/>
              <a:ext cx="1601156" cy="98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>
                <a:defRPr lang="fr-FR"/>
              </a:defPPr>
              <a:lvl1pPr lvl="0" indent="0" algn="ctr">
                <a:spcBef>
                  <a:spcPts val="0"/>
                </a:spcBef>
                <a:spcAft>
                  <a:spcPts val="0"/>
                </a:spcAft>
                <a:buNone/>
                <a:defRPr sz="1400"/>
              </a:lvl1pPr>
            </a:lstStyle>
            <a:p>
              <a:r>
                <a:rPr lang="en-US" dirty="0"/>
                <a:t>Analyzed customer behavior through pivot tables</a:t>
              </a:r>
              <a:endParaRPr dirty="0">
                <a:sym typeface="Montserrat Medium"/>
              </a:endParaRPr>
            </a:p>
          </p:txBody>
        </p:sp>
        <p:pic>
          <p:nvPicPr>
            <p:cNvPr id="262" name="Picture 261">
              <a:extLst>
                <a:ext uri="{FF2B5EF4-FFF2-40B4-BE49-F238E27FC236}">
                  <a16:creationId xmlns:a16="http://schemas.microsoft.com/office/drawing/2014/main" id="{0D4E9F3D-6082-E9A3-5AD5-12FB45640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75321" y="4428664"/>
              <a:ext cx="476254" cy="476254"/>
            </a:xfrm>
            <a:prstGeom prst="rect">
              <a:avLst/>
            </a:prstGeom>
          </p:spPr>
        </p:pic>
        <p:pic>
          <p:nvPicPr>
            <p:cNvPr id="264" name="Picture 263">
              <a:extLst>
                <a:ext uri="{FF2B5EF4-FFF2-40B4-BE49-F238E27FC236}">
                  <a16:creationId xmlns:a16="http://schemas.microsoft.com/office/drawing/2014/main" id="{E26478AF-936D-0542-CAD8-8C8809319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44863" y="2525318"/>
              <a:ext cx="516022" cy="516022"/>
            </a:xfrm>
            <a:prstGeom prst="rect">
              <a:avLst/>
            </a:prstGeom>
          </p:spPr>
        </p:pic>
        <p:pic>
          <p:nvPicPr>
            <p:cNvPr id="266" name="Picture 265">
              <a:extLst>
                <a:ext uri="{FF2B5EF4-FFF2-40B4-BE49-F238E27FC236}">
                  <a16:creationId xmlns:a16="http://schemas.microsoft.com/office/drawing/2014/main" id="{CE8DB363-0CEA-CDD3-207B-20974B703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52574" y="4441237"/>
              <a:ext cx="502244" cy="502244"/>
            </a:xfrm>
            <a:prstGeom prst="rect">
              <a:avLst/>
            </a:prstGeom>
          </p:spPr>
        </p:pic>
        <p:pic>
          <p:nvPicPr>
            <p:cNvPr id="268" name="Picture 267">
              <a:extLst>
                <a:ext uri="{FF2B5EF4-FFF2-40B4-BE49-F238E27FC236}">
                  <a16:creationId xmlns:a16="http://schemas.microsoft.com/office/drawing/2014/main" id="{6CB61C64-DA6F-B183-76D4-08791FE62E5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344754" y="2563802"/>
              <a:ext cx="431471" cy="431471"/>
            </a:xfrm>
            <a:prstGeom prst="rect">
              <a:avLst/>
            </a:prstGeom>
          </p:spPr>
        </p:pic>
        <p:pic>
          <p:nvPicPr>
            <p:cNvPr id="270" name="Picture 269">
              <a:extLst>
                <a:ext uri="{FF2B5EF4-FFF2-40B4-BE49-F238E27FC236}">
                  <a16:creationId xmlns:a16="http://schemas.microsoft.com/office/drawing/2014/main" id="{C5CED955-80C8-354E-E2E4-21EC24A06E3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719463" y="4346198"/>
              <a:ext cx="645608" cy="6456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66327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920FF8-E32E-B9AE-2D0A-B5CBC567B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0">
            <a:extLst>
              <a:ext uri="{FF2B5EF4-FFF2-40B4-BE49-F238E27FC236}">
                <a16:creationId xmlns:a16="http://schemas.microsoft.com/office/drawing/2014/main" id="{2524D462-A440-D259-C4E5-85318DDF9BD3}"/>
              </a:ext>
            </a:extLst>
          </p:cNvPr>
          <p:cNvSpPr/>
          <p:nvPr/>
        </p:nvSpPr>
        <p:spPr>
          <a:xfrm>
            <a:off x="844780" y="657225"/>
            <a:ext cx="3198583" cy="498429"/>
          </a:xfrm>
          <a:prstGeom prst="roundRect">
            <a:avLst>
              <a:gd name="adj" fmla="val 25000"/>
            </a:avLst>
          </a:prstGeom>
          <a:solidFill>
            <a:srgbClr val="3B6EAE"/>
          </a:solidFill>
          <a:ln w="12700">
            <a:solidFill>
              <a:srgbClr val="1A56A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4DC5B7A-2E6B-0314-EDE6-3D682B6C3B57}"/>
              </a:ext>
            </a:extLst>
          </p:cNvPr>
          <p:cNvSpPr/>
          <p:nvPr/>
        </p:nvSpPr>
        <p:spPr>
          <a:xfrm>
            <a:off x="1483951" y="777241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noProof="0" dirty="0">
                <a:solidFill>
                  <a:srgbClr val="F8FAFC"/>
                </a:solidFill>
              </a:rPr>
              <a:t>METHODOLOGY</a:t>
            </a:r>
            <a:endParaRPr lang="en-US" sz="1600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F10B8BF-B9FD-E696-9BB5-4F31191F33CF}"/>
              </a:ext>
            </a:extLst>
          </p:cNvPr>
          <p:cNvSpPr/>
          <p:nvPr/>
        </p:nvSpPr>
        <p:spPr>
          <a:xfrm>
            <a:off x="742381" y="1216153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RFM Model Was Built</a:t>
            </a:r>
            <a:endParaRPr lang="en-US" sz="2400" noProof="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97F20B6-F9CA-DBE0-68AD-0CFF226B3178}"/>
              </a:ext>
            </a:extLst>
          </p:cNvPr>
          <p:cNvGrpSpPr/>
          <p:nvPr/>
        </p:nvGrpSpPr>
        <p:grpSpPr>
          <a:xfrm>
            <a:off x="1278215" y="2088372"/>
            <a:ext cx="5669280" cy="685800"/>
            <a:chOff x="594360" y="1837945"/>
            <a:chExt cx="5669280" cy="685800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B3301B66-FA84-96ED-22EB-C76BF34BF885}"/>
                </a:ext>
              </a:extLst>
            </p:cNvPr>
            <p:cNvSpPr/>
            <p:nvPr/>
          </p:nvSpPr>
          <p:spPr>
            <a:xfrm>
              <a:off x="594360" y="1837945"/>
              <a:ext cx="685800" cy="685800"/>
            </a:xfrm>
            <a:prstGeom prst="ellipse">
              <a:avLst/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ED7CBEFF-152B-812C-667F-6A8A2128B672}"/>
                </a:ext>
              </a:extLst>
            </p:cNvPr>
            <p:cNvSpPr/>
            <p:nvPr/>
          </p:nvSpPr>
          <p:spPr>
            <a:xfrm>
              <a:off x="594360" y="1837945"/>
              <a:ext cx="68580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600" b="1" noProof="0" dirty="0">
                  <a:solidFill>
                    <a:srgbClr val="F8FAFC"/>
                  </a:solidFill>
                </a:rPr>
                <a:t>R</a:t>
              </a:r>
              <a:endParaRPr lang="en-US" sz="2600" noProof="0" dirty="0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6D400880-4138-B136-12CB-8BB25D01B6B7}"/>
                </a:ext>
              </a:extLst>
            </p:cNvPr>
            <p:cNvSpPr/>
            <p:nvPr/>
          </p:nvSpPr>
          <p:spPr>
            <a:xfrm>
              <a:off x="1417320" y="1874521"/>
              <a:ext cx="484632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noProof="0" dirty="0">
                  <a:solidFill>
                    <a:srgbClr val="0A1628"/>
                  </a:solidFill>
                </a:rPr>
                <a:t>Recency</a:t>
              </a:r>
              <a:endParaRPr lang="en-US" sz="1400" noProof="0" dirty="0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B83C527E-4520-85EF-E98F-8A9295C0E5B0}"/>
                </a:ext>
              </a:extLst>
            </p:cNvPr>
            <p:cNvSpPr/>
            <p:nvPr/>
          </p:nvSpPr>
          <p:spPr>
            <a:xfrm>
              <a:off x="1417320" y="2185417"/>
              <a:ext cx="4846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noProof="0" dirty="0">
                  <a:solidFill>
                    <a:srgbClr val="1A56A0"/>
                  </a:solidFill>
                </a:rPr>
                <a:t>How recently did the customer purchase?</a:t>
              </a:r>
              <a:endParaRPr lang="en-US" sz="1150" noProof="0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7900563-F94A-6F47-4761-C02F6D45BAA3}"/>
              </a:ext>
            </a:extLst>
          </p:cNvPr>
          <p:cNvGrpSpPr/>
          <p:nvPr/>
        </p:nvGrpSpPr>
        <p:grpSpPr>
          <a:xfrm>
            <a:off x="5284713" y="2081077"/>
            <a:ext cx="5669280" cy="685800"/>
            <a:chOff x="4124528" y="1837945"/>
            <a:chExt cx="5669280" cy="685800"/>
          </a:xfrm>
        </p:grpSpPr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00E4A584-27F9-78A3-F725-0127FF2CB175}"/>
                </a:ext>
              </a:extLst>
            </p:cNvPr>
            <p:cNvSpPr/>
            <p:nvPr/>
          </p:nvSpPr>
          <p:spPr>
            <a:xfrm>
              <a:off x="4124528" y="1837945"/>
              <a:ext cx="685800" cy="685800"/>
            </a:xfrm>
            <a:prstGeom prst="ellipse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7A2532D0-2AE5-8CBC-D3D4-3D979F826729}"/>
                </a:ext>
              </a:extLst>
            </p:cNvPr>
            <p:cNvSpPr/>
            <p:nvPr/>
          </p:nvSpPr>
          <p:spPr>
            <a:xfrm>
              <a:off x="4124528" y="1837945"/>
              <a:ext cx="68580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600" b="1" noProof="0" dirty="0">
                  <a:solidFill>
                    <a:srgbClr val="F8FAFC"/>
                  </a:solidFill>
                </a:rPr>
                <a:t>F</a:t>
              </a:r>
              <a:endParaRPr lang="en-US" sz="2600" noProof="0" dirty="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2D940533-7AEB-536A-65A3-4E64913A12E3}"/>
                </a:ext>
              </a:extLst>
            </p:cNvPr>
            <p:cNvSpPr/>
            <p:nvPr/>
          </p:nvSpPr>
          <p:spPr>
            <a:xfrm>
              <a:off x="4947488" y="1874521"/>
              <a:ext cx="484632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noProof="0" dirty="0">
                  <a:solidFill>
                    <a:srgbClr val="0A1628"/>
                  </a:solidFill>
                </a:rPr>
                <a:t>Frequency</a:t>
              </a:r>
              <a:endParaRPr lang="en-US" sz="1400" noProof="0" dirty="0"/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4286D8ED-BD6D-0080-2EE1-D042637941B0}"/>
                </a:ext>
              </a:extLst>
            </p:cNvPr>
            <p:cNvSpPr/>
            <p:nvPr/>
          </p:nvSpPr>
          <p:spPr>
            <a:xfrm>
              <a:off x="4947488" y="2185417"/>
              <a:ext cx="4846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noProof="0" dirty="0">
                  <a:solidFill>
                    <a:srgbClr val="1A56A0"/>
                  </a:solidFill>
                </a:rPr>
                <a:t>How often do they buy?</a:t>
              </a:r>
              <a:endParaRPr lang="en-US" sz="1150" noProof="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0B4EF41-F7F0-12D8-BE1E-608C5062E038}"/>
              </a:ext>
            </a:extLst>
          </p:cNvPr>
          <p:cNvGrpSpPr/>
          <p:nvPr/>
        </p:nvGrpSpPr>
        <p:grpSpPr>
          <a:xfrm>
            <a:off x="8400158" y="2083800"/>
            <a:ext cx="5669280" cy="685800"/>
            <a:chOff x="7047446" y="1837945"/>
            <a:chExt cx="5669280" cy="685800"/>
          </a:xfrm>
        </p:grpSpPr>
        <p:sp>
          <p:nvSpPr>
            <p:cNvPr id="13" name="Shape 11">
              <a:extLst>
                <a:ext uri="{FF2B5EF4-FFF2-40B4-BE49-F238E27FC236}">
                  <a16:creationId xmlns:a16="http://schemas.microsoft.com/office/drawing/2014/main" id="{83395EDF-BB02-0C5D-AB92-799498CF652C}"/>
                </a:ext>
              </a:extLst>
            </p:cNvPr>
            <p:cNvSpPr/>
            <p:nvPr/>
          </p:nvSpPr>
          <p:spPr>
            <a:xfrm>
              <a:off x="7047446" y="1837945"/>
              <a:ext cx="685800" cy="685800"/>
            </a:xfrm>
            <a:prstGeom prst="ellipse">
              <a:avLst/>
            </a:prstGeom>
            <a:solidFill>
              <a:srgbClr val="F43F5E"/>
            </a:solidFill>
            <a:ln w="12700">
              <a:solidFill>
                <a:srgbClr val="F43F5E"/>
              </a:solidFill>
              <a:prstDash val="solid"/>
            </a:ln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FECD0D0A-89FE-9713-AEDC-DDECF5A6B381}"/>
                </a:ext>
              </a:extLst>
            </p:cNvPr>
            <p:cNvSpPr/>
            <p:nvPr/>
          </p:nvSpPr>
          <p:spPr>
            <a:xfrm>
              <a:off x="7047446" y="1837945"/>
              <a:ext cx="68580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600" b="1" noProof="0" dirty="0">
                  <a:solidFill>
                    <a:srgbClr val="F8FAFC"/>
                  </a:solidFill>
                </a:rPr>
                <a:t>M</a:t>
              </a:r>
              <a:endParaRPr lang="en-US" sz="2600" noProof="0" dirty="0"/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306C109E-5935-F28F-2352-92B4DE215907}"/>
                </a:ext>
              </a:extLst>
            </p:cNvPr>
            <p:cNvSpPr/>
            <p:nvPr/>
          </p:nvSpPr>
          <p:spPr>
            <a:xfrm>
              <a:off x="7870406" y="1874521"/>
              <a:ext cx="484632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noProof="0" dirty="0">
                  <a:solidFill>
                    <a:srgbClr val="0A1628"/>
                  </a:solidFill>
                </a:rPr>
                <a:t>Monetary</a:t>
              </a:r>
              <a:endParaRPr lang="en-US" sz="1400" noProof="0" dirty="0"/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1F191AF5-DFBE-86F9-1E14-E3E9C1723F2C}"/>
                </a:ext>
              </a:extLst>
            </p:cNvPr>
            <p:cNvSpPr/>
            <p:nvPr/>
          </p:nvSpPr>
          <p:spPr>
            <a:xfrm>
              <a:off x="7870406" y="2185417"/>
              <a:ext cx="4846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noProof="0" dirty="0">
                  <a:solidFill>
                    <a:srgbClr val="1A56A0"/>
                  </a:solidFill>
                </a:rPr>
                <a:t>How much do they spend in total?</a:t>
              </a:r>
              <a:endParaRPr lang="en-US" sz="1150" noProof="0" dirty="0"/>
            </a:p>
          </p:txBody>
        </p:sp>
      </p:grpSp>
      <p:sp>
        <p:nvSpPr>
          <p:cNvPr id="18" name="Text 16">
            <a:extLst>
              <a:ext uri="{FF2B5EF4-FFF2-40B4-BE49-F238E27FC236}">
                <a16:creationId xmlns:a16="http://schemas.microsoft.com/office/drawing/2014/main" id="{3FB33999-CFBA-FF08-9CB2-6E8F9544BCC6}"/>
              </a:ext>
            </a:extLst>
          </p:cNvPr>
          <p:cNvSpPr/>
          <p:nvPr/>
        </p:nvSpPr>
        <p:spPr>
          <a:xfrm>
            <a:off x="981031" y="3836951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noProof="0" dirty="0">
                <a:solidFill>
                  <a:srgbClr val="0A1628"/>
                </a:solidFill>
              </a:rPr>
              <a:t>Scoring Model</a:t>
            </a:r>
            <a:endParaRPr lang="en-US" noProof="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6212FD1-DD90-5DD1-5A71-FFE10B2906D5}"/>
              </a:ext>
            </a:extLst>
          </p:cNvPr>
          <p:cNvSpPr/>
          <p:nvPr/>
        </p:nvSpPr>
        <p:spPr>
          <a:xfrm>
            <a:off x="781293" y="4350864"/>
            <a:ext cx="554168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noProof="0" dirty="0">
                <a:solidFill>
                  <a:srgbClr val="334155"/>
                </a:solidFill>
              </a:rPr>
              <a:t>Each dimension (R, F, M) scored 1–5 using Excel percentile-based quintile ranking</a:t>
            </a:r>
            <a:endParaRPr lang="en-US" sz="1400" noProof="0" dirty="0"/>
          </a:p>
          <a:p>
            <a:pPr marL="342900" indent="-342900">
              <a:buSzPct val="100000"/>
              <a:buChar char="•"/>
            </a:pPr>
            <a:r>
              <a:rPr lang="en-US" sz="1400" noProof="0" dirty="0">
                <a:solidFill>
                  <a:srgbClr val="334155"/>
                </a:solidFill>
              </a:rPr>
              <a:t>Scores combined into a 3-digit RFM code (e.g., 555 = perfect Champion)</a:t>
            </a:r>
            <a:endParaRPr lang="en-US" sz="1400" noProof="0" dirty="0"/>
          </a:p>
          <a:p>
            <a:pPr marL="342900" indent="-342900">
              <a:buSzPct val="100000"/>
              <a:buChar char="•"/>
            </a:pPr>
            <a:r>
              <a:rPr lang="en-US" sz="1400" noProof="0" dirty="0">
                <a:solidFill>
                  <a:srgbClr val="334155"/>
                </a:solidFill>
              </a:rPr>
              <a:t>11 customer segments defined by score pattern logic</a:t>
            </a:r>
            <a:endParaRPr lang="en-US" sz="1400" noProof="0" dirty="0"/>
          </a:p>
          <a:p>
            <a:pPr marL="342900" indent="-342900">
              <a:buSzPct val="100000"/>
              <a:buChar char="•"/>
            </a:pPr>
            <a:r>
              <a:rPr lang="en-US" sz="1400" noProof="0" dirty="0">
                <a:solidFill>
                  <a:srgbClr val="334155"/>
                </a:solidFill>
              </a:rPr>
              <a:t>All pivot tables, scoring, and analysis built natively in Microsoft Excel</a:t>
            </a:r>
            <a:endParaRPr lang="en-US" sz="1400" noProof="0" dirty="0"/>
          </a:p>
        </p:txBody>
      </p:sp>
      <p:pic>
        <p:nvPicPr>
          <p:cNvPr id="38" name="Picture 37" descr="RFM Segmentation - Labeling Segments">
            <a:extLst>
              <a:ext uri="{FF2B5EF4-FFF2-40B4-BE49-F238E27FC236}">
                <a16:creationId xmlns:a16="http://schemas.microsoft.com/office/drawing/2014/main" id="{1F616BED-1D1B-F1FE-277E-19544E738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3178167"/>
            <a:ext cx="5395308" cy="2902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932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9787" y="663310"/>
            <a:ext cx="3203576" cy="509933"/>
          </a:xfrm>
          <a:prstGeom prst="roundRect">
            <a:avLst>
              <a:gd name="adj" fmla="val 25000"/>
            </a:avLst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Text 1"/>
          <p:cNvSpPr/>
          <p:nvPr/>
        </p:nvSpPr>
        <p:spPr>
          <a:xfrm>
            <a:off x="873593" y="663310"/>
            <a:ext cx="3203576" cy="519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300" noProof="0" dirty="0">
                <a:solidFill>
                  <a:srgbClr val="F8FAFC"/>
                </a:solidFill>
              </a:rPr>
              <a:t>FINDING 01 — HIGH VALUE</a:t>
            </a:r>
            <a:endParaRPr lang="en-US" sz="1500" noProof="0" dirty="0"/>
          </a:p>
        </p:txBody>
      </p:sp>
      <p:sp>
        <p:nvSpPr>
          <p:cNvPr id="4" name="Text 2"/>
          <p:cNvSpPr/>
          <p:nvPr/>
        </p:nvSpPr>
        <p:spPr>
          <a:xfrm>
            <a:off x="800719" y="1274229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&amp; Loyal Customers Drive 44% of Revenue</a:t>
            </a:r>
            <a:endParaRPr lang="en-US" sz="2800" noProof="0" dirty="0"/>
          </a:p>
        </p:txBody>
      </p:sp>
      <p:sp>
        <p:nvSpPr>
          <p:cNvPr id="5" name="Shape 3"/>
          <p:cNvSpPr/>
          <p:nvPr/>
        </p:nvSpPr>
        <p:spPr>
          <a:xfrm>
            <a:off x="839787" y="1920240"/>
            <a:ext cx="9861163" cy="548640"/>
          </a:xfrm>
          <a:prstGeom prst="rect">
            <a:avLst/>
          </a:prstGeom>
          <a:solidFill>
            <a:srgbClr val="071A0E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976948" y="1920240"/>
            <a:ext cx="962064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noProof="0" dirty="0">
                <a:solidFill>
                  <a:srgbClr val="10B981"/>
                </a:solidFill>
              </a:rPr>
              <a:t>17% of the customer base generates 44% of total revenue — a highly concentrated revenue structure.</a:t>
            </a:r>
            <a:endParaRPr lang="en-US" sz="1600" noProof="0" dirty="0"/>
          </a:p>
        </p:txBody>
      </p:sp>
      <p:sp>
        <p:nvSpPr>
          <p:cNvPr id="33" name="Text 31"/>
          <p:cNvSpPr/>
          <p:nvPr/>
        </p:nvSpPr>
        <p:spPr>
          <a:xfrm>
            <a:off x="7609291" y="2600123"/>
            <a:ext cx="4267919" cy="335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E2E8F0"/>
                </a:solidFill>
              </a:rPr>
              <a:t>Recommendation </a:t>
            </a:r>
            <a:endParaRPr lang="en-US" sz="1200" noProof="0" dirty="0"/>
          </a:p>
        </p:txBody>
      </p:sp>
      <p:sp>
        <p:nvSpPr>
          <p:cNvPr id="34" name="Shape 32"/>
          <p:cNvSpPr/>
          <p:nvPr/>
        </p:nvSpPr>
        <p:spPr>
          <a:xfrm>
            <a:off x="7609291" y="3090336"/>
            <a:ext cx="4256342" cy="1259938"/>
          </a:xfrm>
          <a:prstGeom prst="rect">
            <a:avLst/>
          </a:prstGeom>
          <a:solidFill>
            <a:srgbClr val="131F3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5" name="Text 33"/>
          <p:cNvSpPr/>
          <p:nvPr/>
        </p:nvSpPr>
        <p:spPr>
          <a:xfrm>
            <a:off x="7746451" y="3163488"/>
            <a:ext cx="41307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noProof="0" dirty="0">
                <a:solidFill>
                  <a:srgbClr val="10B981"/>
                </a:solidFill>
              </a:rPr>
              <a:t>Champions</a:t>
            </a:r>
            <a:endParaRPr lang="en-US" sz="1150" noProof="0" dirty="0"/>
          </a:p>
        </p:txBody>
      </p:sp>
      <p:sp>
        <p:nvSpPr>
          <p:cNvPr id="36" name="Text 34"/>
          <p:cNvSpPr/>
          <p:nvPr/>
        </p:nvSpPr>
        <p:spPr>
          <a:xfrm>
            <a:off x="7837292" y="3542598"/>
            <a:ext cx="413075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noProof="0" dirty="0">
                <a:solidFill>
                  <a:srgbClr val="E2E8F0"/>
                </a:solidFill>
              </a:rPr>
              <a:t>VIP exclusivity programs</a:t>
            </a:r>
            <a:endParaRPr lang="en-US" sz="1050" noProof="0" dirty="0"/>
          </a:p>
          <a:p>
            <a:pPr marL="342900" indent="-342900">
              <a:buSzPct val="100000"/>
              <a:buChar char="•"/>
            </a:pPr>
            <a:r>
              <a:rPr lang="en-US" sz="1050" noProof="0" dirty="0">
                <a:solidFill>
                  <a:srgbClr val="E2E8F0"/>
                </a:solidFill>
              </a:rPr>
              <a:t>Referral ecosystem</a:t>
            </a:r>
            <a:endParaRPr lang="en-US" sz="1050" noProof="0" dirty="0"/>
          </a:p>
          <a:p>
            <a:pPr marL="342900" indent="-342900">
              <a:buSzPct val="100000"/>
              <a:buChar char="•"/>
            </a:pPr>
            <a:r>
              <a:rPr lang="en-US" sz="1050" noProof="0" dirty="0">
                <a:solidFill>
                  <a:srgbClr val="E2E8F0"/>
                </a:solidFill>
              </a:rPr>
              <a:t>Early-access launches</a:t>
            </a:r>
            <a:endParaRPr lang="en-US" sz="1050" noProof="0" dirty="0"/>
          </a:p>
          <a:p>
            <a:pPr marL="342900" indent="-342900">
              <a:buSzPct val="100000"/>
              <a:buChar char="•"/>
            </a:pPr>
            <a:r>
              <a:rPr lang="en-US" sz="1050" noProof="0" dirty="0">
                <a:solidFill>
                  <a:srgbClr val="E2E8F0"/>
                </a:solidFill>
              </a:rPr>
              <a:t>Premium retention </a:t>
            </a:r>
            <a:endParaRPr lang="en-US" sz="1050" noProof="0" dirty="0"/>
          </a:p>
        </p:txBody>
      </p:sp>
      <p:sp>
        <p:nvSpPr>
          <p:cNvPr id="37" name="Shape 35"/>
          <p:cNvSpPr/>
          <p:nvPr/>
        </p:nvSpPr>
        <p:spPr>
          <a:xfrm>
            <a:off x="7609291" y="4578201"/>
            <a:ext cx="4256342" cy="1325880"/>
          </a:xfrm>
          <a:prstGeom prst="rect">
            <a:avLst/>
          </a:prstGeom>
          <a:solidFill>
            <a:srgbClr val="131F3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8" name="Text 36"/>
          <p:cNvSpPr/>
          <p:nvPr/>
        </p:nvSpPr>
        <p:spPr>
          <a:xfrm>
            <a:off x="7746451" y="4651353"/>
            <a:ext cx="40399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noProof="0" dirty="0">
                <a:solidFill>
                  <a:srgbClr val="38BDF8"/>
                </a:solidFill>
              </a:rPr>
              <a:t>Loyal Customers</a:t>
            </a:r>
            <a:endParaRPr lang="en-US" sz="1150" noProof="0" dirty="0"/>
          </a:p>
        </p:txBody>
      </p:sp>
      <p:sp>
        <p:nvSpPr>
          <p:cNvPr id="39" name="Text 37"/>
          <p:cNvSpPr/>
          <p:nvPr/>
        </p:nvSpPr>
        <p:spPr>
          <a:xfrm>
            <a:off x="7837292" y="5102545"/>
            <a:ext cx="4039918" cy="584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noProof="0" dirty="0">
                <a:solidFill>
                  <a:srgbClr val="E2E8F0"/>
                </a:solidFill>
              </a:rPr>
              <a:t>Cross-sell &amp; upsell offers</a:t>
            </a:r>
            <a:endParaRPr lang="en-US" sz="1050" noProof="0" dirty="0"/>
          </a:p>
          <a:p>
            <a:pPr marL="342900" indent="-342900">
              <a:buSzPct val="100000"/>
              <a:buChar char="•"/>
            </a:pPr>
            <a:r>
              <a:rPr lang="en-US" sz="1050" noProof="0" dirty="0">
                <a:solidFill>
                  <a:srgbClr val="E2E8F0"/>
                </a:solidFill>
              </a:rPr>
              <a:t>Loyalty tier progression</a:t>
            </a:r>
            <a:endParaRPr lang="en-US" sz="1050" noProof="0" dirty="0"/>
          </a:p>
          <a:p>
            <a:pPr marL="342900" indent="-342900">
              <a:buSzPct val="100000"/>
              <a:buChar char="•"/>
            </a:pPr>
            <a:r>
              <a:rPr lang="en-US" sz="1050" noProof="0" dirty="0">
                <a:solidFill>
                  <a:srgbClr val="E2E8F0"/>
                </a:solidFill>
              </a:rPr>
              <a:t>Personalized campaigns</a:t>
            </a:r>
            <a:endParaRPr lang="en-US" sz="1050" noProof="0" dirty="0"/>
          </a:p>
        </p:txBody>
      </p:sp>
      <p:graphicFrame>
        <p:nvGraphicFramePr>
          <p:cNvPr id="42" name="Chart 41">
            <a:extLst>
              <a:ext uri="{FF2B5EF4-FFF2-40B4-BE49-F238E27FC236}">
                <a16:creationId xmlns:a16="http://schemas.microsoft.com/office/drawing/2014/main" id="{0398CEF1-8BDE-7A6A-596A-E67FB8B634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18627611"/>
              </p:ext>
            </p:extLst>
          </p:nvPr>
        </p:nvGraphicFramePr>
        <p:xfrm>
          <a:off x="873593" y="2578608"/>
          <a:ext cx="6499102" cy="42793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47" name="Group 46">
            <a:extLst>
              <a:ext uri="{FF2B5EF4-FFF2-40B4-BE49-F238E27FC236}">
                <a16:creationId xmlns:a16="http://schemas.microsoft.com/office/drawing/2014/main" id="{ABD5AE5D-E0C8-C133-83CF-7A50C2594249}"/>
              </a:ext>
            </a:extLst>
          </p:cNvPr>
          <p:cNvGrpSpPr/>
          <p:nvPr/>
        </p:nvGrpSpPr>
        <p:grpSpPr>
          <a:xfrm>
            <a:off x="2569836" y="2622570"/>
            <a:ext cx="3106615" cy="334648"/>
            <a:chOff x="2836985" y="2487189"/>
            <a:chExt cx="3106615" cy="334648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D51804E-C7A8-D0C5-7755-2ED85BDDE7B4}"/>
                </a:ext>
              </a:extLst>
            </p:cNvPr>
            <p:cNvSpPr/>
            <p:nvPr/>
          </p:nvSpPr>
          <p:spPr>
            <a:xfrm>
              <a:off x="2836985" y="2600123"/>
              <a:ext cx="152400" cy="13135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B24CDE7-03CB-2564-B6BD-5BCCBFCB4462}"/>
                </a:ext>
              </a:extLst>
            </p:cNvPr>
            <p:cNvSpPr txBox="1"/>
            <p:nvPr/>
          </p:nvSpPr>
          <p:spPr>
            <a:xfrm>
              <a:off x="2989385" y="2514060"/>
              <a:ext cx="144092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solidFill>
                    <a:schemeClr val="bg1"/>
                  </a:solidFill>
                </a:rPr>
                <a:t>Revenue Share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F07F0F9-1A50-4338-053E-9142D81B8890}"/>
                </a:ext>
              </a:extLst>
            </p:cNvPr>
            <p:cNvSpPr/>
            <p:nvPr/>
          </p:nvSpPr>
          <p:spPr>
            <a:xfrm>
              <a:off x="4350275" y="2573252"/>
              <a:ext cx="152400" cy="131354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1664B9D-A18A-07AD-ADC4-9BA4CF4960ED}"/>
                </a:ext>
              </a:extLst>
            </p:cNvPr>
            <p:cNvSpPr txBox="1"/>
            <p:nvPr/>
          </p:nvSpPr>
          <p:spPr>
            <a:xfrm>
              <a:off x="4502675" y="2487189"/>
              <a:ext cx="144092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solidFill>
                    <a:schemeClr val="bg1"/>
                  </a:solidFill>
                </a:rPr>
                <a:t>Customer Share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4713" y="620714"/>
            <a:ext cx="3168650" cy="533366"/>
          </a:xfrm>
          <a:prstGeom prst="roundRect">
            <a:avLst>
              <a:gd name="adj" fmla="val 25000"/>
            </a:avLst>
          </a:prstGeom>
          <a:solidFill>
            <a:srgbClr val="F43F5E">
              <a:alpha val="85000"/>
            </a:srgbClr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Text 1"/>
          <p:cNvSpPr/>
          <p:nvPr/>
        </p:nvSpPr>
        <p:spPr>
          <a:xfrm>
            <a:off x="874713" y="648081"/>
            <a:ext cx="3298702" cy="512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300" noProof="0" dirty="0">
                <a:solidFill>
                  <a:srgbClr val="F8FAFC"/>
                </a:solidFill>
              </a:rPr>
              <a:t>FINDING 02—CRITICAL RISK</a:t>
            </a:r>
            <a:endParaRPr lang="en-US" sz="1500" noProof="0" dirty="0"/>
          </a:p>
        </p:txBody>
      </p:sp>
      <p:sp>
        <p:nvSpPr>
          <p:cNvPr id="4" name="Text 2"/>
          <p:cNvSpPr/>
          <p:nvPr/>
        </p:nvSpPr>
        <p:spPr>
          <a:xfrm>
            <a:off x="804375" y="1232644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Revenue Is at Immediate Risk of Churning</a:t>
            </a:r>
            <a:endParaRPr lang="en-US" sz="2000" noProof="0" dirty="0"/>
          </a:p>
        </p:txBody>
      </p:sp>
      <p:sp>
        <p:nvSpPr>
          <p:cNvPr id="5" name="Shape 3"/>
          <p:cNvSpPr/>
          <p:nvPr/>
        </p:nvSpPr>
        <p:spPr>
          <a:xfrm>
            <a:off x="874713" y="1873642"/>
            <a:ext cx="9828456" cy="548640"/>
          </a:xfrm>
          <a:prstGeom prst="rect">
            <a:avLst/>
          </a:prstGeom>
          <a:solidFill>
            <a:srgbClr val="1A0508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1011873" y="1873642"/>
            <a:ext cx="95887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noProof="0" dirty="0">
                <a:solidFill>
                  <a:srgbClr val="F43F5E"/>
                </a:solidFill>
              </a:rPr>
              <a:t>At Risk customers hold the largest revenue share of any segment — yet they haven't purchased in 113 days on average.</a:t>
            </a:r>
            <a:endParaRPr lang="en-US" sz="1350" noProof="0" dirty="0"/>
          </a:p>
        </p:txBody>
      </p:sp>
      <p:sp>
        <p:nvSpPr>
          <p:cNvPr id="7" name="Shape 5"/>
          <p:cNvSpPr/>
          <p:nvPr/>
        </p:nvSpPr>
        <p:spPr>
          <a:xfrm>
            <a:off x="8370277" y="2712017"/>
            <a:ext cx="3611880" cy="3858102"/>
          </a:xfrm>
          <a:prstGeom prst="rect">
            <a:avLst/>
          </a:prstGeom>
          <a:solidFill>
            <a:srgbClr val="131F35"/>
          </a:solidFill>
          <a:ln w="1905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8" name="Shape 6"/>
          <p:cNvSpPr/>
          <p:nvPr/>
        </p:nvSpPr>
        <p:spPr>
          <a:xfrm>
            <a:off x="8370277" y="2712017"/>
            <a:ext cx="3611880" cy="327348"/>
          </a:xfrm>
          <a:prstGeom prst="rect">
            <a:avLst/>
          </a:prstGeom>
          <a:solidFill>
            <a:srgbClr val="F43F5E">
              <a:alpha val="80000"/>
            </a:srgbClr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" name="Text 7"/>
          <p:cNvSpPr/>
          <p:nvPr/>
        </p:nvSpPr>
        <p:spPr>
          <a:xfrm>
            <a:off x="8507437" y="2730305"/>
            <a:ext cx="3337560" cy="296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noProof="0" dirty="0">
                <a:solidFill>
                  <a:srgbClr val="F8FAFC"/>
                </a:solidFill>
              </a:rPr>
              <a:t>At Risk</a:t>
            </a:r>
            <a:endParaRPr lang="en-US" sz="1400" noProof="0" dirty="0"/>
          </a:p>
        </p:txBody>
      </p:sp>
      <p:sp>
        <p:nvSpPr>
          <p:cNvPr id="10" name="Shape 8"/>
          <p:cNvSpPr/>
          <p:nvPr/>
        </p:nvSpPr>
        <p:spPr>
          <a:xfrm>
            <a:off x="8507437" y="3169217"/>
            <a:ext cx="3337560" cy="194850"/>
          </a:xfrm>
          <a:prstGeom prst="roundRect">
            <a:avLst>
              <a:gd name="adj" fmla="val 20000"/>
            </a:avLst>
          </a:prstGeom>
          <a:solidFill>
            <a:srgbClr val="F43F5E">
              <a:alpha val="25000"/>
            </a:srgbClr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" name="Text 9"/>
          <p:cNvSpPr/>
          <p:nvPr/>
        </p:nvSpPr>
        <p:spPr>
          <a:xfrm>
            <a:off x="8507437" y="3169217"/>
            <a:ext cx="3337560" cy="19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noProof="0" dirty="0">
                <a:solidFill>
                  <a:srgbClr val="F43F5E"/>
                </a:solidFill>
              </a:rPr>
              <a:t>HIGHEST PRIORITY</a:t>
            </a:r>
            <a:endParaRPr lang="en-US" sz="800" noProof="0" dirty="0"/>
          </a:p>
        </p:txBody>
      </p:sp>
      <p:sp>
        <p:nvSpPr>
          <p:cNvPr id="12" name="Text 10"/>
          <p:cNvSpPr/>
          <p:nvPr/>
        </p:nvSpPr>
        <p:spPr>
          <a:xfrm>
            <a:off x="8507437" y="3480113"/>
            <a:ext cx="3337560" cy="218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noProof="0" dirty="0">
                <a:solidFill>
                  <a:srgbClr val="F43F5E"/>
                </a:solidFill>
              </a:rPr>
              <a:t>1,251</a:t>
            </a:r>
            <a:endParaRPr lang="en-US" sz="1500" noProof="0" dirty="0"/>
          </a:p>
        </p:txBody>
      </p:sp>
      <p:sp>
        <p:nvSpPr>
          <p:cNvPr id="13" name="Text 11"/>
          <p:cNvSpPr/>
          <p:nvPr/>
        </p:nvSpPr>
        <p:spPr>
          <a:xfrm>
            <a:off x="8507437" y="3736145"/>
            <a:ext cx="3337560" cy="15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noProof="0" dirty="0">
                <a:solidFill>
                  <a:srgbClr val="94A3B8"/>
                </a:solidFill>
              </a:rPr>
              <a:t>Customers (15.6%)</a:t>
            </a:r>
            <a:endParaRPr lang="en-US" sz="1000" noProof="0" dirty="0"/>
          </a:p>
        </p:txBody>
      </p:sp>
      <p:sp>
        <p:nvSpPr>
          <p:cNvPr id="14" name="Text 12"/>
          <p:cNvSpPr/>
          <p:nvPr/>
        </p:nvSpPr>
        <p:spPr>
          <a:xfrm>
            <a:off x="8507437" y="3919025"/>
            <a:ext cx="3337560" cy="218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noProof="0" dirty="0">
                <a:solidFill>
                  <a:srgbClr val="F43F5E"/>
                </a:solidFill>
              </a:rPr>
              <a:t>$281.9M</a:t>
            </a:r>
            <a:endParaRPr lang="en-US" sz="1500" noProof="0" dirty="0"/>
          </a:p>
        </p:txBody>
      </p:sp>
      <p:sp>
        <p:nvSpPr>
          <p:cNvPr id="15" name="Text 13"/>
          <p:cNvSpPr/>
          <p:nvPr/>
        </p:nvSpPr>
        <p:spPr>
          <a:xfrm>
            <a:off x="8507437" y="4175057"/>
            <a:ext cx="3337560" cy="15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noProof="0" dirty="0">
                <a:solidFill>
                  <a:srgbClr val="94A3B8"/>
                </a:solidFill>
              </a:rPr>
              <a:t>Revenue — 25% of total</a:t>
            </a:r>
            <a:endParaRPr lang="en-US" sz="1000" noProof="0" dirty="0"/>
          </a:p>
        </p:txBody>
      </p:sp>
      <p:sp>
        <p:nvSpPr>
          <p:cNvPr id="16" name="Text 14"/>
          <p:cNvSpPr/>
          <p:nvPr/>
        </p:nvSpPr>
        <p:spPr>
          <a:xfrm>
            <a:off x="8507437" y="4357937"/>
            <a:ext cx="3337560" cy="218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noProof="0" dirty="0">
                <a:solidFill>
                  <a:srgbClr val="F43F5E"/>
                </a:solidFill>
              </a:rPr>
              <a:t>113 days</a:t>
            </a:r>
            <a:endParaRPr lang="en-US" sz="1500" noProof="0" dirty="0"/>
          </a:p>
        </p:txBody>
      </p:sp>
      <p:sp>
        <p:nvSpPr>
          <p:cNvPr id="17" name="Text 15"/>
          <p:cNvSpPr/>
          <p:nvPr/>
        </p:nvSpPr>
        <p:spPr>
          <a:xfrm>
            <a:off x="8507437" y="4613969"/>
            <a:ext cx="3337560" cy="15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noProof="0" dirty="0">
                <a:solidFill>
                  <a:srgbClr val="94A3B8"/>
                </a:solidFill>
              </a:rPr>
              <a:t>Avg Recency</a:t>
            </a:r>
            <a:endParaRPr lang="en-US" sz="1000" noProof="0" dirty="0"/>
          </a:p>
        </p:txBody>
      </p:sp>
      <p:sp>
        <p:nvSpPr>
          <p:cNvPr id="18" name="Text 16"/>
          <p:cNvSpPr/>
          <p:nvPr/>
        </p:nvSpPr>
        <p:spPr>
          <a:xfrm>
            <a:off x="8507437" y="4796849"/>
            <a:ext cx="3337560" cy="218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noProof="0" dirty="0">
                <a:solidFill>
                  <a:srgbClr val="F43F5E"/>
                </a:solidFill>
              </a:rPr>
              <a:t>$10,469</a:t>
            </a:r>
            <a:endParaRPr lang="en-US" sz="1500" noProof="0" dirty="0"/>
          </a:p>
        </p:txBody>
      </p:sp>
      <p:sp>
        <p:nvSpPr>
          <p:cNvPr id="19" name="Text 17"/>
          <p:cNvSpPr/>
          <p:nvPr/>
        </p:nvSpPr>
        <p:spPr>
          <a:xfrm>
            <a:off x="8507437" y="5052881"/>
            <a:ext cx="3337560" cy="15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noProof="0" dirty="0">
                <a:solidFill>
                  <a:srgbClr val="94A3B8"/>
                </a:solidFill>
              </a:rPr>
              <a:t>Avg Order Value</a:t>
            </a:r>
            <a:endParaRPr lang="en-US" sz="1000" noProof="0" dirty="0"/>
          </a:p>
        </p:txBody>
      </p:sp>
      <p:sp>
        <p:nvSpPr>
          <p:cNvPr id="20" name="Text 18"/>
          <p:cNvSpPr/>
          <p:nvPr/>
        </p:nvSpPr>
        <p:spPr>
          <a:xfrm>
            <a:off x="8507437" y="5235761"/>
            <a:ext cx="3337560" cy="218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noProof="0" dirty="0">
                <a:solidFill>
                  <a:srgbClr val="F43F5E"/>
                </a:solidFill>
              </a:rPr>
              <a:t>$224,886</a:t>
            </a:r>
            <a:endParaRPr lang="en-US" sz="1500" noProof="0" dirty="0"/>
          </a:p>
        </p:txBody>
      </p:sp>
      <p:sp>
        <p:nvSpPr>
          <p:cNvPr id="21" name="Text 19"/>
          <p:cNvSpPr/>
          <p:nvPr/>
        </p:nvSpPr>
        <p:spPr>
          <a:xfrm>
            <a:off x="8507437" y="5491793"/>
            <a:ext cx="3337560" cy="15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noProof="0" dirty="0">
                <a:solidFill>
                  <a:srgbClr val="94A3B8"/>
                </a:solidFill>
              </a:rPr>
              <a:t>Avg Spend / Customer</a:t>
            </a:r>
            <a:endParaRPr lang="en-US" sz="1000" noProof="0" dirty="0"/>
          </a:p>
        </p:txBody>
      </p:sp>
      <p:sp>
        <p:nvSpPr>
          <p:cNvPr id="22" name="Shape 20"/>
          <p:cNvSpPr/>
          <p:nvPr/>
        </p:nvSpPr>
        <p:spPr>
          <a:xfrm>
            <a:off x="8507437" y="5674673"/>
            <a:ext cx="3337560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3" name="Text 21"/>
          <p:cNvSpPr/>
          <p:nvPr/>
        </p:nvSpPr>
        <p:spPr>
          <a:xfrm>
            <a:off x="8507437" y="5747825"/>
            <a:ext cx="3337560" cy="19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3F5E"/>
                </a:solidFill>
              </a:rPr>
              <a:t>Recommendations : </a:t>
            </a:r>
            <a:endParaRPr lang="en-US" sz="1000" noProof="0" dirty="0"/>
          </a:p>
        </p:txBody>
      </p:sp>
      <p:sp>
        <p:nvSpPr>
          <p:cNvPr id="24" name="Text 22"/>
          <p:cNvSpPr/>
          <p:nvPr/>
        </p:nvSpPr>
        <p:spPr>
          <a:xfrm>
            <a:off x="8507437" y="5985569"/>
            <a:ext cx="3337560" cy="584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noProof="0" dirty="0">
                <a:solidFill>
                  <a:srgbClr val="E2E8F0"/>
                </a:solidFill>
              </a:rPr>
              <a:t>Personalized win-back campaigns</a:t>
            </a:r>
            <a:endParaRPr lang="en-US" sz="950" noProof="0" dirty="0"/>
          </a:p>
          <a:p>
            <a:pPr marL="342900" indent="-342900">
              <a:buSzPct val="100000"/>
              <a:buChar char="•"/>
            </a:pPr>
            <a:r>
              <a:rPr lang="en-US" sz="950" noProof="0" dirty="0">
                <a:solidFill>
                  <a:srgbClr val="E2E8F0"/>
                </a:solidFill>
              </a:rPr>
              <a:t>"We miss you" offers</a:t>
            </a:r>
            <a:endParaRPr lang="en-US" sz="950" noProof="0" dirty="0"/>
          </a:p>
          <a:p>
            <a:pPr marL="342900" indent="-342900">
              <a:buSzPct val="100000"/>
              <a:buChar char="•"/>
            </a:pPr>
            <a:r>
              <a:rPr lang="en-US" sz="950" noProof="0" dirty="0">
                <a:solidFill>
                  <a:srgbClr val="E2E8F0"/>
                </a:solidFill>
              </a:rPr>
              <a:t>Urgency promotions &amp; expiring deals</a:t>
            </a:r>
            <a:endParaRPr lang="en-US" sz="950" noProof="0" dirty="0"/>
          </a:p>
        </p:txBody>
      </p:sp>
      <p:graphicFrame>
        <p:nvGraphicFramePr>
          <p:cNvPr id="62" name="Chart 61">
            <a:extLst>
              <a:ext uri="{FF2B5EF4-FFF2-40B4-BE49-F238E27FC236}">
                <a16:creationId xmlns:a16="http://schemas.microsoft.com/office/drawing/2014/main" id="{43950A7E-0587-B4F5-9321-01CCF5BB10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7695448"/>
              </p:ext>
            </p:extLst>
          </p:nvPr>
        </p:nvGraphicFramePr>
        <p:xfrm>
          <a:off x="1181000" y="2543889"/>
          <a:ext cx="6720353" cy="3691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FA61B6-054A-6DC3-C340-22E13FCF0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7ECF350E-5F7F-A003-84A3-3B4EC6B29494}"/>
              </a:ext>
            </a:extLst>
          </p:cNvPr>
          <p:cNvSpPr/>
          <p:nvPr/>
        </p:nvSpPr>
        <p:spPr>
          <a:xfrm>
            <a:off x="785447" y="1150972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Hibernating customers hold the largest customer share of any segment ( 18.6%) </a:t>
            </a:r>
            <a:endParaRPr lang="en-US" sz="2000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0CA4E85-21B1-AB88-FA01-7D4626A049EE}"/>
              </a:ext>
            </a:extLst>
          </p:cNvPr>
          <p:cNvSpPr/>
          <p:nvPr/>
        </p:nvSpPr>
        <p:spPr>
          <a:xfrm>
            <a:off x="892285" y="1765730"/>
            <a:ext cx="9816733" cy="548640"/>
          </a:xfrm>
          <a:prstGeom prst="rect">
            <a:avLst/>
          </a:prstGeom>
          <a:solidFill>
            <a:srgbClr val="1A0508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BEB0B12-8D2B-2D2C-5D45-1494EA4CE70C}"/>
              </a:ext>
            </a:extLst>
          </p:cNvPr>
          <p:cNvSpPr/>
          <p:nvPr/>
        </p:nvSpPr>
        <p:spPr>
          <a:xfrm>
            <a:off x="1019263" y="1765730"/>
            <a:ext cx="95773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50" i="1" noProof="0" dirty="0">
              <a:solidFill>
                <a:srgbClr val="F43F5E"/>
              </a:solidFill>
            </a:endParaRPr>
          </a:p>
          <a:p>
            <a:pPr marL="0" indent="0">
              <a:buNone/>
            </a:pPr>
            <a:r>
              <a:rPr lang="en-US" sz="1350" i="1" noProof="0" dirty="0">
                <a:solidFill>
                  <a:srgbClr val="F43F5E"/>
                </a:solidFill>
              </a:rPr>
              <a:t>Hibernating customers represent broad disengagement but lower average customer value, requiring selective investment.</a:t>
            </a:r>
          </a:p>
          <a:p>
            <a:pPr marL="0" indent="0">
              <a:buNone/>
            </a:pPr>
            <a:endParaRPr lang="en-US" sz="1350" noProof="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48D668B3-D16C-1A7C-C92F-45DC7CF4DCEA}"/>
              </a:ext>
            </a:extLst>
          </p:cNvPr>
          <p:cNvSpPr/>
          <p:nvPr/>
        </p:nvSpPr>
        <p:spPr>
          <a:xfrm>
            <a:off x="8183880" y="2552348"/>
            <a:ext cx="3611880" cy="3813728"/>
          </a:xfrm>
          <a:prstGeom prst="rect">
            <a:avLst/>
          </a:prstGeom>
          <a:solidFill>
            <a:srgbClr val="131F35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2FDDBC59-FC9C-2D2F-540E-787495261F4A}"/>
              </a:ext>
            </a:extLst>
          </p:cNvPr>
          <p:cNvSpPr/>
          <p:nvPr/>
        </p:nvSpPr>
        <p:spPr>
          <a:xfrm>
            <a:off x="8183880" y="2552348"/>
            <a:ext cx="3611880" cy="384048"/>
          </a:xfrm>
          <a:prstGeom prst="rect">
            <a:avLst/>
          </a:prstGeom>
          <a:solidFill>
            <a:schemeClr val="accent5">
              <a:lumMod val="50000"/>
              <a:alpha val="80000"/>
            </a:scheme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E82E5F11-810F-7276-97AA-1263AA19D5E1}"/>
              </a:ext>
            </a:extLst>
          </p:cNvPr>
          <p:cNvSpPr/>
          <p:nvPr/>
        </p:nvSpPr>
        <p:spPr>
          <a:xfrm>
            <a:off x="8321040" y="257063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noProof="0" dirty="0">
                <a:solidFill>
                  <a:srgbClr val="F8FAFC"/>
                </a:solidFill>
              </a:rPr>
              <a:t>Hibernating</a:t>
            </a:r>
            <a:endParaRPr lang="en-US" sz="1400" noProof="0" dirty="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9336D469-AA2C-3628-4F8B-E4F1B8EC69DC}"/>
              </a:ext>
            </a:extLst>
          </p:cNvPr>
          <p:cNvSpPr/>
          <p:nvPr/>
        </p:nvSpPr>
        <p:spPr>
          <a:xfrm>
            <a:off x="8321040" y="3009548"/>
            <a:ext cx="3337560" cy="228600"/>
          </a:xfrm>
          <a:prstGeom prst="roundRect">
            <a:avLst>
              <a:gd name="adj" fmla="val 20000"/>
            </a:avLst>
          </a:prstGeom>
          <a:solidFill>
            <a:schemeClr val="accent5">
              <a:lumMod val="50000"/>
              <a:alpha val="25000"/>
            </a:scheme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1A8DD3B5-269F-AD8E-0AFE-0A76206879F3}"/>
              </a:ext>
            </a:extLst>
          </p:cNvPr>
          <p:cNvSpPr/>
          <p:nvPr/>
        </p:nvSpPr>
        <p:spPr>
          <a:xfrm>
            <a:off x="8321040" y="300954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noProof="0" dirty="0">
                <a:solidFill>
                  <a:srgbClr val="94A3B8"/>
                </a:solidFill>
              </a:rPr>
              <a:t>LOW-COST RECOVERY</a:t>
            </a:r>
            <a:endParaRPr lang="en-US" sz="800" noProof="0" dirty="0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021FFD68-6ADF-9281-342B-A53244A929B4}"/>
              </a:ext>
            </a:extLst>
          </p:cNvPr>
          <p:cNvSpPr/>
          <p:nvPr/>
        </p:nvSpPr>
        <p:spPr>
          <a:xfrm>
            <a:off x="8321040" y="332044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noProof="0" dirty="0">
                <a:solidFill>
                  <a:srgbClr val="94A3B8"/>
                </a:solidFill>
              </a:rPr>
              <a:t>1,484</a:t>
            </a:r>
            <a:endParaRPr lang="en-US" sz="1500" noProof="0" dirty="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38EC47AE-0F00-5AAD-07DD-62904DEA7D54}"/>
              </a:ext>
            </a:extLst>
          </p:cNvPr>
          <p:cNvSpPr/>
          <p:nvPr/>
        </p:nvSpPr>
        <p:spPr>
          <a:xfrm>
            <a:off x="8321040" y="3576476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noProof="0" dirty="0">
                <a:solidFill>
                  <a:srgbClr val="94A3B8"/>
                </a:solidFill>
              </a:rPr>
              <a:t>Customers (18.6%)</a:t>
            </a:r>
            <a:endParaRPr lang="en-US" sz="1000" noProof="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FFEA1330-2E3E-A600-BBD2-8804F1DF1BEE}"/>
              </a:ext>
            </a:extLst>
          </p:cNvPr>
          <p:cNvSpPr/>
          <p:nvPr/>
        </p:nvSpPr>
        <p:spPr>
          <a:xfrm>
            <a:off x="8321040" y="375935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noProof="0" dirty="0">
                <a:solidFill>
                  <a:srgbClr val="94A3B8"/>
                </a:solidFill>
              </a:rPr>
              <a:t>$55.3M</a:t>
            </a:r>
            <a:endParaRPr lang="en-US" sz="1500" noProof="0" dirty="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CD990A1B-51B5-A17A-4A0A-88CD26D00E70}"/>
              </a:ext>
            </a:extLst>
          </p:cNvPr>
          <p:cNvSpPr/>
          <p:nvPr/>
        </p:nvSpPr>
        <p:spPr>
          <a:xfrm>
            <a:off x="8321040" y="4015388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noProof="0" dirty="0">
                <a:solidFill>
                  <a:srgbClr val="94A3B8"/>
                </a:solidFill>
              </a:rPr>
              <a:t>Revenue (4.9%)</a:t>
            </a:r>
            <a:endParaRPr lang="en-US" sz="1000" noProof="0" dirty="0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D4F916BA-A5C1-6327-19A6-0C701F04A288}"/>
              </a:ext>
            </a:extLst>
          </p:cNvPr>
          <p:cNvSpPr/>
          <p:nvPr/>
        </p:nvSpPr>
        <p:spPr>
          <a:xfrm>
            <a:off x="8321040" y="419826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noProof="0" dirty="0">
                <a:solidFill>
                  <a:srgbClr val="94A3B8"/>
                </a:solidFill>
              </a:rPr>
              <a:t>94 days</a:t>
            </a:r>
            <a:endParaRPr lang="en-US" sz="1500" noProof="0" dirty="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7C1C87BF-45D2-6420-F715-5C515B335BDD}"/>
              </a:ext>
            </a:extLst>
          </p:cNvPr>
          <p:cNvSpPr/>
          <p:nvPr/>
        </p:nvSpPr>
        <p:spPr>
          <a:xfrm>
            <a:off x="8321040" y="445430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noProof="0" dirty="0">
                <a:solidFill>
                  <a:srgbClr val="94A3B8"/>
                </a:solidFill>
              </a:rPr>
              <a:t>Avg Recency</a:t>
            </a:r>
            <a:endParaRPr lang="en-US" sz="1000" noProof="0" dirty="0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C37F0059-67F5-374E-EFF8-0B3B37EF1275}"/>
              </a:ext>
            </a:extLst>
          </p:cNvPr>
          <p:cNvSpPr/>
          <p:nvPr/>
        </p:nvSpPr>
        <p:spPr>
          <a:xfrm>
            <a:off x="8321040" y="463718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noProof="0" dirty="0">
                <a:solidFill>
                  <a:srgbClr val="94A3B8"/>
                </a:solidFill>
              </a:rPr>
              <a:t>$6,356</a:t>
            </a:r>
            <a:endParaRPr lang="en-US" sz="1500" noProof="0" dirty="0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C2BBC3A2-D18B-4D42-3F12-4E626FF092FA}"/>
              </a:ext>
            </a:extLst>
          </p:cNvPr>
          <p:cNvSpPr/>
          <p:nvPr/>
        </p:nvSpPr>
        <p:spPr>
          <a:xfrm>
            <a:off x="8321040" y="489321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noProof="0" dirty="0">
                <a:solidFill>
                  <a:srgbClr val="94A3B8"/>
                </a:solidFill>
              </a:rPr>
              <a:t>Avg Order Value</a:t>
            </a:r>
            <a:endParaRPr lang="en-US" sz="1000" noProof="0" dirty="0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8E7F6DFF-CEF7-F157-0EE3-6E0C7706681E}"/>
              </a:ext>
            </a:extLst>
          </p:cNvPr>
          <p:cNvSpPr/>
          <p:nvPr/>
        </p:nvSpPr>
        <p:spPr>
          <a:xfrm>
            <a:off x="8321040" y="507609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noProof="0" dirty="0">
                <a:solidFill>
                  <a:srgbClr val="94A3B8"/>
                </a:solidFill>
              </a:rPr>
              <a:t>$37,231</a:t>
            </a:r>
            <a:endParaRPr lang="en-US" sz="1500" noProof="0" dirty="0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FBEAF399-3D6C-7021-6F8D-5FF8D75076F2}"/>
              </a:ext>
            </a:extLst>
          </p:cNvPr>
          <p:cNvSpPr/>
          <p:nvPr/>
        </p:nvSpPr>
        <p:spPr>
          <a:xfrm>
            <a:off x="8321040" y="5332124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noProof="0" dirty="0">
                <a:solidFill>
                  <a:srgbClr val="94A3B8"/>
                </a:solidFill>
              </a:rPr>
              <a:t>Avg Spend / Customer</a:t>
            </a:r>
            <a:endParaRPr lang="en-US" sz="1000" noProof="0" dirty="0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DC913FDA-5B2E-420E-D1C7-75281E0263C0}"/>
              </a:ext>
            </a:extLst>
          </p:cNvPr>
          <p:cNvSpPr/>
          <p:nvPr/>
        </p:nvSpPr>
        <p:spPr>
          <a:xfrm>
            <a:off x="8321040" y="5515004"/>
            <a:ext cx="3337560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69A5DBCD-6801-555B-4B47-0D2246816F7C}"/>
              </a:ext>
            </a:extLst>
          </p:cNvPr>
          <p:cNvSpPr/>
          <p:nvPr/>
        </p:nvSpPr>
        <p:spPr>
          <a:xfrm>
            <a:off x="8321040" y="5588156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noProof="0" dirty="0">
                <a:solidFill>
                  <a:srgbClr val="94A3B8"/>
                </a:solidFill>
              </a:rPr>
              <a:t>Recovery Actions</a:t>
            </a:r>
            <a:endParaRPr lang="en-US" sz="1000" noProof="0" dirty="0"/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D6B9D629-3FE1-267F-9231-E6B3DEB06F90}"/>
              </a:ext>
            </a:extLst>
          </p:cNvPr>
          <p:cNvSpPr/>
          <p:nvPr/>
        </p:nvSpPr>
        <p:spPr>
          <a:xfrm>
            <a:off x="8321040" y="5825900"/>
            <a:ext cx="3337560" cy="540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noProof="0" dirty="0">
                <a:solidFill>
                  <a:srgbClr val="E2E8F0"/>
                </a:solidFill>
              </a:rPr>
              <a:t>Automated email sequences</a:t>
            </a:r>
            <a:endParaRPr lang="en-US" sz="950" noProof="0" dirty="0"/>
          </a:p>
          <a:p>
            <a:pPr marL="342900" indent="-342900">
              <a:buSzPct val="100000"/>
              <a:buChar char="•"/>
            </a:pPr>
            <a:r>
              <a:rPr lang="en-US" sz="950" noProof="0" dirty="0">
                <a:solidFill>
                  <a:srgbClr val="E2E8F0"/>
                </a:solidFill>
              </a:rPr>
              <a:t>Seasonal reminders</a:t>
            </a:r>
            <a:endParaRPr lang="en-US" sz="950" noProof="0" dirty="0"/>
          </a:p>
          <a:p>
            <a:pPr marL="342900" indent="-342900">
              <a:buSzPct val="100000"/>
              <a:buChar char="•"/>
            </a:pPr>
            <a:r>
              <a:rPr lang="en-US" sz="950" noProof="0" dirty="0">
                <a:solidFill>
                  <a:srgbClr val="E2E8F0"/>
                </a:solidFill>
              </a:rPr>
              <a:t>Broad retargeting campaigns</a:t>
            </a:r>
            <a:endParaRPr lang="en-US" sz="950" noProof="0" dirty="0"/>
          </a:p>
        </p:txBody>
      </p:sp>
      <p:sp>
        <p:nvSpPr>
          <p:cNvPr id="61" name="Shape 0">
            <a:extLst>
              <a:ext uri="{FF2B5EF4-FFF2-40B4-BE49-F238E27FC236}">
                <a16:creationId xmlns:a16="http://schemas.microsoft.com/office/drawing/2014/main" id="{6FE2CDC7-EA1C-CD3C-8CF7-0CF7D8201CFA}"/>
              </a:ext>
            </a:extLst>
          </p:cNvPr>
          <p:cNvSpPr/>
          <p:nvPr/>
        </p:nvSpPr>
        <p:spPr>
          <a:xfrm>
            <a:off x="874713" y="620714"/>
            <a:ext cx="3168650" cy="533366"/>
          </a:xfrm>
          <a:prstGeom prst="roundRect">
            <a:avLst>
              <a:gd name="adj" fmla="val 25000"/>
            </a:avLst>
          </a:prstGeom>
          <a:solidFill>
            <a:srgbClr val="F43F5E">
              <a:alpha val="85000"/>
            </a:srgbClr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2" name="Text 1">
            <a:extLst>
              <a:ext uri="{FF2B5EF4-FFF2-40B4-BE49-F238E27FC236}">
                <a16:creationId xmlns:a16="http://schemas.microsoft.com/office/drawing/2014/main" id="{9D45DC18-309D-6AE3-7B06-8DCFF5F76E8F}"/>
              </a:ext>
            </a:extLst>
          </p:cNvPr>
          <p:cNvSpPr/>
          <p:nvPr/>
        </p:nvSpPr>
        <p:spPr>
          <a:xfrm>
            <a:off x="839544" y="648081"/>
            <a:ext cx="3298702" cy="512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kern="0" spc="300" noProof="0" dirty="0">
                <a:solidFill>
                  <a:srgbClr val="F8FAFC"/>
                </a:solidFill>
              </a:rPr>
              <a:t>FINDING 02—CRITICAL RISK</a:t>
            </a:r>
            <a:endParaRPr lang="en-US" sz="1450" noProof="0" dirty="0"/>
          </a:p>
        </p:txBody>
      </p:sp>
      <p:graphicFrame>
        <p:nvGraphicFramePr>
          <p:cNvPr id="63" name="Chart 62">
            <a:extLst>
              <a:ext uri="{FF2B5EF4-FFF2-40B4-BE49-F238E27FC236}">
                <a16:creationId xmlns:a16="http://schemas.microsoft.com/office/drawing/2014/main" id="{CE768638-40FB-1DAD-0D8A-DFB7946108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07988764"/>
              </p:ext>
            </p:extLst>
          </p:nvPr>
        </p:nvGraphicFramePr>
        <p:xfrm>
          <a:off x="892285" y="2765778"/>
          <a:ext cx="7154434" cy="37459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75195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DAA21F-A79D-377F-F9C2-0FA020CCD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3AEFB72E-3C6C-C654-BA79-18B995A3565E}"/>
              </a:ext>
            </a:extLst>
          </p:cNvPr>
          <p:cNvSpPr/>
          <p:nvPr/>
        </p:nvSpPr>
        <p:spPr>
          <a:xfrm>
            <a:off x="784577" y="113179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Lose Them customers are small but premium-value.</a:t>
            </a:r>
            <a:endParaRPr lang="en-US" sz="2000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92B5785-75D2-3E88-6CDA-16470F1FCD8A}"/>
              </a:ext>
            </a:extLst>
          </p:cNvPr>
          <p:cNvSpPr/>
          <p:nvPr/>
        </p:nvSpPr>
        <p:spPr>
          <a:xfrm>
            <a:off x="944880" y="1751906"/>
            <a:ext cx="9667185" cy="548640"/>
          </a:xfrm>
          <a:prstGeom prst="rect">
            <a:avLst/>
          </a:prstGeom>
          <a:solidFill>
            <a:srgbClr val="1A0508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4F76F41-8063-FA70-9BE5-F1A3E8C150DB}"/>
              </a:ext>
            </a:extLst>
          </p:cNvPr>
          <p:cNvSpPr/>
          <p:nvPr/>
        </p:nvSpPr>
        <p:spPr>
          <a:xfrm>
            <a:off x="1082041" y="1751906"/>
            <a:ext cx="9431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noProof="0" dirty="0">
                <a:solidFill>
                  <a:srgbClr val="F43F5E"/>
                </a:solidFill>
              </a:rPr>
              <a:t>Cannot Lose Them customers are a small but disproportionately valuable premium segment with severe inactivity. </a:t>
            </a: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5D74C59F-045E-2656-BAF5-F4B2B8DD2AEC}"/>
              </a:ext>
            </a:extLst>
          </p:cNvPr>
          <p:cNvSpPr/>
          <p:nvPr/>
        </p:nvSpPr>
        <p:spPr>
          <a:xfrm>
            <a:off x="8229600" y="2523744"/>
            <a:ext cx="3611880" cy="3871412"/>
          </a:xfrm>
          <a:prstGeom prst="rect">
            <a:avLst/>
          </a:prstGeom>
          <a:solidFill>
            <a:srgbClr val="131F35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2CACB5AC-2036-C4A9-CE2B-0CC717574663}"/>
              </a:ext>
            </a:extLst>
          </p:cNvPr>
          <p:cNvSpPr/>
          <p:nvPr/>
        </p:nvSpPr>
        <p:spPr>
          <a:xfrm>
            <a:off x="8229600" y="2523744"/>
            <a:ext cx="3611880" cy="320077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F5843F98-A29F-BF38-CD34-93BC8C605ADF}"/>
              </a:ext>
            </a:extLst>
          </p:cNvPr>
          <p:cNvSpPr/>
          <p:nvPr/>
        </p:nvSpPr>
        <p:spPr>
          <a:xfrm>
            <a:off x="8366760" y="2542032"/>
            <a:ext cx="3337560" cy="289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noProof="0" dirty="0">
                <a:solidFill>
                  <a:srgbClr val="F8FAFC"/>
                </a:solidFill>
              </a:rPr>
              <a:t>Cannot Lose Them</a:t>
            </a:r>
            <a:endParaRPr lang="en-US" sz="1400" noProof="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59E42A33-C396-E1C8-2028-7ADEC78E415C}"/>
              </a:ext>
            </a:extLst>
          </p:cNvPr>
          <p:cNvSpPr/>
          <p:nvPr/>
        </p:nvSpPr>
        <p:spPr>
          <a:xfrm>
            <a:off x="8366760" y="2980944"/>
            <a:ext cx="3337560" cy="190522"/>
          </a:xfrm>
          <a:prstGeom prst="roundRect">
            <a:avLst>
              <a:gd name="adj" fmla="val 20000"/>
            </a:avLst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3A4028DB-F77E-5AAC-1482-245DBCF804E4}"/>
              </a:ext>
            </a:extLst>
          </p:cNvPr>
          <p:cNvSpPr/>
          <p:nvPr/>
        </p:nvSpPr>
        <p:spPr>
          <a:xfrm>
            <a:off x="8366760" y="2980944"/>
            <a:ext cx="3337560" cy="190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noProof="0" dirty="0">
                <a:solidFill>
                  <a:srgbClr val="F59E0B"/>
                </a:solidFill>
              </a:rPr>
              <a:t>PREMIUM RECOVERY</a:t>
            </a:r>
            <a:endParaRPr lang="en-US" sz="800" noProof="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B850F672-817D-8051-1CA4-6A2B092FF7C3}"/>
              </a:ext>
            </a:extLst>
          </p:cNvPr>
          <p:cNvSpPr/>
          <p:nvPr/>
        </p:nvSpPr>
        <p:spPr>
          <a:xfrm>
            <a:off x="8366760" y="3291840"/>
            <a:ext cx="3337560" cy="213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noProof="0" dirty="0">
                <a:solidFill>
                  <a:srgbClr val="F59E0B"/>
                </a:solidFill>
              </a:rPr>
              <a:t>232</a:t>
            </a:r>
            <a:endParaRPr lang="en-US" sz="1500" noProof="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E27AB55B-2D35-CCFB-B925-4417E8CF6B0A}"/>
              </a:ext>
            </a:extLst>
          </p:cNvPr>
          <p:cNvSpPr/>
          <p:nvPr/>
        </p:nvSpPr>
        <p:spPr>
          <a:xfrm>
            <a:off x="8366760" y="3547872"/>
            <a:ext cx="3337560" cy="152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noProof="0" dirty="0">
                <a:solidFill>
                  <a:srgbClr val="94A3B8"/>
                </a:solidFill>
              </a:rPr>
              <a:t>Customers (2.9%)</a:t>
            </a:r>
            <a:endParaRPr lang="en-US" sz="1000" noProof="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4460A9B3-1253-5187-8FB1-1D5802D636F3}"/>
              </a:ext>
            </a:extLst>
          </p:cNvPr>
          <p:cNvSpPr/>
          <p:nvPr/>
        </p:nvSpPr>
        <p:spPr>
          <a:xfrm>
            <a:off x="8366760" y="3730752"/>
            <a:ext cx="3337560" cy="213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noProof="0" dirty="0">
                <a:solidFill>
                  <a:srgbClr val="F59E0B"/>
                </a:solidFill>
              </a:rPr>
              <a:t>$84.7M</a:t>
            </a:r>
            <a:endParaRPr lang="en-US" sz="1500" noProof="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AF45B77E-692C-EA83-0789-8727BD711982}"/>
              </a:ext>
            </a:extLst>
          </p:cNvPr>
          <p:cNvSpPr/>
          <p:nvPr/>
        </p:nvSpPr>
        <p:spPr>
          <a:xfrm>
            <a:off x="8366760" y="3986784"/>
            <a:ext cx="3337560" cy="152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noProof="0" dirty="0">
                <a:solidFill>
                  <a:srgbClr val="94A3B8"/>
                </a:solidFill>
              </a:rPr>
              <a:t>Revenue (7.4%)</a:t>
            </a:r>
            <a:endParaRPr lang="en-US" sz="1000" noProof="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15CDC487-0D55-D315-637D-5103A647F7A6}"/>
              </a:ext>
            </a:extLst>
          </p:cNvPr>
          <p:cNvSpPr/>
          <p:nvPr/>
        </p:nvSpPr>
        <p:spPr>
          <a:xfrm>
            <a:off x="8366760" y="4169664"/>
            <a:ext cx="3337560" cy="213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noProof="0" dirty="0">
                <a:solidFill>
                  <a:srgbClr val="F59E0B"/>
                </a:solidFill>
              </a:rPr>
              <a:t>182 days</a:t>
            </a:r>
            <a:endParaRPr lang="en-US" sz="1500" noProof="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AD0CE3BB-210F-5517-8D81-94CBE98B4927}"/>
              </a:ext>
            </a:extLst>
          </p:cNvPr>
          <p:cNvSpPr/>
          <p:nvPr/>
        </p:nvSpPr>
        <p:spPr>
          <a:xfrm>
            <a:off x="8366760" y="4425696"/>
            <a:ext cx="3337560" cy="152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noProof="0" dirty="0">
                <a:solidFill>
                  <a:srgbClr val="94A3B8"/>
                </a:solidFill>
              </a:rPr>
              <a:t>Avg Recency</a:t>
            </a:r>
            <a:endParaRPr lang="en-US" sz="1000" noProof="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27CFE3BD-5ACD-7D8F-9644-932F14E8BA63}"/>
              </a:ext>
            </a:extLst>
          </p:cNvPr>
          <p:cNvSpPr/>
          <p:nvPr/>
        </p:nvSpPr>
        <p:spPr>
          <a:xfrm>
            <a:off x="8366760" y="4608576"/>
            <a:ext cx="3337560" cy="213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noProof="0" dirty="0">
                <a:solidFill>
                  <a:srgbClr val="F59E0B"/>
                </a:solidFill>
              </a:rPr>
              <a:t>$10,096</a:t>
            </a:r>
            <a:endParaRPr lang="en-US" sz="1500" noProof="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45428583-DB04-B8D0-284A-D1357E29BFA6}"/>
              </a:ext>
            </a:extLst>
          </p:cNvPr>
          <p:cNvSpPr/>
          <p:nvPr/>
        </p:nvSpPr>
        <p:spPr>
          <a:xfrm>
            <a:off x="8366760" y="4864608"/>
            <a:ext cx="3337560" cy="152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noProof="0" dirty="0">
                <a:solidFill>
                  <a:srgbClr val="94A3B8"/>
                </a:solidFill>
              </a:rPr>
              <a:t>Avg Order Value</a:t>
            </a:r>
            <a:endParaRPr lang="en-US" sz="1000" noProof="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5130798B-D892-7D11-27E0-4064A56EF590}"/>
              </a:ext>
            </a:extLst>
          </p:cNvPr>
          <p:cNvSpPr/>
          <p:nvPr/>
        </p:nvSpPr>
        <p:spPr>
          <a:xfrm>
            <a:off x="8366760" y="5047488"/>
            <a:ext cx="3337560" cy="213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noProof="0" dirty="0">
                <a:solidFill>
                  <a:srgbClr val="F59E0B"/>
                </a:solidFill>
              </a:rPr>
              <a:t>$365,123</a:t>
            </a:r>
            <a:endParaRPr lang="en-US" sz="1500" noProof="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8E2B3607-90B1-B9C0-09B7-C402D5B95F0F}"/>
              </a:ext>
            </a:extLst>
          </p:cNvPr>
          <p:cNvSpPr/>
          <p:nvPr/>
        </p:nvSpPr>
        <p:spPr>
          <a:xfrm>
            <a:off x="8366760" y="5303520"/>
            <a:ext cx="3337560" cy="152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noProof="0" dirty="0">
                <a:solidFill>
                  <a:srgbClr val="94A3B8"/>
                </a:solidFill>
              </a:rPr>
              <a:t>Avg Spend / Customer</a:t>
            </a:r>
            <a:endParaRPr lang="en-US" sz="1000" noProof="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3DFBEDB2-B1B1-CB4F-14B5-A067E048C383}"/>
              </a:ext>
            </a:extLst>
          </p:cNvPr>
          <p:cNvSpPr/>
          <p:nvPr/>
        </p:nvSpPr>
        <p:spPr>
          <a:xfrm>
            <a:off x="8366760" y="5486400"/>
            <a:ext cx="3337560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B52F7947-539B-A500-DF19-9CA98E24A803}"/>
              </a:ext>
            </a:extLst>
          </p:cNvPr>
          <p:cNvSpPr/>
          <p:nvPr/>
        </p:nvSpPr>
        <p:spPr>
          <a:xfrm>
            <a:off x="8366760" y="5559552"/>
            <a:ext cx="3337560" cy="190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noProof="0" dirty="0">
                <a:solidFill>
                  <a:srgbClr val="F59E0B"/>
                </a:solidFill>
              </a:rPr>
              <a:t>Recovery Actions</a:t>
            </a:r>
            <a:endParaRPr lang="en-US" sz="1000" noProof="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A457F3A2-57D8-5381-BBA3-7D90BEFB2E36}"/>
              </a:ext>
            </a:extLst>
          </p:cNvPr>
          <p:cNvSpPr/>
          <p:nvPr/>
        </p:nvSpPr>
        <p:spPr>
          <a:xfrm>
            <a:off x="8366760" y="5797296"/>
            <a:ext cx="3337560" cy="57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noProof="0" dirty="0">
                <a:solidFill>
                  <a:srgbClr val="E2E8F0"/>
                </a:solidFill>
              </a:rPr>
              <a:t>VIP comeback offers</a:t>
            </a:r>
            <a:endParaRPr lang="en-US" sz="950" noProof="0" dirty="0"/>
          </a:p>
          <a:p>
            <a:pPr marL="342900" indent="-342900">
              <a:buSzPct val="100000"/>
              <a:buChar char="•"/>
            </a:pPr>
            <a:r>
              <a:rPr lang="en-US" sz="950" noProof="0" dirty="0">
                <a:solidFill>
                  <a:srgbClr val="E2E8F0"/>
                </a:solidFill>
              </a:rPr>
              <a:t>High-touch personalized outreach</a:t>
            </a:r>
            <a:endParaRPr lang="en-US" sz="950" noProof="0" dirty="0"/>
          </a:p>
          <a:p>
            <a:pPr marL="342900" indent="-342900">
              <a:buSzPct val="100000"/>
              <a:buChar char="•"/>
            </a:pPr>
            <a:r>
              <a:rPr lang="en-US" sz="950" noProof="0" dirty="0">
                <a:solidFill>
                  <a:srgbClr val="E2E8F0"/>
                </a:solidFill>
              </a:rPr>
              <a:t>Premium reactivation journeys</a:t>
            </a:r>
            <a:endParaRPr lang="en-US" sz="950" noProof="0" dirty="0"/>
          </a:p>
        </p:txBody>
      </p:sp>
      <p:sp>
        <p:nvSpPr>
          <p:cNvPr id="61" name="Shape 0">
            <a:extLst>
              <a:ext uri="{FF2B5EF4-FFF2-40B4-BE49-F238E27FC236}">
                <a16:creationId xmlns:a16="http://schemas.microsoft.com/office/drawing/2014/main" id="{90F5D065-1ECD-8D08-5E4D-E051C6E2976C}"/>
              </a:ext>
            </a:extLst>
          </p:cNvPr>
          <p:cNvSpPr/>
          <p:nvPr/>
        </p:nvSpPr>
        <p:spPr>
          <a:xfrm>
            <a:off x="874713" y="620714"/>
            <a:ext cx="3168650" cy="533366"/>
          </a:xfrm>
          <a:prstGeom prst="roundRect">
            <a:avLst>
              <a:gd name="adj" fmla="val 25000"/>
            </a:avLst>
          </a:prstGeom>
          <a:solidFill>
            <a:srgbClr val="F43F5E">
              <a:alpha val="85000"/>
            </a:srgbClr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2" name="Text 1">
            <a:extLst>
              <a:ext uri="{FF2B5EF4-FFF2-40B4-BE49-F238E27FC236}">
                <a16:creationId xmlns:a16="http://schemas.microsoft.com/office/drawing/2014/main" id="{8682BA8A-0C7E-D4E5-02A7-CE33BC159479}"/>
              </a:ext>
            </a:extLst>
          </p:cNvPr>
          <p:cNvSpPr/>
          <p:nvPr/>
        </p:nvSpPr>
        <p:spPr>
          <a:xfrm>
            <a:off x="839544" y="648081"/>
            <a:ext cx="3298702" cy="512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kern="0" spc="300" noProof="0" dirty="0">
                <a:solidFill>
                  <a:srgbClr val="F8FAFC"/>
                </a:solidFill>
              </a:rPr>
              <a:t>FINDING 02—CRITICAL RISK</a:t>
            </a:r>
            <a:endParaRPr lang="en-US" sz="1450" noProof="0" dirty="0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4ED8BDE6-7C36-2170-DE05-24F0C4362B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8307106"/>
              </p:ext>
            </p:extLst>
          </p:nvPr>
        </p:nvGraphicFramePr>
        <p:xfrm>
          <a:off x="839544" y="2542032"/>
          <a:ext cx="6984942" cy="36952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213567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9AF0E4-40E7-DAA9-6B0C-60AA88104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0">
            <a:extLst>
              <a:ext uri="{FF2B5EF4-FFF2-40B4-BE49-F238E27FC236}">
                <a16:creationId xmlns:a16="http://schemas.microsoft.com/office/drawing/2014/main" id="{89C59461-D38B-F48A-9B58-C77BF7F8B719}"/>
              </a:ext>
            </a:extLst>
          </p:cNvPr>
          <p:cNvSpPr/>
          <p:nvPr/>
        </p:nvSpPr>
        <p:spPr>
          <a:xfrm>
            <a:off x="874713" y="615983"/>
            <a:ext cx="3168650" cy="544479"/>
          </a:xfrm>
          <a:prstGeom prst="roundRect">
            <a:avLst>
              <a:gd name="adj" fmla="val 25000"/>
            </a:avLst>
          </a:prstGeom>
          <a:solidFill>
            <a:srgbClr val="1A56A0">
              <a:alpha val="85000"/>
            </a:srgbClr>
          </a:solidFill>
          <a:ln w="12700">
            <a:solidFill>
              <a:srgbClr val="1A56A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C783C18-374E-DA8B-9523-FE96022C1829}"/>
              </a:ext>
            </a:extLst>
          </p:cNvPr>
          <p:cNvSpPr/>
          <p:nvPr/>
        </p:nvSpPr>
        <p:spPr>
          <a:xfrm>
            <a:off x="784577" y="1268405"/>
            <a:ext cx="7641793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Growth Pipeline: 30.7% of Customers with Upside Potential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84A84C-773E-4041-8AA6-76A73A3CBA19}"/>
              </a:ext>
            </a:extLst>
          </p:cNvPr>
          <p:cNvSpPr txBox="1"/>
          <p:nvPr/>
        </p:nvSpPr>
        <p:spPr>
          <a:xfrm>
            <a:off x="-552691" y="723926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kern="0" spc="300" noProof="0" dirty="0">
                <a:solidFill>
                  <a:srgbClr val="F8FAFC"/>
                </a:solidFill>
              </a:rPr>
              <a:t>FINDING 03 — GROWTH</a:t>
            </a:r>
            <a:endParaRPr lang="en-US" sz="1800" noProof="0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008B6271-89C1-25A9-E5DF-9806ED944F74}"/>
              </a:ext>
            </a:extLst>
          </p:cNvPr>
          <p:cNvSpPr/>
          <p:nvPr/>
        </p:nvSpPr>
        <p:spPr>
          <a:xfrm>
            <a:off x="457200" y="2075242"/>
            <a:ext cx="3611880" cy="2250300"/>
          </a:xfrm>
          <a:prstGeom prst="rect">
            <a:avLst/>
          </a:prstGeom>
          <a:solidFill>
            <a:srgbClr val="E8F1FA"/>
          </a:solidFill>
          <a:ln w="12700">
            <a:solidFill>
              <a:srgbClr val="B0C9E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2F705FFB-BF8C-A5DB-6B58-30AD125733C3}"/>
              </a:ext>
            </a:extLst>
          </p:cNvPr>
          <p:cNvSpPr/>
          <p:nvPr/>
        </p:nvSpPr>
        <p:spPr>
          <a:xfrm>
            <a:off x="457200" y="2075242"/>
            <a:ext cx="64008" cy="225030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2FCBDD89-DC9C-6B90-F5C3-CB78CC60BE26}"/>
              </a:ext>
            </a:extLst>
          </p:cNvPr>
          <p:cNvSpPr/>
          <p:nvPr/>
        </p:nvSpPr>
        <p:spPr>
          <a:xfrm>
            <a:off x="640080" y="2139250"/>
            <a:ext cx="3291840" cy="36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noProof="0" dirty="0">
                <a:solidFill>
                  <a:srgbClr val="0A1628"/>
                </a:solidFill>
              </a:rPr>
              <a:t>Potential Loyalists</a:t>
            </a:r>
            <a:endParaRPr lang="en-US" sz="1400" noProof="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D51A1446-45C5-8D53-57D0-632261CA9C28}"/>
              </a:ext>
            </a:extLst>
          </p:cNvPr>
          <p:cNvSpPr/>
          <p:nvPr/>
        </p:nvSpPr>
        <p:spPr>
          <a:xfrm>
            <a:off x="640080" y="2541585"/>
            <a:ext cx="1371600" cy="335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4A6080"/>
                </a:solidFill>
              </a:rPr>
              <a:t>Customers:</a:t>
            </a:r>
            <a:endParaRPr lang="en-US" sz="1100" noProof="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88238DF0-EB68-0455-C213-1652AFA7FC92}"/>
              </a:ext>
            </a:extLst>
          </p:cNvPr>
          <p:cNvSpPr/>
          <p:nvPr/>
        </p:nvSpPr>
        <p:spPr>
          <a:xfrm>
            <a:off x="2057400" y="2541585"/>
            <a:ext cx="1920240" cy="335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1A56A0"/>
                </a:solidFill>
              </a:rPr>
              <a:t>1,200</a:t>
            </a:r>
            <a:endParaRPr lang="en-US" sz="1200" noProof="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A6681B85-A53F-5052-2A26-B450DCD62D9F}"/>
              </a:ext>
            </a:extLst>
          </p:cNvPr>
          <p:cNvSpPr/>
          <p:nvPr/>
        </p:nvSpPr>
        <p:spPr>
          <a:xfrm>
            <a:off x="640080" y="2907345"/>
            <a:ext cx="1371600" cy="335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4A6080"/>
                </a:solidFill>
              </a:rPr>
              <a:t>Rev Share:</a:t>
            </a:r>
            <a:endParaRPr lang="en-US" sz="1100" noProof="0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D04BBB28-877E-90CF-DCA3-3EFF9D5B8A83}"/>
              </a:ext>
            </a:extLst>
          </p:cNvPr>
          <p:cNvSpPr/>
          <p:nvPr/>
        </p:nvSpPr>
        <p:spPr>
          <a:xfrm>
            <a:off x="2057400" y="2907345"/>
            <a:ext cx="1920240" cy="335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1A56A0"/>
                </a:solidFill>
              </a:rPr>
              <a:t>$69.6M</a:t>
            </a:r>
            <a:endParaRPr lang="en-US" sz="1200" noProof="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9C957A13-CC2A-EFC7-0C56-0EE5EA45C20C}"/>
              </a:ext>
            </a:extLst>
          </p:cNvPr>
          <p:cNvSpPr/>
          <p:nvPr/>
        </p:nvSpPr>
        <p:spPr>
          <a:xfrm>
            <a:off x="640080" y="3273105"/>
            <a:ext cx="1371600" cy="335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4A6080"/>
                </a:solidFill>
              </a:rPr>
              <a:t>Avg Revenue:</a:t>
            </a:r>
            <a:endParaRPr lang="en-US" sz="1100" noProof="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DFC9C22E-9C30-E706-0AD4-A30E68FB3C85}"/>
              </a:ext>
            </a:extLst>
          </p:cNvPr>
          <p:cNvSpPr/>
          <p:nvPr/>
        </p:nvSpPr>
        <p:spPr>
          <a:xfrm>
            <a:off x="2057400" y="3273105"/>
            <a:ext cx="1920240" cy="335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1A56A0"/>
                </a:solidFill>
              </a:rPr>
              <a:t>$58,028</a:t>
            </a:r>
            <a:endParaRPr lang="en-US" sz="1200" noProof="0" dirty="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897C3DBC-D9C2-E4C7-47B5-A45D986A2D48}"/>
              </a:ext>
            </a:extLst>
          </p:cNvPr>
          <p:cNvSpPr/>
          <p:nvPr/>
        </p:nvSpPr>
        <p:spPr>
          <a:xfrm>
            <a:off x="640080" y="3638865"/>
            <a:ext cx="1371600" cy="335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4A6080"/>
                </a:solidFill>
              </a:rPr>
              <a:t>Avg Recency:</a:t>
            </a:r>
            <a:endParaRPr lang="en-US" sz="1100" noProof="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72D08DA4-C7F9-5C74-8904-A82D6B127BCC}"/>
              </a:ext>
            </a:extLst>
          </p:cNvPr>
          <p:cNvSpPr/>
          <p:nvPr/>
        </p:nvSpPr>
        <p:spPr>
          <a:xfrm>
            <a:off x="2057400" y="3638865"/>
            <a:ext cx="1920240" cy="335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1A56A0"/>
                </a:solidFill>
              </a:rPr>
              <a:t>24 days</a:t>
            </a:r>
            <a:endParaRPr lang="en-US" sz="1200" noProof="0" dirty="0"/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747B6F94-477D-C14F-038F-9F77F3231AFC}"/>
              </a:ext>
            </a:extLst>
          </p:cNvPr>
          <p:cNvSpPr/>
          <p:nvPr/>
        </p:nvSpPr>
        <p:spPr>
          <a:xfrm>
            <a:off x="4251960" y="2075242"/>
            <a:ext cx="3611880" cy="2250300"/>
          </a:xfrm>
          <a:prstGeom prst="rect">
            <a:avLst/>
          </a:prstGeom>
          <a:solidFill>
            <a:srgbClr val="E8F1FA"/>
          </a:solidFill>
          <a:ln w="12700">
            <a:solidFill>
              <a:srgbClr val="B0C9E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C3FBC1EF-B733-8641-E56F-D7F05375099D}"/>
              </a:ext>
            </a:extLst>
          </p:cNvPr>
          <p:cNvSpPr/>
          <p:nvPr/>
        </p:nvSpPr>
        <p:spPr>
          <a:xfrm>
            <a:off x="4251960" y="2075242"/>
            <a:ext cx="64008" cy="22503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297EDF98-FEDA-192C-4A1C-34BB6416FF8E}"/>
              </a:ext>
            </a:extLst>
          </p:cNvPr>
          <p:cNvSpPr/>
          <p:nvPr/>
        </p:nvSpPr>
        <p:spPr>
          <a:xfrm>
            <a:off x="4434840" y="2139250"/>
            <a:ext cx="3291840" cy="36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noProof="0" dirty="0">
                <a:solidFill>
                  <a:srgbClr val="0A1628"/>
                </a:solidFill>
              </a:rPr>
              <a:t>New Customers</a:t>
            </a:r>
            <a:endParaRPr lang="en-US" sz="1400" noProof="0" dirty="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3A09D454-31B0-FA89-E0B3-8461BA88DB67}"/>
              </a:ext>
            </a:extLst>
          </p:cNvPr>
          <p:cNvSpPr/>
          <p:nvPr/>
        </p:nvSpPr>
        <p:spPr>
          <a:xfrm>
            <a:off x="4434840" y="2541585"/>
            <a:ext cx="1371600" cy="335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4A6080"/>
                </a:solidFill>
              </a:rPr>
              <a:t>Customers:</a:t>
            </a:r>
            <a:endParaRPr lang="en-US" sz="1100" noProof="0" dirty="0"/>
          </a:p>
        </p:txBody>
      </p:sp>
      <p:sp>
        <p:nvSpPr>
          <p:cNvPr id="43" name="Text 18">
            <a:extLst>
              <a:ext uri="{FF2B5EF4-FFF2-40B4-BE49-F238E27FC236}">
                <a16:creationId xmlns:a16="http://schemas.microsoft.com/office/drawing/2014/main" id="{80410F41-400B-29E6-EAF0-A2E8CB49FD8B}"/>
              </a:ext>
            </a:extLst>
          </p:cNvPr>
          <p:cNvSpPr/>
          <p:nvPr/>
        </p:nvSpPr>
        <p:spPr>
          <a:xfrm>
            <a:off x="5852160" y="2541585"/>
            <a:ext cx="1920240" cy="335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0EA5E9"/>
                </a:solidFill>
              </a:rPr>
              <a:t>867</a:t>
            </a:r>
            <a:endParaRPr lang="en-US" sz="1200" noProof="0" dirty="0"/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727AE1FD-EB0F-D136-B46F-626F55C26DAF}"/>
              </a:ext>
            </a:extLst>
          </p:cNvPr>
          <p:cNvSpPr/>
          <p:nvPr/>
        </p:nvSpPr>
        <p:spPr>
          <a:xfrm>
            <a:off x="4434840" y="2907345"/>
            <a:ext cx="1371600" cy="335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4A6080"/>
                </a:solidFill>
              </a:rPr>
              <a:t>Rev Share:</a:t>
            </a:r>
            <a:endParaRPr lang="en-US" sz="1100" noProof="0" dirty="0"/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1DA04EE3-FD78-9836-F375-EFDC8079A9C0}"/>
              </a:ext>
            </a:extLst>
          </p:cNvPr>
          <p:cNvSpPr/>
          <p:nvPr/>
        </p:nvSpPr>
        <p:spPr>
          <a:xfrm>
            <a:off x="5852160" y="2907345"/>
            <a:ext cx="1920240" cy="335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0EA5E9"/>
                </a:solidFill>
              </a:rPr>
              <a:t>$12.4M</a:t>
            </a:r>
            <a:endParaRPr lang="en-US" sz="1200" noProof="0" dirty="0"/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6ACACBFB-8CDE-DB53-9DA9-7BDD974F8C5E}"/>
              </a:ext>
            </a:extLst>
          </p:cNvPr>
          <p:cNvSpPr/>
          <p:nvPr/>
        </p:nvSpPr>
        <p:spPr>
          <a:xfrm>
            <a:off x="4434840" y="3273105"/>
            <a:ext cx="1371600" cy="335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4A6080"/>
                </a:solidFill>
              </a:rPr>
              <a:t>Avg Revenue:</a:t>
            </a:r>
            <a:endParaRPr lang="en-US" sz="1100" noProof="0" dirty="0"/>
          </a:p>
        </p:txBody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35D4D7FE-0D7F-7D67-37DB-B95BA2D04DB9}"/>
              </a:ext>
            </a:extLst>
          </p:cNvPr>
          <p:cNvSpPr/>
          <p:nvPr/>
        </p:nvSpPr>
        <p:spPr>
          <a:xfrm>
            <a:off x="5852160" y="3273105"/>
            <a:ext cx="1920240" cy="335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0EA5E9"/>
                </a:solidFill>
              </a:rPr>
              <a:t>$14,307</a:t>
            </a:r>
            <a:endParaRPr lang="en-US" sz="1200" noProof="0" dirty="0"/>
          </a:p>
        </p:txBody>
      </p:sp>
      <p:sp>
        <p:nvSpPr>
          <p:cNvPr id="48" name="Text 23">
            <a:extLst>
              <a:ext uri="{FF2B5EF4-FFF2-40B4-BE49-F238E27FC236}">
                <a16:creationId xmlns:a16="http://schemas.microsoft.com/office/drawing/2014/main" id="{34AF9BA4-89F9-B1FA-3C4B-A247F0A41E1E}"/>
              </a:ext>
            </a:extLst>
          </p:cNvPr>
          <p:cNvSpPr/>
          <p:nvPr/>
        </p:nvSpPr>
        <p:spPr>
          <a:xfrm>
            <a:off x="4434840" y="3638865"/>
            <a:ext cx="1371600" cy="335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4A6080"/>
                </a:solidFill>
              </a:rPr>
              <a:t>Avg Recency:</a:t>
            </a:r>
            <a:endParaRPr lang="en-US" sz="1100" noProof="0" dirty="0"/>
          </a:p>
        </p:txBody>
      </p:sp>
      <p:sp>
        <p:nvSpPr>
          <p:cNvPr id="49" name="Text 24">
            <a:extLst>
              <a:ext uri="{FF2B5EF4-FFF2-40B4-BE49-F238E27FC236}">
                <a16:creationId xmlns:a16="http://schemas.microsoft.com/office/drawing/2014/main" id="{BC589316-AD1E-3BFA-E90A-B53C4B15E2F9}"/>
              </a:ext>
            </a:extLst>
          </p:cNvPr>
          <p:cNvSpPr/>
          <p:nvPr/>
        </p:nvSpPr>
        <p:spPr>
          <a:xfrm>
            <a:off x="5852160" y="3638865"/>
            <a:ext cx="1920240" cy="335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0EA5E9"/>
                </a:solidFill>
              </a:rPr>
              <a:t>19 days</a:t>
            </a:r>
            <a:endParaRPr lang="en-US" sz="1200" noProof="0" dirty="0"/>
          </a:p>
        </p:txBody>
      </p:sp>
      <p:sp>
        <p:nvSpPr>
          <p:cNvPr id="50" name="Shape 25">
            <a:extLst>
              <a:ext uri="{FF2B5EF4-FFF2-40B4-BE49-F238E27FC236}">
                <a16:creationId xmlns:a16="http://schemas.microsoft.com/office/drawing/2014/main" id="{BB6A96A7-0DA0-78CC-CFC7-5CE863896FD2}"/>
              </a:ext>
            </a:extLst>
          </p:cNvPr>
          <p:cNvSpPr/>
          <p:nvPr/>
        </p:nvSpPr>
        <p:spPr>
          <a:xfrm>
            <a:off x="8046720" y="2075242"/>
            <a:ext cx="3611880" cy="2250300"/>
          </a:xfrm>
          <a:prstGeom prst="rect">
            <a:avLst/>
          </a:prstGeom>
          <a:solidFill>
            <a:srgbClr val="E8F1FA"/>
          </a:solidFill>
          <a:ln w="12700">
            <a:solidFill>
              <a:srgbClr val="B0C9E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1" name="Shape 26">
            <a:extLst>
              <a:ext uri="{FF2B5EF4-FFF2-40B4-BE49-F238E27FC236}">
                <a16:creationId xmlns:a16="http://schemas.microsoft.com/office/drawing/2014/main" id="{A5E44FB4-318B-4E19-4CF1-08CDDAF42A1D}"/>
              </a:ext>
            </a:extLst>
          </p:cNvPr>
          <p:cNvSpPr/>
          <p:nvPr/>
        </p:nvSpPr>
        <p:spPr>
          <a:xfrm>
            <a:off x="8046720" y="2075242"/>
            <a:ext cx="64008" cy="22503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4A0805FD-1D8F-8270-FFC9-49116A7CBF99}"/>
              </a:ext>
            </a:extLst>
          </p:cNvPr>
          <p:cNvSpPr/>
          <p:nvPr/>
        </p:nvSpPr>
        <p:spPr>
          <a:xfrm>
            <a:off x="8229600" y="2139250"/>
            <a:ext cx="3291840" cy="36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noProof="0" dirty="0">
                <a:solidFill>
                  <a:srgbClr val="0A1628"/>
                </a:solidFill>
              </a:rPr>
              <a:t>Promising</a:t>
            </a:r>
            <a:endParaRPr lang="en-US" sz="1400" noProof="0" dirty="0"/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F680D34-295C-E272-8EDD-E287C6E25F79}"/>
              </a:ext>
            </a:extLst>
          </p:cNvPr>
          <p:cNvSpPr/>
          <p:nvPr/>
        </p:nvSpPr>
        <p:spPr>
          <a:xfrm>
            <a:off x="8229600" y="2541585"/>
            <a:ext cx="1371600" cy="335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4A6080"/>
                </a:solidFill>
              </a:rPr>
              <a:t>Customers:</a:t>
            </a:r>
            <a:endParaRPr lang="en-US" sz="1100" noProof="0" dirty="0"/>
          </a:p>
        </p:txBody>
      </p:sp>
      <p:sp>
        <p:nvSpPr>
          <p:cNvPr id="54" name="Text 29">
            <a:extLst>
              <a:ext uri="{FF2B5EF4-FFF2-40B4-BE49-F238E27FC236}">
                <a16:creationId xmlns:a16="http://schemas.microsoft.com/office/drawing/2014/main" id="{2A1F4235-1795-EAD9-02B8-51947E898C03}"/>
              </a:ext>
            </a:extLst>
          </p:cNvPr>
          <p:cNvSpPr/>
          <p:nvPr/>
        </p:nvSpPr>
        <p:spPr>
          <a:xfrm>
            <a:off x="9646920" y="2541585"/>
            <a:ext cx="1920240" cy="335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8B5CF6"/>
                </a:solidFill>
              </a:rPr>
              <a:t>375</a:t>
            </a:r>
            <a:endParaRPr lang="en-US" sz="1200" noProof="0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DF72B941-369E-02D4-1814-A2032074FB05}"/>
              </a:ext>
            </a:extLst>
          </p:cNvPr>
          <p:cNvSpPr/>
          <p:nvPr/>
        </p:nvSpPr>
        <p:spPr>
          <a:xfrm>
            <a:off x="8229600" y="2907345"/>
            <a:ext cx="1371600" cy="335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4A6080"/>
                </a:solidFill>
              </a:rPr>
              <a:t>Rev Share:</a:t>
            </a:r>
            <a:endParaRPr lang="en-US" sz="1100" noProof="0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07BD88E1-AB69-3CFE-063B-1BE597B4FCD1}"/>
              </a:ext>
            </a:extLst>
          </p:cNvPr>
          <p:cNvSpPr/>
          <p:nvPr/>
        </p:nvSpPr>
        <p:spPr>
          <a:xfrm>
            <a:off x="9646920" y="2907345"/>
            <a:ext cx="1920240" cy="335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8B5CF6"/>
                </a:solidFill>
              </a:rPr>
              <a:t>$27.4M</a:t>
            </a:r>
            <a:endParaRPr lang="en-US" sz="1200" noProof="0" dirty="0"/>
          </a:p>
        </p:txBody>
      </p:sp>
      <p:sp>
        <p:nvSpPr>
          <p:cNvPr id="57" name="Text 32">
            <a:extLst>
              <a:ext uri="{FF2B5EF4-FFF2-40B4-BE49-F238E27FC236}">
                <a16:creationId xmlns:a16="http://schemas.microsoft.com/office/drawing/2014/main" id="{8FD7B90F-1A6B-4A80-28E4-F93EEE63B763}"/>
              </a:ext>
            </a:extLst>
          </p:cNvPr>
          <p:cNvSpPr/>
          <p:nvPr/>
        </p:nvSpPr>
        <p:spPr>
          <a:xfrm>
            <a:off x="8229600" y="3273105"/>
            <a:ext cx="1371600" cy="335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4A6080"/>
                </a:solidFill>
              </a:rPr>
              <a:t>Avg Revenue:</a:t>
            </a:r>
            <a:endParaRPr lang="en-US" sz="1100" noProof="0" dirty="0"/>
          </a:p>
        </p:txBody>
      </p:sp>
      <p:sp>
        <p:nvSpPr>
          <p:cNvPr id="58" name="Text 33">
            <a:extLst>
              <a:ext uri="{FF2B5EF4-FFF2-40B4-BE49-F238E27FC236}">
                <a16:creationId xmlns:a16="http://schemas.microsoft.com/office/drawing/2014/main" id="{96D6E223-BB81-2247-2545-25DA1C047B0E}"/>
              </a:ext>
            </a:extLst>
          </p:cNvPr>
          <p:cNvSpPr/>
          <p:nvPr/>
        </p:nvSpPr>
        <p:spPr>
          <a:xfrm>
            <a:off x="9646920" y="3273105"/>
            <a:ext cx="1920240" cy="335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8B5CF6"/>
                </a:solidFill>
              </a:rPr>
              <a:t>$72,957</a:t>
            </a:r>
            <a:endParaRPr lang="en-US" sz="1200" noProof="0" dirty="0"/>
          </a:p>
        </p:txBody>
      </p:sp>
      <p:sp>
        <p:nvSpPr>
          <p:cNvPr id="59" name="Text 34">
            <a:extLst>
              <a:ext uri="{FF2B5EF4-FFF2-40B4-BE49-F238E27FC236}">
                <a16:creationId xmlns:a16="http://schemas.microsoft.com/office/drawing/2014/main" id="{4771CF72-DE1C-B7B7-D974-6F0D6CFC9948}"/>
              </a:ext>
            </a:extLst>
          </p:cNvPr>
          <p:cNvSpPr/>
          <p:nvPr/>
        </p:nvSpPr>
        <p:spPr>
          <a:xfrm>
            <a:off x="8229600" y="3638865"/>
            <a:ext cx="1371600" cy="335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4A6080"/>
                </a:solidFill>
              </a:rPr>
              <a:t>Avg Recency:</a:t>
            </a:r>
            <a:endParaRPr lang="en-US" sz="1100" noProof="0" dirty="0"/>
          </a:p>
        </p:txBody>
      </p:sp>
      <p:sp>
        <p:nvSpPr>
          <p:cNvPr id="60" name="Text 35">
            <a:extLst>
              <a:ext uri="{FF2B5EF4-FFF2-40B4-BE49-F238E27FC236}">
                <a16:creationId xmlns:a16="http://schemas.microsoft.com/office/drawing/2014/main" id="{C3DAF377-3A7A-4F16-641B-B3DABCB1FAFE}"/>
              </a:ext>
            </a:extLst>
          </p:cNvPr>
          <p:cNvSpPr/>
          <p:nvPr/>
        </p:nvSpPr>
        <p:spPr>
          <a:xfrm>
            <a:off x="9646920" y="3638865"/>
            <a:ext cx="1920240" cy="335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8B5CF6"/>
                </a:solidFill>
              </a:rPr>
              <a:t>9 days</a:t>
            </a:r>
            <a:endParaRPr lang="en-US" sz="1200" noProof="0" dirty="0"/>
          </a:p>
        </p:txBody>
      </p:sp>
      <p:sp>
        <p:nvSpPr>
          <p:cNvPr id="63" name="Text 36">
            <a:extLst>
              <a:ext uri="{FF2B5EF4-FFF2-40B4-BE49-F238E27FC236}">
                <a16:creationId xmlns:a16="http://schemas.microsoft.com/office/drawing/2014/main" id="{E3699700-4AAC-54DF-719F-AE9122E2C722}"/>
              </a:ext>
            </a:extLst>
          </p:cNvPr>
          <p:cNvSpPr/>
          <p:nvPr/>
        </p:nvSpPr>
        <p:spPr>
          <a:xfrm>
            <a:off x="457200" y="4315522"/>
            <a:ext cx="11247120" cy="36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noProof="0" dirty="0">
                <a:solidFill>
                  <a:srgbClr val="0A1628"/>
                </a:solidFill>
              </a:rPr>
              <a:t>Conversion Strategy</a:t>
            </a:r>
            <a:endParaRPr lang="en-US" sz="1400" noProof="0" dirty="0"/>
          </a:p>
        </p:txBody>
      </p:sp>
      <p:sp>
        <p:nvSpPr>
          <p:cNvPr id="64" name="Shape 37">
            <a:extLst>
              <a:ext uri="{FF2B5EF4-FFF2-40B4-BE49-F238E27FC236}">
                <a16:creationId xmlns:a16="http://schemas.microsoft.com/office/drawing/2014/main" id="{A7535A9E-F630-E42D-4C61-4BA764065396}"/>
              </a:ext>
            </a:extLst>
          </p:cNvPr>
          <p:cNvSpPr/>
          <p:nvPr/>
        </p:nvSpPr>
        <p:spPr>
          <a:xfrm>
            <a:off x="457200" y="4699570"/>
            <a:ext cx="3611880" cy="1710657"/>
          </a:xfrm>
          <a:prstGeom prst="rect">
            <a:avLst/>
          </a:prstGeom>
          <a:solidFill>
            <a:srgbClr val="E2EEF9"/>
          </a:solidFill>
          <a:ln w="12700">
            <a:solidFill>
              <a:srgbClr val="1A56A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5" name="Shape 38">
            <a:extLst>
              <a:ext uri="{FF2B5EF4-FFF2-40B4-BE49-F238E27FC236}">
                <a16:creationId xmlns:a16="http://schemas.microsoft.com/office/drawing/2014/main" id="{7B223F78-46BA-852B-00CB-FA2355268D83}"/>
              </a:ext>
            </a:extLst>
          </p:cNvPr>
          <p:cNvSpPr/>
          <p:nvPr/>
        </p:nvSpPr>
        <p:spPr>
          <a:xfrm>
            <a:off x="457200" y="4699570"/>
            <a:ext cx="3611880" cy="383030"/>
          </a:xfrm>
          <a:prstGeom prst="rect">
            <a:avLst/>
          </a:prstGeom>
          <a:solidFill>
            <a:srgbClr val="1A56A0">
              <a:alpha val="80000"/>
            </a:srgbClr>
          </a:solidFill>
          <a:ln w="12700">
            <a:solidFill>
              <a:srgbClr val="1A56A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6" name="Text 39">
            <a:extLst>
              <a:ext uri="{FF2B5EF4-FFF2-40B4-BE49-F238E27FC236}">
                <a16:creationId xmlns:a16="http://schemas.microsoft.com/office/drawing/2014/main" id="{8810B73B-514D-4C6B-6E20-4DC8E12F0353}"/>
              </a:ext>
            </a:extLst>
          </p:cNvPr>
          <p:cNvSpPr/>
          <p:nvPr/>
        </p:nvSpPr>
        <p:spPr>
          <a:xfrm>
            <a:off x="594360" y="4717857"/>
            <a:ext cx="3383280" cy="344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noProof="0" dirty="0">
                <a:solidFill>
                  <a:srgbClr val="FFFFFF"/>
                </a:solidFill>
              </a:rPr>
              <a:t>Potential Loyalists → Loyal</a:t>
            </a:r>
            <a:endParaRPr lang="en-US" sz="1150" noProof="0" dirty="0"/>
          </a:p>
        </p:txBody>
      </p:sp>
      <p:sp>
        <p:nvSpPr>
          <p:cNvPr id="67" name="Text 40">
            <a:extLst>
              <a:ext uri="{FF2B5EF4-FFF2-40B4-BE49-F238E27FC236}">
                <a16:creationId xmlns:a16="http://schemas.microsoft.com/office/drawing/2014/main" id="{1552414D-DA4E-CDBE-2723-22E67DED2ABB}"/>
              </a:ext>
            </a:extLst>
          </p:cNvPr>
          <p:cNvSpPr/>
          <p:nvPr/>
        </p:nvSpPr>
        <p:spPr>
          <a:xfrm>
            <a:off x="594360" y="5152560"/>
            <a:ext cx="3383280" cy="1963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endParaRPr lang="ar-MA" sz="1100" noProof="0" dirty="0">
              <a:solidFill>
                <a:srgbClr val="334155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100" noProof="0" dirty="0">
                <a:solidFill>
                  <a:srgbClr val="334155"/>
                </a:solidFill>
              </a:rPr>
              <a:t>Loyalty rewards &amp; tier progression</a:t>
            </a:r>
            <a:endParaRPr lang="en-US" sz="1100" noProof="0" dirty="0"/>
          </a:p>
          <a:p>
            <a:pPr marL="342900" indent="-342900">
              <a:buSzPct val="100000"/>
              <a:buChar char="•"/>
            </a:pPr>
            <a:r>
              <a:rPr lang="en-US" sz="1100" noProof="0" dirty="0">
                <a:solidFill>
                  <a:srgbClr val="334155"/>
                </a:solidFill>
              </a:rPr>
              <a:t>Repeat purchase incentives</a:t>
            </a:r>
            <a:endParaRPr lang="en-US" sz="1100" noProof="0" dirty="0"/>
          </a:p>
          <a:p>
            <a:pPr marL="342900" indent="-342900">
              <a:buSzPct val="100000"/>
              <a:buChar char="•"/>
            </a:pPr>
            <a:r>
              <a:rPr lang="en-US" sz="1100" noProof="0" dirty="0">
                <a:solidFill>
                  <a:srgbClr val="334155"/>
                </a:solidFill>
              </a:rPr>
              <a:t>Personalized category offers</a:t>
            </a:r>
            <a:endParaRPr lang="en-US" sz="1100" noProof="0" dirty="0"/>
          </a:p>
          <a:p>
            <a:pPr marL="342900" indent="-342900">
              <a:buSzPct val="100000"/>
              <a:buChar char="•"/>
            </a:pPr>
            <a:r>
              <a:rPr lang="en-US" sz="1100" noProof="0" dirty="0">
                <a:solidFill>
                  <a:srgbClr val="334155"/>
                </a:solidFill>
              </a:rPr>
              <a:t>Purchase frequency nudges</a:t>
            </a:r>
            <a:endParaRPr lang="en-US" sz="1100" noProof="0" dirty="0"/>
          </a:p>
        </p:txBody>
      </p:sp>
      <p:sp>
        <p:nvSpPr>
          <p:cNvPr id="68" name="Shape 41">
            <a:extLst>
              <a:ext uri="{FF2B5EF4-FFF2-40B4-BE49-F238E27FC236}">
                <a16:creationId xmlns:a16="http://schemas.microsoft.com/office/drawing/2014/main" id="{98059E62-FBD7-A561-D4E5-10F33D3CF6EF}"/>
              </a:ext>
            </a:extLst>
          </p:cNvPr>
          <p:cNvSpPr/>
          <p:nvPr/>
        </p:nvSpPr>
        <p:spPr>
          <a:xfrm>
            <a:off x="4251960" y="4699570"/>
            <a:ext cx="3611880" cy="1710657"/>
          </a:xfrm>
          <a:prstGeom prst="rect">
            <a:avLst/>
          </a:prstGeom>
          <a:solidFill>
            <a:srgbClr val="E2EEF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9" name="Shape 42">
            <a:extLst>
              <a:ext uri="{FF2B5EF4-FFF2-40B4-BE49-F238E27FC236}">
                <a16:creationId xmlns:a16="http://schemas.microsoft.com/office/drawing/2014/main" id="{0DF2DB50-7DFE-E26A-576E-61BE2EBF6240}"/>
              </a:ext>
            </a:extLst>
          </p:cNvPr>
          <p:cNvSpPr/>
          <p:nvPr/>
        </p:nvSpPr>
        <p:spPr>
          <a:xfrm>
            <a:off x="4251960" y="4699570"/>
            <a:ext cx="3611880" cy="383030"/>
          </a:xfrm>
          <a:prstGeom prst="rect">
            <a:avLst/>
          </a:prstGeom>
          <a:solidFill>
            <a:srgbClr val="0EA5E9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0" name="Text 43">
            <a:extLst>
              <a:ext uri="{FF2B5EF4-FFF2-40B4-BE49-F238E27FC236}">
                <a16:creationId xmlns:a16="http://schemas.microsoft.com/office/drawing/2014/main" id="{B20B728E-A90D-4677-6B31-92C102F45963}"/>
              </a:ext>
            </a:extLst>
          </p:cNvPr>
          <p:cNvSpPr/>
          <p:nvPr/>
        </p:nvSpPr>
        <p:spPr>
          <a:xfrm>
            <a:off x="4389120" y="4717857"/>
            <a:ext cx="3383280" cy="344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noProof="0" dirty="0">
                <a:solidFill>
                  <a:srgbClr val="FFFFFF"/>
                </a:solidFill>
              </a:rPr>
              <a:t>New Customers → Repeat Buyers</a:t>
            </a:r>
            <a:endParaRPr lang="en-US" sz="1150" noProof="0" dirty="0"/>
          </a:p>
        </p:txBody>
      </p:sp>
      <p:sp>
        <p:nvSpPr>
          <p:cNvPr id="71" name="Text 44">
            <a:extLst>
              <a:ext uri="{FF2B5EF4-FFF2-40B4-BE49-F238E27FC236}">
                <a16:creationId xmlns:a16="http://schemas.microsoft.com/office/drawing/2014/main" id="{776A5348-692C-8BD9-0F28-AA118857DDCB}"/>
              </a:ext>
            </a:extLst>
          </p:cNvPr>
          <p:cNvSpPr/>
          <p:nvPr/>
        </p:nvSpPr>
        <p:spPr>
          <a:xfrm>
            <a:off x="4404360" y="5152560"/>
            <a:ext cx="3383280" cy="1963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100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noProof="0" dirty="0"/>
              <a:t>Welcome email journeys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noProof="0" dirty="0"/>
              <a:t>First-to-second purchase discounts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noProof="0" dirty="0"/>
              <a:t>Educational content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noProof="0" dirty="0"/>
              <a:t>Trust-building campaigns  </a:t>
            </a:r>
          </a:p>
        </p:txBody>
      </p:sp>
      <p:sp>
        <p:nvSpPr>
          <p:cNvPr id="72" name="Shape 45">
            <a:extLst>
              <a:ext uri="{FF2B5EF4-FFF2-40B4-BE49-F238E27FC236}">
                <a16:creationId xmlns:a16="http://schemas.microsoft.com/office/drawing/2014/main" id="{766B6CC9-83BB-610E-A9EB-4558609806A5}"/>
              </a:ext>
            </a:extLst>
          </p:cNvPr>
          <p:cNvSpPr/>
          <p:nvPr/>
        </p:nvSpPr>
        <p:spPr>
          <a:xfrm>
            <a:off x="8046720" y="4699570"/>
            <a:ext cx="3611880" cy="1710657"/>
          </a:xfrm>
          <a:prstGeom prst="rect">
            <a:avLst/>
          </a:prstGeom>
          <a:solidFill>
            <a:srgbClr val="E2EEF9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3" name="Shape 46">
            <a:extLst>
              <a:ext uri="{FF2B5EF4-FFF2-40B4-BE49-F238E27FC236}">
                <a16:creationId xmlns:a16="http://schemas.microsoft.com/office/drawing/2014/main" id="{36BB0062-CCC4-375E-1DC7-D6D777E016BA}"/>
              </a:ext>
            </a:extLst>
          </p:cNvPr>
          <p:cNvSpPr/>
          <p:nvPr/>
        </p:nvSpPr>
        <p:spPr>
          <a:xfrm>
            <a:off x="8046720" y="4699570"/>
            <a:ext cx="3611880" cy="383030"/>
          </a:xfrm>
          <a:prstGeom prst="rect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4" name="Text 47">
            <a:extLst>
              <a:ext uri="{FF2B5EF4-FFF2-40B4-BE49-F238E27FC236}">
                <a16:creationId xmlns:a16="http://schemas.microsoft.com/office/drawing/2014/main" id="{E7FD0577-8F6B-A309-1CCE-50ECD13FCFF6}"/>
              </a:ext>
            </a:extLst>
          </p:cNvPr>
          <p:cNvSpPr/>
          <p:nvPr/>
        </p:nvSpPr>
        <p:spPr>
          <a:xfrm>
            <a:off x="8183880" y="4717857"/>
            <a:ext cx="3383280" cy="344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noProof="0" dirty="0">
                <a:solidFill>
                  <a:srgbClr val="FFFFFF"/>
                </a:solidFill>
              </a:rPr>
              <a:t>Promising → Loyal/Champion</a:t>
            </a:r>
            <a:endParaRPr lang="en-US" sz="1150" noProof="0" dirty="0"/>
          </a:p>
        </p:txBody>
      </p:sp>
      <p:sp>
        <p:nvSpPr>
          <p:cNvPr id="75" name="Text 48">
            <a:extLst>
              <a:ext uri="{FF2B5EF4-FFF2-40B4-BE49-F238E27FC236}">
                <a16:creationId xmlns:a16="http://schemas.microsoft.com/office/drawing/2014/main" id="{29305877-0EC2-2440-5801-9A402210FE78}"/>
              </a:ext>
            </a:extLst>
          </p:cNvPr>
          <p:cNvSpPr/>
          <p:nvPr/>
        </p:nvSpPr>
        <p:spPr>
          <a:xfrm>
            <a:off x="8229600" y="5111013"/>
            <a:ext cx="3383280" cy="1963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100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noProof="0" dirty="0"/>
              <a:t>Premium bundles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noProof="0" dirty="0"/>
              <a:t>Frequency incentives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noProof="0" dirty="0"/>
              <a:t>High-ticket recommendations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noProof="0" dirty="0"/>
              <a:t>Early loyalty conversion strategy</a:t>
            </a:r>
          </a:p>
        </p:txBody>
      </p:sp>
    </p:spTree>
    <p:extLst>
      <p:ext uri="{BB962C8B-B14F-4D97-AF65-F5344CB8AC3E}">
        <p14:creationId xmlns:p14="http://schemas.microsoft.com/office/powerpoint/2010/main" val="1178667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4713" y="612647"/>
            <a:ext cx="3168650" cy="512891"/>
          </a:xfrm>
          <a:prstGeom prst="roundRect">
            <a:avLst>
              <a:gd name="adj" fmla="val 25000"/>
            </a:avLst>
          </a:prstGeom>
          <a:solidFill>
            <a:srgbClr val="8B5CF6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Text 1"/>
          <p:cNvSpPr/>
          <p:nvPr/>
        </p:nvSpPr>
        <p:spPr>
          <a:xfrm>
            <a:off x="524106" y="264953"/>
            <a:ext cx="3794760" cy="1254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noProof="0" dirty="0">
                <a:solidFill>
                  <a:srgbClr val="F8FAFC"/>
                </a:solidFill>
              </a:rPr>
              <a:t>FINDING 04 — NEWSLETTER</a:t>
            </a:r>
            <a:endParaRPr lang="en-US" sz="1400" noProof="0" dirty="0"/>
          </a:p>
        </p:txBody>
      </p:sp>
      <p:sp>
        <p:nvSpPr>
          <p:cNvPr id="4" name="Text 2"/>
          <p:cNvSpPr/>
          <p:nvPr/>
        </p:nvSpPr>
        <p:spPr>
          <a:xfrm>
            <a:off x="780585" y="1264104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Subscriber Rate, But Minimal Revenue Differentiation</a:t>
            </a:r>
            <a:endParaRPr lang="en-US" sz="24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2151072"/>
            <a:ext cx="2651760" cy="914400"/>
          </a:xfrm>
          <a:prstGeom prst="rect">
            <a:avLst/>
          </a:prstGeom>
          <a:solidFill>
            <a:srgbClr val="131F35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221508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noProof="0" dirty="0">
                <a:solidFill>
                  <a:srgbClr val="38BDF8"/>
                </a:solidFill>
              </a:rPr>
              <a:t>61.7%</a:t>
            </a:r>
            <a:endParaRPr lang="en-US" sz="2400" noProof="0" dirty="0"/>
          </a:p>
        </p:txBody>
      </p:sp>
      <p:sp>
        <p:nvSpPr>
          <p:cNvPr id="7" name="Text 5"/>
          <p:cNvSpPr/>
          <p:nvPr/>
        </p:nvSpPr>
        <p:spPr>
          <a:xfrm>
            <a:off x="457200" y="26905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noProof="0" dirty="0">
                <a:solidFill>
                  <a:srgbClr val="94A3B8"/>
                </a:solidFill>
              </a:rPr>
              <a:t>Subscribers</a:t>
            </a:r>
            <a:endParaRPr lang="en-US" sz="1100" noProof="0" dirty="0"/>
          </a:p>
        </p:txBody>
      </p:sp>
      <p:sp>
        <p:nvSpPr>
          <p:cNvPr id="8" name="Shape 6"/>
          <p:cNvSpPr/>
          <p:nvPr/>
        </p:nvSpPr>
        <p:spPr>
          <a:xfrm>
            <a:off x="3291840" y="2151072"/>
            <a:ext cx="2651760" cy="914400"/>
          </a:xfrm>
          <a:prstGeom prst="rect">
            <a:avLst/>
          </a:prstGeom>
          <a:solidFill>
            <a:srgbClr val="131F35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" name="Text 7"/>
          <p:cNvSpPr/>
          <p:nvPr/>
        </p:nvSpPr>
        <p:spPr>
          <a:xfrm>
            <a:off x="3291840" y="221508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noProof="0" dirty="0">
                <a:solidFill>
                  <a:srgbClr val="F59E0B"/>
                </a:solidFill>
              </a:rPr>
              <a:t>+0.23%</a:t>
            </a:r>
            <a:endParaRPr lang="en-US" sz="2400" noProof="0" dirty="0"/>
          </a:p>
        </p:txBody>
      </p:sp>
      <p:sp>
        <p:nvSpPr>
          <p:cNvPr id="10" name="Text 8"/>
          <p:cNvSpPr/>
          <p:nvPr/>
        </p:nvSpPr>
        <p:spPr>
          <a:xfrm>
            <a:off x="3291840" y="26905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noProof="0" dirty="0">
                <a:solidFill>
                  <a:srgbClr val="94A3B8"/>
                </a:solidFill>
              </a:rPr>
              <a:t>Subscriber Lift</a:t>
            </a:r>
            <a:endParaRPr lang="en-US" sz="1100" noProof="0" dirty="0"/>
          </a:p>
        </p:txBody>
      </p:sp>
      <p:sp>
        <p:nvSpPr>
          <p:cNvPr id="11" name="Shape 9"/>
          <p:cNvSpPr/>
          <p:nvPr/>
        </p:nvSpPr>
        <p:spPr>
          <a:xfrm>
            <a:off x="6126480" y="2151072"/>
            <a:ext cx="2651760" cy="914400"/>
          </a:xfrm>
          <a:prstGeom prst="rect">
            <a:avLst/>
          </a:prstGeom>
          <a:solidFill>
            <a:srgbClr val="131F3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10"/>
          <p:cNvSpPr/>
          <p:nvPr/>
        </p:nvSpPr>
        <p:spPr>
          <a:xfrm>
            <a:off x="6126480" y="221508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noProof="0" dirty="0">
                <a:solidFill>
                  <a:srgbClr val="10B981"/>
                </a:solidFill>
              </a:rPr>
              <a:t>$142,260</a:t>
            </a:r>
            <a:endParaRPr lang="en-US" sz="2400" noProof="0" dirty="0"/>
          </a:p>
        </p:txBody>
      </p:sp>
      <p:sp>
        <p:nvSpPr>
          <p:cNvPr id="13" name="Text 11"/>
          <p:cNvSpPr/>
          <p:nvPr/>
        </p:nvSpPr>
        <p:spPr>
          <a:xfrm>
            <a:off x="6126480" y="26905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noProof="0" dirty="0">
                <a:solidFill>
                  <a:srgbClr val="94A3B8"/>
                </a:solidFill>
              </a:rPr>
              <a:t>Subscriber Avg Spend</a:t>
            </a:r>
            <a:endParaRPr lang="en-US" sz="1100" noProof="0" dirty="0"/>
          </a:p>
        </p:txBody>
      </p:sp>
      <p:sp>
        <p:nvSpPr>
          <p:cNvPr id="14" name="Shape 12"/>
          <p:cNvSpPr/>
          <p:nvPr/>
        </p:nvSpPr>
        <p:spPr>
          <a:xfrm>
            <a:off x="8961120" y="2151072"/>
            <a:ext cx="2651760" cy="914400"/>
          </a:xfrm>
          <a:prstGeom prst="rect">
            <a:avLst/>
          </a:prstGeom>
          <a:solidFill>
            <a:srgbClr val="131F35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5" name="Text 13"/>
          <p:cNvSpPr/>
          <p:nvPr/>
        </p:nvSpPr>
        <p:spPr>
          <a:xfrm>
            <a:off x="8961120" y="221508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noProof="0" dirty="0">
                <a:solidFill>
                  <a:srgbClr val="94A3B8"/>
                </a:solidFill>
              </a:rPr>
              <a:t>$141,931</a:t>
            </a:r>
            <a:endParaRPr lang="en-US" sz="2400" noProof="0" dirty="0"/>
          </a:p>
        </p:txBody>
      </p:sp>
      <p:sp>
        <p:nvSpPr>
          <p:cNvPr id="16" name="Text 14"/>
          <p:cNvSpPr/>
          <p:nvPr/>
        </p:nvSpPr>
        <p:spPr>
          <a:xfrm>
            <a:off x="8961120" y="26905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noProof="0" dirty="0">
                <a:solidFill>
                  <a:srgbClr val="94A3B8"/>
                </a:solidFill>
              </a:rPr>
              <a:t>Non-Subscriber Avg Spend</a:t>
            </a:r>
            <a:endParaRPr lang="en-US" sz="1100" noProof="0" dirty="0"/>
          </a:p>
        </p:txBody>
      </p:sp>
      <p:sp>
        <p:nvSpPr>
          <p:cNvPr id="17" name="Shape 15"/>
          <p:cNvSpPr/>
          <p:nvPr/>
        </p:nvSpPr>
        <p:spPr>
          <a:xfrm>
            <a:off x="1550019" y="3281244"/>
            <a:ext cx="8787161" cy="713232"/>
          </a:xfrm>
          <a:prstGeom prst="rect">
            <a:avLst/>
          </a:prstGeom>
          <a:solidFill>
            <a:srgbClr val="0E0B1A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8" name="Text 16"/>
          <p:cNvSpPr/>
          <p:nvPr/>
        </p:nvSpPr>
        <p:spPr>
          <a:xfrm>
            <a:off x="1609122" y="3344694"/>
            <a:ext cx="10972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noProof="0" dirty="0">
                <a:solidFill>
                  <a:srgbClr val="8B5CF6"/>
                </a:solidFill>
              </a:rPr>
              <a:t>Although newsletter adoption is high, subscriber spending behavior is nearly identical to non-subscribers </a:t>
            </a:r>
          </a:p>
          <a:p>
            <a:pPr marL="0" indent="0">
              <a:buNone/>
            </a:pPr>
            <a:r>
              <a:rPr lang="en-US" sz="1250" i="1" noProof="0" dirty="0">
                <a:solidFill>
                  <a:srgbClr val="8B5CF6"/>
                </a:solidFill>
              </a:rPr>
              <a:t>The newsletter functions as a broadcast tool, not a personalized retention engine.</a:t>
            </a:r>
            <a:endParaRPr lang="en-US" sz="1250" noProof="0" dirty="0"/>
          </a:p>
        </p:txBody>
      </p:sp>
      <p:sp>
        <p:nvSpPr>
          <p:cNvPr id="19" name="Text 17"/>
          <p:cNvSpPr/>
          <p:nvPr/>
        </p:nvSpPr>
        <p:spPr>
          <a:xfrm>
            <a:off x="472440" y="4026480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noProof="0" dirty="0">
                <a:solidFill>
                  <a:srgbClr val="E2E8F0"/>
                </a:solidFill>
              </a:rPr>
              <a:t>3-Phase Transformation Plan</a:t>
            </a:r>
            <a:endParaRPr lang="en-US" sz="1300" noProof="0" dirty="0"/>
          </a:p>
        </p:txBody>
      </p:sp>
      <p:sp>
        <p:nvSpPr>
          <p:cNvPr id="20" name="Shape 18"/>
          <p:cNvSpPr/>
          <p:nvPr/>
        </p:nvSpPr>
        <p:spPr>
          <a:xfrm>
            <a:off x="457200" y="4392464"/>
            <a:ext cx="3611880" cy="1573437"/>
          </a:xfrm>
          <a:prstGeom prst="rect">
            <a:avLst/>
          </a:prstGeom>
          <a:solidFill>
            <a:srgbClr val="131F35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1" name="Shape 19"/>
          <p:cNvSpPr/>
          <p:nvPr/>
        </p:nvSpPr>
        <p:spPr>
          <a:xfrm>
            <a:off x="457200" y="4392464"/>
            <a:ext cx="3611880" cy="384048"/>
          </a:xfrm>
          <a:prstGeom prst="rect">
            <a:avLst/>
          </a:prstGeom>
          <a:solidFill>
            <a:srgbClr val="F43F5E">
              <a:alpha val="80000"/>
            </a:srgbClr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2" name="Text 20"/>
          <p:cNvSpPr/>
          <p:nvPr/>
        </p:nvSpPr>
        <p:spPr>
          <a:xfrm>
            <a:off x="594360" y="44107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noProof="0" dirty="0">
                <a:solidFill>
                  <a:srgbClr val="F8FAFC"/>
                </a:solidFill>
              </a:rPr>
              <a:t>Phase 1 — Diagnose</a:t>
            </a:r>
            <a:endParaRPr lang="en-US" sz="1150" noProof="0" dirty="0"/>
          </a:p>
        </p:txBody>
      </p:sp>
      <p:sp>
        <p:nvSpPr>
          <p:cNvPr id="23" name="Text 21"/>
          <p:cNvSpPr/>
          <p:nvPr/>
        </p:nvSpPr>
        <p:spPr>
          <a:xfrm>
            <a:off x="594360" y="4840520"/>
            <a:ext cx="3383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endParaRPr lang="en-US" sz="1100" noProof="0" dirty="0">
              <a:solidFill>
                <a:srgbClr val="E2E8F0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100" noProof="0" dirty="0">
                <a:solidFill>
                  <a:srgbClr val="E2E8F0"/>
                </a:solidFill>
              </a:rPr>
              <a:t>Analyze open rates, CTR, conversion</a:t>
            </a:r>
            <a:endParaRPr lang="en-US" sz="1100" noProof="0" dirty="0"/>
          </a:p>
          <a:p>
            <a:pPr marL="342900" indent="-342900">
              <a:buSzPct val="100000"/>
              <a:buChar char="•"/>
            </a:pPr>
            <a:r>
              <a:rPr lang="en-US" sz="1100" noProof="0" dirty="0">
                <a:solidFill>
                  <a:srgbClr val="E2E8F0"/>
                </a:solidFill>
              </a:rPr>
              <a:t>Segment-level performance audit</a:t>
            </a:r>
            <a:endParaRPr lang="en-US" sz="1100" noProof="0" dirty="0"/>
          </a:p>
          <a:p>
            <a:pPr marL="342900" indent="-342900">
              <a:buSzPct val="100000"/>
              <a:buChar char="•"/>
            </a:pPr>
            <a:r>
              <a:rPr lang="en-US" sz="1100" noProof="0" dirty="0">
                <a:solidFill>
                  <a:srgbClr val="E2E8F0"/>
                </a:solidFill>
              </a:rPr>
              <a:t>Identify unsubscribe &amp; fatigue patterns</a:t>
            </a:r>
            <a:endParaRPr lang="en-US" sz="1100" noProof="0" dirty="0"/>
          </a:p>
        </p:txBody>
      </p:sp>
      <p:sp>
        <p:nvSpPr>
          <p:cNvPr id="24" name="Shape 22"/>
          <p:cNvSpPr/>
          <p:nvPr/>
        </p:nvSpPr>
        <p:spPr>
          <a:xfrm>
            <a:off x="4251960" y="4392464"/>
            <a:ext cx="3611880" cy="1573437"/>
          </a:xfrm>
          <a:prstGeom prst="rect">
            <a:avLst/>
          </a:prstGeom>
          <a:solidFill>
            <a:srgbClr val="131F35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5" name="Shape 23"/>
          <p:cNvSpPr/>
          <p:nvPr/>
        </p:nvSpPr>
        <p:spPr>
          <a:xfrm>
            <a:off x="4251960" y="4392464"/>
            <a:ext cx="3611880" cy="38404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6" name="Text 24"/>
          <p:cNvSpPr/>
          <p:nvPr/>
        </p:nvSpPr>
        <p:spPr>
          <a:xfrm>
            <a:off x="4389120" y="44107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noProof="0" dirty="0">
                <a:solidFill>
                  <a:srgbClr val="F8FAFC"/>
                </a:solidFill>
              </a:rPr>
              <a:t>Phase 2 — Personalize by RFM Segment</a:t>
            </a:r>
            <a:endParaRPr lang="en-US" sz="1150" noProof="0" dirty="0"/>
          </a:p>
        </p:txBody>
      </p:sp>
      <p:sp>
        <p:nvSpPr>
          <p:cNvPr id="27" name="Text 25"/>
          <p:cNvSpPr/>
          <p:nvPr/>
        </p:nvSpPr>
        <p:spPr>
          <a:xfrm>
            <a:off x="4389120" y="4840520"/>
            <a:ext cx="3383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endParaRPr lang="en-US" sz="1100" noProof="0" dirty="0">
              <a:solidFill>
                <a:srgbClr val="E2E8F0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100" noProof="0" dirty="0">
                <a:solidFill>
                  <a:srgbClr val="E2E8F0"/>
                </a:solidFill>
              </a:rPr>
              <a:t>Champions: VIP exclusives</a:t>
            </a:r>
            <a:endParaRPr lang="en-US" sz="1100" noProof="0" dirty="0"/>
          </a:p>
          <a:p>
            <a:pPr marL="342900" indent="-342900">
              <a:buSzPct val="100000"/>
              <a:buChar char="•"/>
            </a:pPr>
            <a:r>
              <a:rPr lang="en-US" sz="1100" noProof="0" dirty="0">
                <a:solidFill>
                  <a:srgbClr val="E2E8F0"/>
                </a:solidFill>
              </a:rPr>
              <a:t>At Risk: Win-back campaigns</a:t>
            </a:r>
            <a:endParaRPr lang="en-US" sz="1100" noProof="0" dirty="0"/>
          </a:p>
          <a:p>
            <a:pPr marL="342900" indent="-342900">
              <a:buSzPct val="100000"/>
              <a:buChar char="•"/>
            </a:pPr>
            <a:r>
              <a:rPr lang="en-US" sz="1100" noProof="0" dirty="0">
                <a:solidFill>
                  <a:srgbClr val="E2E8F0"/>
                </a:solidFill>
              </a:rPr>
              <a:t>New Customers: Welcome journey</a:t>
            </a:r>
            <a:endParaRPr lang="en-US" sz="1100" noProof="0" dirty="0"/>
          </a:p>
          <a:p>
            <a:pPr marL="342900" indent="-342900">
              <a:buSzPct val="100000"/>
              <a:buChar char="•"/>
            </a:pPr>
            <a:r>
              <a:rPr lang="en-US" sz="1100" noProof="0" dirty="0">
                <a:solidFill>
                  <a:srgbClr val="E2E8F0"/>
                </a:solidFill>
              </a:rPr>
              <a:t>Loyal: Upsell, loyalty progression</a:t>
            </a:r>
            <a:endParaRPr lang="en-US" sz="1100" noProof="0" dirty="0"/>
          </a:p>
        </p:txBody>
      </p:sp>
      <p:sp>
        <p:nvSpPr>
          <p:cNvPr id="28" name="Shape 26"/>
          <p:cNvSpPr/>
          <p:nvPr/>
        </p:nvSpPr>
        <p:spPr>
          <a:xfrm>
            <a:off x="8046720" y="4392464"/>
            <a:ext cx="3611880" cy="1573437"/>
          </a:xfrm>
          <a:prstGeom prst="rect">
            <a:avLst/>
          </a:prstGeom>
          <a:solidFill>
            <a:srgbClr val="131F3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9" name="Shape 27"/>
          <p:cNvSpPr/>
          <p:nvPr/>
        </p:nvSpPr>
        <p:spPr>
          <a:xfrm>
            <a:off x="8046720" y="4392464"/>
            <a:ext cx="3611880" cy="384048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0" name="Text 28"/>
          <p:cNvSpPr/>
          <p:nvPr/>
        </p:nvSpPr>
        <p:spPr>
          <a:xfrm>
            <a:off x="8183880" y="44107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noProof="0" dirty="0">
                <a:solidFill>
                  <a:srgbClr val="F8FAFC"/>
                </a:solidFill>
              </a:rPr>
              <a:t>Phase 3 — Optimize Content</a:t>
            </a:r>
            <a:endParaRPr lang="en-US" sz="1150" noProof="0" dirty="0"/>
          </a:p>
        </p:txBody>
      </p:sp>
      <p:sp>
        <p:nvSpPr>
          <p:cNvPr id="31" name="Text 29"/>
          <p:cNvSpPr/>
          <p:nvPr/>
        </p:nvSpPr>
        <p:spPr>
          <a:xfrm>
            <a:off x="8183880" y="4840520"/>
            <a:ext cx="3383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endParaRPr lang="en-US" sz="1100" noProof="0" dirty="0">
              <a:solidFill>
                <a:srgbClr val="E2E8F0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100" noProof="0" dirty="0">
                <a:solidFill>
                  <a:srgbClr val="E2E8F0"/>
                </a:solidFill>
              </a:rPr>
              <a:t>Behavioral trigger campaigns</a:t>
            </a:r>
            <a:endParaRPr lang="en-US" sz="1100" noProof="0" dirty="0"/>
          </a:p>
          <a:p>
            <a:pPr marL="342900" indent="-342900">
              <a:buSzPct val="100000"/>
              <a:buChar char="•"/>
            </a:pPr>
            <a:r>
              <a:rPr lang="en-US" sz="1100" noProof="0" dirty="0">
                <a:solidFill>
                  <a:srgbClr val="E2E8F0"/>
                </a:solidFill>
              </a:rPr>
              <a:t>A/B testing subject lines &amp; offers</a:t>
            </a:r>
            <a:endParaRPr lang="en-US" sz="1100" noProof="0" dirty="0"/>
          </a:p>
          <a:p>
            <a:pPr marL="342900" indent="-342900">
              <a:buSzPct val="100000"/>
              <a:buChar char="•"/>
            </a:pPr>
            <a:r>
              <a:rPr lang="en-US" sz="1100" noProof="0" dirty="0">
                <a:solidFill>
                  <a:srgbClr val="E2E8F0"/>
                </a:solidFill>
              </a:rPr>
              <a:t>Send timing optimization</a:t>
            </a:r>
            <a:endParaRPr lang="en-US" sz="1100" noProof="0" dirty="0"/>
          </a:p>
          <a:p>
            <a:pPr marL="342900" indent="-342900">
              <a:buSzPct val="100000"/>
              <a:buChar char="•"/>
            </a:pPr>
            <a:r>
              <a:rPr lang="en-US" sz="1100" noProof="0" dirty="0">
                <a:solidFill>
                  <a:srgbClr val="E2E8F0"/>
                </a:solidFill>
              </a:rPr>
              <a:t>Category-based targeting</a:t>
            </a:r>
            <a:endParaRPr lang="en-US" sz="110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98A67C-0412-8215-B675-FD00D4F33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994ADB0-D125-880C-F284-D1FB2C5A74EA}"/>
              </a:ext>
            </a:extLst>
          </p:cNvPr>
          <p:cNvSpPr/>
          <p:nvPr/>
        </p:nvSpPr>
        <p:spPr>
          <a:xfrm>
            <a:off x="874713" y="612647"/>
            <a:ext cx="3168650" cy="512891"/>
          </a:xfrm>
          <a:prstGeom prst="roundRect">
            <a:avLst>
              <a:gd name="adj" fmla="val 25000"/>
            </a:avLst>
          </a:prstGeom>
          <a:solidFill>
            <a:srgbClr val="38BDF8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817C00E-07D3-215C-D120-238EE0EC2C47}"/>
              </a:ext>
            </a:extLst>
          </p:cNvPr>
          <p:cNvSpPr/>
          <p:nvPr/>
        </p:nvSpPr>
        <p:spPr>
          <a:xfrm>
            <a:off x="524106" y="264953"/>
            <a:ext cx="3794760" cy="1254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kern="0" spc="300" dirty="0">
                <a:solidFill>
                  <a:srgbClr val="F8FAFC"/>
                </a:solidFill>
              </a:rPr>
              <a:t> FINDING 05 — ACQUISITION</a:t>
            </a:r>
            <a:endParaRPr lang="en-US" sz="1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5D2E1E2-5AC1-2C51-9AEE-3A9C52310663}"/>
              </a:ext>
            </a:extLst>
          </p:cNvPr>
          <p:cNvSpPr/>
          <p:nvPr/>
        </p:nvSpPr>
        <p:spPr>
          <a:xfrm>
            <a:off x="780585" y="1264104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Channels: Scale vs. Quality Trade-Off</a:t>
            </a:r>
          </a:p>
        </p:txBody>
      </p:sp>
      <p:sp>
        <p:nvSpPr>
          <p:cNvPr id="32" name="Shape 3">
            <a:extLst>
              <a:ext uri="{FF2B5EF4-FFF2-40B4-BE49-F238E27FC236}">
                <a16:creationId xmlns:a16="http://schemas.microsoft.com/office/drawing/2014/main" id="{49DF5D78-B99D-430E-348D-AF28EB974E9F}"/>
              </a:ext>
            </a:extLst>
          </p:cNvPr>
          <p:cNvSpPr/>
          <p:nvPr/>
        </p:nvSpPr>
        <p:spPr>
          <a:xfrm>
            <a:off x="7254686" y="1542439"/>
            <a:ext cx="4754880" cy="1572768"/>
          </a:xfrm>
          <a:prstGeom prst="rect">
            <a:avLst/>
          </a:prstGeom>
          <a:solidFill>
            <a:srgbClr val="E8F1FA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38BD8602-EADD-0F3D-6B40-42D60FECDBA4}"/>
              </a:ext>
            </a:extLst>
          </p:cNvPr>
          <p:cNvSpPr/>
          <p:nvPr/>
        </p:nvSpPr>
        <p:spPr>
          <a:xfrm>
            <a:off x="7254686" y="1542439"/>
            <a:ext cx="64008" cy="15727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B92DD1BC-031C-AD23-6A3C-D21FB2155D96}"/>
              </a:ext>
            </a:extLst>
          </p:cNvPr>
          <p:cNvSpPr/>
          <p:nvPr/>
        </p:nvSpPr>
        <p:spPr>
          <a:xfrm>
            <a:off x="7410134" y="1633879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noProof="0" dirty="0">
                <a:solidFill>
                  <a:srgbClr val="0A1628"/>
                </a:solidFill>
              </a:rPr>
              <a:t>Direct</a:t>
            </a:r>
            <a:endParaRPr lang="en-US" sz="1300" noProof="0" dirty="0"/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6A334A10-AC5A-70D4-E09B-0070825077F9}"/>
              </a:ext>
            </a:extLst>
          </p:cNvPr>
          <p:cNvSpPr/>
          <p:nvPr/>
        </p:nvSpPr>
        <p:spPr>
          <a:xfrm>
            <a:off x="7410134" y="1944775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noProof="0" dirty="0">
                <a:solidFill>
                  <a:srgbClr val="10B981"/>
                </a:solidFill>
              </a:rPr>
              <a:t>Highest Quality</a:t>
            </a:r>
            <a:endParaRPr lang="en-US" sz="1000" noProof="0" dirty="0"/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77BA67D0-00FD-74C8-B611-D560D0901F7B}"/>
              </a:ext>
            </a:extLst>
          </p:cNvPr>
          <p:cNvSpPr/>
          <p:nvPr/>
        </p:nvSpPr>
        <p:spPr>
          <a:xfrm>
            <a:off x="7410134" y="2219095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noProof="0" dirty="0">
                <a:solidFill>
                  <a:srgbClr val="334155"/>
                </a:solidFill>
              </a:rPr>
              <a:t>Share: 10.3%  |  Avg Spend: $151K</a:t>
            </a:r>
            <a:endParaRPr lang="en-US" sz="1100" noProof="0" dirty="0"/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5EE74877-E9D0-DBBE-272E-74A92D356DB0}"/>
              </a:ext>
            </a:extLst>
          </p:cNvPr>
          <p:cNvSpPr/>
          <p:nvPr/>
        </p:nvSpPr>
        <p:spPr>
          <a:xfrm>
            <a:off x="7410134" y="2511703"/>
            <a:ext cx="4480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4A6080"/>
                </a:solidFill>
              </a:rPr>
              <a:t>Protect &amp; strengthen. Brand trust, loyalty ecosystems, retention.</a:t>
            </a:r>
            <a:endParaRPr lang="en-US" sz="1050" noProof="0" dirty="0"/>
          </a:p>
        </p:txBody>
      </p:sp>
      <p:sp>
        <p:nvSpPr>
          <p:cNvPr id="38" name="Shape 9">
            <a:extLst>
              <a:ext uri="{FF2B5EF4-FFF2-40B4-BE49-F238E27FC236}">
                <a16:creationId xmlns:a16="http://schemas.microsoft.com/office/drawing/2014/main" id="{0184FB08-CF68-E7DE-3505-B3AB9B8B6B40}"/>
              </a:ext>
            </a:extLst>
          </p:cNvPr>
          <p:cNvSpPr/>
          <p:nvPr/>
        </p:nvSpPr>
        <p:spPr>
          <a:xfrm>
            <a:off x="7254686" y="3261511"/>
            <a:ext cx="4754880" cy="1572768"/>
          </a:xfrm>
          <a:prstGeom prst="rect">
            <a:avLst/>
          </a:prstGeom>
          <a:solidFill>
            <a:srgbClr val="E8F1FA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9" name="Shape 10">
            <a:extLst>
              <a:ext uri="{FF2B5EF4-FFF2-40B4-BE49-F238E27FC236}">
                <a16:creationId xmlns:a16="http://schemas.microsoft.com/office/drawing/2014/main" id="{EE2BED72-1D5D-2033-A1C7-DAD010EB6BAE}"/>
              </a:ext>
            </a:extLst>
          </p:cNvPr>
          <p:cNvSpPr/>
          <p:nvPr/>
        </p:nvSpPr>
        <p:spPr>
          <a:xfrm>
            <a:off x="7254686" y="3261511"/>
            <a:ext cx="64008" cy="15727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39934C41-3C17-7F4C-00A4-5E32C5BD5FE3}"/>
              </a:ext>
            </a:extLst>
          </p:cNvPr>
          <p:cNvSpPr/>
          <p:nvPr/>
        </p:nvSpPr>
        <p:spPr>
          <a:xfrm>
            <a:off x="7410134" y="3352951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noProof="0" dirty="0">
                <a:solidFill>
                  <a:srgbClr val="0A1628"/>
                </a:solidFill>
              </a:rPr>
              <a:t>Organic Search</a:t>
            </a:r>
            <a:endParaRPr lang="en-US" sz="1300" noProof="0" dirty="0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26823BFE-6CD9-CAE0-CD6B-9EE3E83CA7BC}"/>
              </a:ext>
            </a:extLst>
          </p:cNvPr>
          <p:cNvSpPr/>
          <p:nvPr/>
        </p:nvSpPr>
        <p:spPr>
          <a:xfrm>
            <a:off x="7410134" y="3663847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noProof="0" dirty="0">
                <a:solidFill>
                  <a:srgbClr val="38BDF8"/>
                </a:solidFill>
              </a:rPr>
              <a:t>Best Scale/Quality Balance</a:t>
            </a:r>
            <a:endParaRPr lang="en-US" sz="1000" noProof="0" dirty="0"/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5F675BB1-A441-B048-02AB-FCD3C418ED24}"/>
              </a:ext>
            </a:extLst>
          </p:cNvPr>
          <p:cNvSpPr/>
          <p:nvPr/>
        </p:nvSpPr>
        <p:spPr>
          <a:xfrm>
            <a:off x="7410134" y="3938167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noProof="0" dirty="0">
                <a:solidFill>
                  <a:srgbClr val="334155"/>
                </a:solidFill>
              </a:rPr>
              <a:t>Share: 27.4%  |  Avg Spend: $141K</a:t>
            </a:r>
            <a:endParaRPr lang="en-US" sz="1100" noProof="0" dirty="0"/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E4D38C80-46F2-5C76-F0AA-74E06EBF6BC3}"/>
              </a:ext>
            </a:extLst>
          </p:cNvPr>
          <p:cNvSpPr/>
          <p:nvPr/>
        </p:nvSpPr>
        <p:spPr>
          <a:xfrm>
            <a:off x="7410134" y="4230775"/>
            <a:ext cx="46538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4A6080"/>
                </a:solidFill>
              </a:rPr>
              <a:t>Scale aggressively. SEO investment, category landing pages, conversion optimization.</a:t>
            </a:r>
            <a:endParaRPr lang="en-US" sz="1050" noProof="0" dirty="0"/>
          </a:p>
        </p:txBody>
      </p:sp>
      <p:sp>
        <p:nvSpPr>
          <p:cNvPr id="44" name="Shape 15">
            <a:extLst>
              <a:ext uri="{FF2B5EF4-FFF2-40B4-BE49-F238E27FC236}">
                <a16:creationId xmlns:a16="http://schemas.microsoft.com/office/drawing/2014/main" id="{5D862DAD-7A5B-5EE7-37E5-0FF39D4D3472}"/>
              </a:ext>
            </a:extLst>
          </p:cNvPr>
          <p:cNvSpPr/>
          <p:nvPr/>
        </p:nvSpPr>
        <p:spPr>
          <a:xfrm>
            <a:off x="7254686" y="5017159"/>
            <a:ext cx="4754880" cy="1572768"/>
          </a:xfrm>
          <a:prstGeom prst="rect">
            <a:avLst/>
          </a:prstGeom>
          <a:solidFill>
            <a:srgbClr val="E8F1FA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5" name="Shape 16">
            <a:extLst>
              <a:ext uri="{FF2B5EF4-FFF2-40B4-BE49-F238E27FC236}">
                <a16:creationId xmlns:a16="http://schemas.microsoft.com/office/drawing/2014/main" id="{8A440593-625B-575A-BE8A-4B603DFA8071}"/>
              </a:ext>
            </a:extLst>
          </p:cNvPr>
          <p:cNvSpPr/>
          <p:nvPr/>
        </p:nvSpPr>
        <p:spPr>
          <a:xfrm>
            <a:off x="7254686" y="5017159"/>
            <a:ext cx="45719" cy="15727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6" name="Text 17">
            <a:extLst>
              <a:ext uri="{FF2B5EF4-FFF2-40B4-BE49-F238E27FC236}">
                <a16:creationId xmlns:a16="http://schemas.microsoft.com/office/drawing/2014/main" id="{3BA81618-4AAE-74F7-B8A9-7CF9A26177F1}"/>
              </a:ext>
            </a:extLst>
          </p:cNvPr>
          <p:cNvSpPr/>
          <p:nvPr/>
        </p:nvSpPr>
        <p:spPr>
          <a:xfrm>
            <a:off x="7410134" y="5108599"/>
            <a:ext cx="115972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noProof="0" dirty="0">
                <a:solidFill>
                  <a:srgbClr val="0A1628"/>
                </a:solidFill>
              </a:rPr>
              <a:t>Social Media</a:t>
            </a:r>
            <a:endParaRPr lang="en-US" sz="1300" noProof="0" dirty="0"/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BAB507AA-284E-CB38-AA7B-EB0E24A07A53}"/>
              </a:ext>
            </a:extLst>
          </p:cNvPr>
          <p:cNvSpPr/>
          <p:nvPr/>
        </p:nvSpPr>
        <p:spPr>
          <a:xfrm>
            <a:off x="7410134" y="5419495"/>
            <a:ext cx="13530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noProof="0" dirty="0">
                <a:solidFill>
                  <a:srgbClr val="F43F5E"/>
                </a:solidFill>
              </a:rPr>
              <a:t>Lowest Efficiency</a:t>
            </a:r>
            <a:endParaRPr lang="en-US" sz="1000" noProof="0" dirty="0"/>
          </a:p>
        </p:txBody>
      </p:sp>
      <p:sp>
        <p:nvSpPr>
          <p:cNvPr id="48" name="Text 19">
            <a:extLst>
              <a:ext uri="{FF2B5EF4-FFF2-40B4-BE49-F238E27FC236}">
                <a16:creationId xmlns:a16="http://schemas.microsoft.com/office/drawing/2014/main" id="{4E476300-92D3-F68A-DE10-F6F76E674360}"/>
              </a:ext>
            </a:extLst>
          </p:cNvPr>
          <p:cNvSpPr/>
          <p:nvPr/>
        </p:nvSpPr>
        <p:spPr>
          <a:xfrm>
            <a:off x="7410133" y="5693815"/>
            <a:ext cx="21506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noProof="0" dirty="0">
                <a:solidFill>
                  <a:srgbClr val="334155"/>
                </a:solidFill>
              </a:rPr>
              <a:t>Share: 21.9%  |  Avg Spend: $135K</a:t>
            </a:r>
            <a:endParaRPr lang="en-US" sz="1100" noProof="0" dirty="0"/>
          </a:p>
        </p:txBody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72EBB47A-236E-6A17-E9EF-E1C22ABE482C}"/>
              </a:ext>
            </a:extLst>
          </p:cNvPr>
          <p:cNvSpPr/>
          <p:nvPr/>
        </p:nvSpPr>
        <p:spPr>
          <a:xfrm>
            <a:off x="7410134" y="5986423"/>
            <a:ext cx="44456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noProof="0" dirty="0">
                <a:solidFill>
                  <a:srgbClr val="4A6080"/>
                </a:solidFill>
              </a:rPr>
              <a:t>Improve quality before scaling. Better targeting &amp; conversion-focused creatives.</a:t>
            </a:r>
            <a:endParaRPr lang="en-US" sz="1050" b="1" noProof="0" dirty="0"/>
          </a:p>
        </p:txBody>
      </p:sp>
      <p:sp>
        <p:nvSpPr>
          <p:cNvPr id="50" name="Shape 3">
            <a:extLst>
              <a:ext uri="{FF2B5EF4-FFF2-40B4-BE49-F238E27FC236}">
                <a16:creationId xmlns:a16="http://schemas.microsoft.com/office/drawing/2014/main" id="{AF106C66-F6C4-37A6-ACC4-9C6E60F2F6CA}"/>
              </a:ext>
            </a:extLst>
          </p:cNvPr>
          <p:cNvSpPr/>
          <p:nvPr/>
        </p:nvSpPr>
        <p:spPr>
          <a:xfrm>
            <a:off x="944881" y="1975310"/>
            <a:ext cx="5890818" cy="548640"/>
          </a:xfrm>
          <a:prstGeom prst="rect">
            <a:avLst/>
          </a:prstGeom>
          <a:solidFill>
            <a:srgbClr val="1A050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1" name="Text 4">
            <a:extLst>
              <a:ext uri="{FF2B5EF4-FFF2-40B4-BE49-F238E27FC236}">
                <a16:creationId xmlns:a16="http://schemas.microsoft.com/office/drawing/2014/main" id="{0FD5FF11-71C8-F4AE-EC0A-777EFBE810C5}"/>
              </a:ext>
            </a:extLst>
          </p:cNvPr>
          <p:cNvSpPr/>
          <p:nvPr/>
        </p:nvSpPr>
        <p:spPr>
          <a:xfrm>
            <a:off x="1082041" y="1975310"/>
            <a:ext cx="57471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noProof="0" dirty="0">
                <a:solidFill>
                  <a:srgbClr val="38BDF8"/>
                </a:solidFill>
              </a:rPr>
              <a:t>Not all customers are equal —Acquisition source shapes customer quality</a:t>
            </a:r>
            <a:endParaRPr lang="ar-MA" sz="1350" i="1" noProof="0" dirty="0">
              <a:solidFill>
                <a:srgbClr val="38BDF8"/>
              </a:solidFill>
            </a:endParaRPr>
          </a:p>
          <a:p>
            <a:pPr marL="0" indent="0">
              <a:buNone/>
            </a:pPr>
            <a:r>
              <a:rPr lang="en-US" sz="1350" i="1" dirty="0">
                <a:solidFill>
                  <a:srgbClr val="38BDF8"/>
                </a:solidFill>
              </a:rPr>
              <a:t>Direct drives value</a:t>
            </a:r>
            <a:r>
              <a:rPr lang="fr-FR" sz="1350" i="1" dirty="0">
                <a:solidFill>
                  <a:srgbClr val="38BDF8"/>
                </a:solidFill>
              </a:rPr>
              <a:t>, social media drive volume</a:t>
            </a:r>
            <a:endParaRPr lang="en-US" sz="1350" i="1" noProof="0" dirty="0">
              <a:solidFill>
                <a:srgbClr val="38BDF8"/>
              </a:solidFill>
            </a:endParaRPr>
          </a:p>
        </p:txBody>
      </p:sp>
      <p:graphicFrame>
        <p:nvGraphicFramePr>
          <p:cNvPr id="52" name="Chart 51">
            <a:extLst>
              <a:ext uri="{FF2B5EF4-FFF2-40B4-BE49-F238E27FC236}">
                <a16:creationId xmlns:a16="http://schemas.microsoft.com/office/drawing/2014/main" id="{333095C0-B455-9589-020E-6A5B22EFF2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4354201"/>
              </p:ext>
            </p:extLst>
          </p:nvPr>
        </p:nvGraphicFramePr>
        <p:xfrm>
          <a:off x="874713" y="2645500"/>
          <a:ext cx="5911235" cy="1832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3" name="Chart 52">
            <a:extLst>
              <a:ext uri="{FF2B5EF4-FFF2-40B4-BE49-F238E27FC236}">
                <a16:creationId xmlns:a16="http://schemas.microsoft.com/office/drawing/2014/main" id="{C27C3124-6F57-DCA8-4719-AC71071104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2200712"/>
              </p:ext>
            </p:extLst>
          </p:nvPr>
        </p:nvGraphicFramePr>
        <p:xfrm>
          <a:off x="764984" y="4477663"/>
          <a:ext cx="4617720" cy="19496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27327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C193C5-C9DF-B87A-7E7B-13F6F28A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1B20B12-C94A-6A21-C556-023C94B4784A}"/>
              </a:ext>
            </a:extLst>
          </p:cNvPr>
          <p:cNvSpPr/>
          <p:nvPr/>
        </p:nvSpPr>
        <p:spPr>
          <a:xfrm>
            <a:off x="874713" y="620712"/>
            <a:ext cx="3168650" cy="504825"/>
          </a:xfrm>
          <a:prstGeom prst="roundRect">
            <a:avLst>
              <a:gd name="adj" fmla="val 25000"/>
            </a:avLst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325A890-CCD9-D4DD-F69E-08E736168524}"/>
              </a:ext>
            </a:extLst>
          </p:cNvPr>
          <p:cNvSpPr/>
          <p:nvPr/>
        </p:nvSpPr>
        <p:spPr>
          <a:xfrm>
            <a:off x="936703" y="731487"/>
            <a:ext cx="3062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noProof="0" dirty="0">
                <a:solidFill>
                  <a:srgbClr val="F8FAFC"/>
                </a:solidFill>
              </a:rPr>
              <a:t>FINDING 06 — AGE</a:t>
            </a:r>
            <a:endParaRPr lang="en-US" sz="1200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EE37047-0F8B-1388-4029-E2A150F2DAA0}"/>
              </a:ext>
            </a:extLst>
          </p:cNvPr>
          <p:cNvSpPr/>
          <p:nvPr/>
        </p:nvSpPr>
        <p:spPr>
          <a:xfrm>
            <a:off x="874713" y="121688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Analysis: The Revenue Engine is Ages 25–44</a:t>
            </a:r>
            <a:endParaRPr lang="en-US" sz="2400" noProof="0" dirty="0"/>
          </a:p>
        </p:txBody>
      </p:sp>
      <p:graphicFrame>
        <p:nvGraphicFramePr>
          <p:cNvPr id="5" name="Chart 0">
            <a:extLst>
              <a:ext uri="{FF2B5EF4-FFF2-40B4-BE49-F238E27FC236}">
                <a16:creationId xmlns:a16="http://schemas.microsoft.com/office/drawing/2014/main" id="{664B194C-84C7-4174-AF48-761168D630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702322"/>
              </p:ext>
            </p:extLst>
          </p:nvPr>
        </p:nvGraphicFramePr>
        <p:xfrm>
          <a:off x="457200" y="2738196"/>
          <a:ext cx="68580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>
            <a:extLst>
              <a:ext uri="{FF2B5EF4-FFF2-40B4-BE49-F238E27FC236}">
                <a16:creationId xmlns:a16="http://schemas.microsoft.com/office/drawing/2014/main" id="{A663505A-21CB-9C99-B8BA-73AC015711CC}"/>
              </a:ext>
            </a:extLst>
          </p:cNvPr>
          <p:cNvSpPr/>
          <p:nvPr/>
        </p:nvSpPr>
        <p:spPr>
          <a:xfrm>
            <a:off x="7498080" y="1577742"/>
            <a:ext cx="2194560" cy="1645920"/>
          </a:xfrm>
          <a:prstGeom prst="rect">
            <a:avLst/>
          </a:prstGeom>
          <a:solidFill>
            <a:srgbClr val="131F35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2239BAFB-D2C2-A3C3-31BF-F660A70B1006}"/>
              </a:ext>
            </a:extLst>
          </p:cNvPr>
          <p:cNvSpPr/>
          <p:nvPr/>
        </p:nvSpPr>
        <p:spPr>
          <a:xfrm>
            <a:off x="7498080" y="1577742"/>
            <a:ext cx="2194560" cy="347472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D9E6D32-A0A0-37B4-D07F-0F737DDEACF0}"/>
              </a:ext>
            </a:extLst>
          </p:cNvPr>
          <p:cNvSpPr/>
          <p:nvPr/>
        </p:nvSpPr>
        <p:spPr>
          <a:xfrm>
            <a:off x="7607808" y="159603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noProof="0" dirty="0">
                <a:solidFill>
                  <a:srgbClr val="F8FAFC"/>
                </a:solidFill>
              </a:rPr>
              <a:t>Age 25–44 · 59.6%</a:t>
            </a:r>
            <a:endParaRPr lang="en-US" sz="1100" noProof="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7AADF95-C0D8-735C-BD15-330D1B8C002A}"/>
              </a:ext>
            </a:extLst>
          </p:cNvPr>
          <p:cNvSpPr/>
          <p:nvPr/>
        </p:nvSpPr>
        <p:spPr>
          <a:xfrm>
            <a:off x="7607808" y="198007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noProof="0" dirty="0">
                <a:solidFill>
                  <a:srgbClr val="F59E0B"/>
                </a:solidFill>
              </a:rPr>
              <a:t>Core Revenue Engine</a:t>
            </a:r>
            <a:endParaRPr lang="en-US" sz="1100" noProof="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5E4EAF22-3874-27DB-EFAD-54157C36E2C2}"/>
              </a:ext>
            </a:extLst>
          </p:cNvPr>
          <p:cNvSpPr/>
          <p:nvPr/>
        </p:nvSpPr>
        <p:spPr>
          <a:xfrm>
            <a:off x="7607808" y="2272686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noProof="0" dirty="0">
                <a:solidFill>
                  <a:srgbClr val="E2E8F0"/>
                </a:solidFill>
              </a:rPr>
              <a:t>Largest volume + strong spend. Primary growth and retention focus.</a:t>
            </a:r>
            <a:endParaRPr lang="en-US" sz="1000" noProof="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C57721A8-AB5C-5392-9863-378E9E6A9FEC}"/>
              </a:ext>
            </a:extLst>
          </p:cNvPr>
          <p:cNvSpPr/>
          <p:nvPr/>
        </p:nvSpPr>
        <p:spPr>
          <a:xfrm>
            <a:off x="9784080" y="1577742"/>
            <a:ext cx="2194560" cy="1645920"/>
          </a:xfrm>
          <a:prstGeom prst="rect">
            <a:avLst/>
          </a:prstGeom>
          <a:solidFill>
            <a:srgbClr val="131F3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D1652554-7303-B35C-F2F5-5A4AD98444CE}"/>
              </a:ext>
            </a:extLst>
          </p:cNvPr>
          <p:cNvSpPr/>
          <p:nvPr/>
        </p:nvSpPr>
        <p:spPr>
          <a:xfrm>
            <a:off x="9784080" y="1577742"/>
            <a:ext cx="2194560" cy="347472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78981A11-C540-04ED-48A4-B886697AA5A1}"/>
              </a:ext>
            </a:extLst>
          </p:cNvPr>
          <p:cNvSpPr/>
          <p:nvPr/>
        </p:nvSpPr>
        <p:spPr>
          <a:xfrm>
            <a:off x="9893808" y="159603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noProof="0" dirty="0">
                <a:solidFill>
                  <a:srgbClr val="F8FAFC"/>
                </a:solidFill>
              </a:rPr>
              <a:t>Age 55–64 · 4.7%</a:t>
            </a:r>
            <a:endParaRPr lang="en-US" sz="1100" noProof="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32DD9DFC-6D56-DB99-5E17-7FB6A1E6672C}"/>
              </a:ext>
            </a:extLst>
          </p:cNvPr>
          <p:cNvSpPr/>
          <p:nvPr/>
        </p:nvSpPr>
        <p:spPr>
          <a:xfrm>
            <a:off x="9893808" y="198007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noProof="0" dirty="0">
                <a:solidFill>
                  <a:srgbClr val="10B981"/>
                </a:solidFill>
              </a:rPr>
              <a:t>Underleveraged Premium Niche</a:t>
            </a:r>
            <a:endParaRPr lang="en-US" sz="1100" noProof="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0AF01138-815F-9B87-68E7-5DF1925C4636}"/>
              </a:ext>
            </a:extLst>
          </p:cNvPr>
          <p:cNvSpPr/>
          <p:nvPr/>
        </p:nvSpPr>
        <p:spPr>
          <a:xfrm>
            <a:off x="9893808" y="2272686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noProof="0" dirty="0">
                <a:solidFill>
                  <a:srgbClr val="E2E8F0"/>
                </a:solidFill>
              </a:rPr>
              <a:t>Highest avg spend ($144K) despite small size. Premium targeting opportunity.</a:t>
            </a:r>
            <a:endParaRPr lang="en-US" sz="1000" noProof="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9F5832A9-29BD-6A4F-31B2-DD1B8EA48D62}"/>
              </a:ext>
            </a:extLst>
          </p:cNvPr>
          <p:cNvSpPr/>
          <p:nvPr/>
        </p:nvSpPr>
        <p:spPr>
          <a:xfrm>
            <a:off x="7498080" y="3360822"/>
            <a:ext cx="2194560" cy="1645920"/>
          </a:xfrm>
          <a:prstGeom prst="rect">
            <a:avLst/>
          </a:prstGeom>
          <a:solidFill>
            <a:srgbClr val="131F35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5F0A62EB-882F-A3A4-D45C-6A97E6C4C3D0}"/>
              </a:ext>
            </a:extLst>
          </p:cNvPr>
          <p:cNvSpPr/>
          <p:nvPr/>
        </p:nvSpPr>
        <p:spPr>
          <a:xfrm>
            <a:off x="7498080" y="3360822"/>
            <a:ext cx="2194560" cy="347472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E55A0B41-308C-640D-B043-EABAF967471C}"/>
              </a:ext>
            </a:extLst>
          </p:cNvPr>
          <p:cNvSpPr/>
          <p:nvPr/>
        </p:nvSpPr>
        <p:spPr>
          <a:xfrm>
            <a:off x="7607808" y="337911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noProof="0" dirty="0">
                <a:solidFill>
                  <a:srgbClr val="F8FAFC"/>
                </a:solidFill>
              </a:rPr>
              <a:t>Age 18–24 · 18.5%</a:t>
            </a:r>
            <a:endParaRPr lang="en-US" sz="1100" noProof="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6BDAAF0E-50C5-1727-E7BB-6ABC99663C64}"/>
              </a:ext>
            </a:extLst>
          </p:cNvPr>
          <p:cNvSpPr/>
          <p:nvPr/>
        </p:nvSpPr>
        <p:spPr>
          <a:xfrm>
            <a:off x="7607808" y="376315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noProof="0" dirty="0">
                <a:solidFill>
                  <a:srgbClr val="38BDF8"/>
                </a:solidFill>
              </a:rPr>
              <a:t>Future Lifecycle Potential</a:t>
            </a:r>
            <a:endParaRPr lang="en-US" sz="1100" noProof="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BB081A90-3635-7322-ED5C-17C3B7BB7AA0}"/>
              </a:ext>
            </a:extLst>
          </p:cNvPr>
          <p:cNvSpPr/>
          <p:nvPr/>
        </p:nvSpPr>
        <p:spPr>
          <a:xfrm>
            <a:off x="7607808" y="4055766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noProof="0" dirty="0">
                <a:solidFill>
                  <a:srgbClr val="E2E8F0"/>
                </a:solidFill>
              </a:rPr>
              <a:t>Lower current spend but strong frequency potential. Early loyalty investment pays long-term.</a:t>
            </a:r>
            <a:endParaRPr lang="en-US" sz="1000" noProof="0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514AF104-12BE-6BA4-B7A6-93242D103818}"/>
              </a:ext>
            </a:extLst>
          </p:cNvPr>
          <p:cNvSpPr/>
          <p:nvPr/>
        </p:nvSpPr>
        <p:spPr>
          <a:xfrm>
            <a:off x="9784080" y="3360822"/>
            <a:ext cx="2194560" cy="1645920"/>
          </a:xfrm>
          <a:prstGeom prst="rect">
            <a:avLst/>
          </a:prstGeom>
          <a:solidFill>
            <a:srgbClr val="131F35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EC86B381-CCB8-FA11-ADA6-4DACC3C64EA6}"/>
              </a:ext>
            </a:extLst>
          </p:cNvPr>
          <p:cNvSpPr/>
          <p:nvPr/>
        </p:nvSpPr>
        <p:spPr>
          <a:xfrm>
            <a:off x="9784080" y="3360822"/>
            <a:ext cx="2194560" cy="347472"/>
          </a:xfrm>
          <a:prstGeom prst="rect">
            <a:avLst/>
          </a:prstGeom>
          <a:solidFill>
            <a:srgbClr val="94A3B8">
              <a:alpha val="80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803CD4D2-F601-0284-F7F3-76F9F58E2CC2}"/>
              </a:ext>
            </a:extLst>
          </p:cNvPr>
          <p:cNvSpPr/>
          <p:nvPr/>
        </p:nvSpPr>
        <p:spPr>
          <a:xfrm>
            <a:off x="9893808" y="337911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noProof="0" dirty="0">
                <a:solidFill>
                  <a:srgbClr val="F8FAFC"/>
                </a:solidFill>
              </a:rPr>
              <a:t>Age 65+ · 0.7%</a:t>
            </a:r>
            <a:endParaRPr lang="en-US" sz="1100" noProof="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847B8BD5-C8C7-4D61-567D-38997FF2C186}"/>
              </a:ext>
            </a:extLst>
          </p:cNvPr>
          <p:cNvSpPr/>
          <p:nvPr/>
        </p:nvSpPr>
        <p:spPr>
          <a:xfrm>
            <a:off x="9893808" y="376315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noProof="0" dirty="0">
                <a:solidFill>
                  <a:srgbClr val="94A3B8"/>
                </a:solidFill>
              </a:rPr>
              <a:t>Lowest Strategic Priority</a:t>
            </a:r>
            <a:endParaRPr lang="en-US" sz="1100" noProof="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73004D41-0BC7-90EA-1A17-702F3BF1337F}"/>
              </a:ext>
            </a:extLst>
          </p:cNvPr>
          <p:cNvSpPr/>
          <p:nvPr/>
        </p:nvSpPr>
        <p:spPr>
          <a:xfrm>
            <a:off x="9893808" y="4055766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noProof="0" dirty="0">
                <a:solidFill>
                  <a:srgbClr val="E2E8F0"/>
                </a:solidFill>
              </a:rPr>
              <a:t>Smallest segment, lowest avg spend ($107K), least orders. Limited ROI for dedicated investment.</a:t>
            </a:r>
            <a:endParaRPr lang="en-US" sz="1000" noProof="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E0586B59-6FFC-F8E4-8401-46796B1D852D}"/>
              </a:ext>
            </a:extLst>
          </p:cNvPr>
          <p:cNvSpPr/>
          <p:nvPr/>
        </p:nvSpPr>
        <p:spPr>
          <a:xfrm>
            <a:off x="7925543" y="5435557"/>
            <a:ext cx="380925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noProof="0" dirty="0">
                <a:solidFill>
                  <a:schemeClr val="bg1"/>
                </a:solidFill>
              </a:rPr>
              <a:t>Recommendation: Focus mass-market growth on 25–44 as the primary engine. Selectively monetize 55–64 with premium offers. Invest in 18–24 for long-term lifecycle value.</a:t>
            </a:r>
            <a:endParaRPr lang="en-US" sz="1400" noProof="0" dirty="0">
              <a:solidFill>
                <a:schemeClr val="bg1"/>
              </a:solidFill>
            </a:endParaRPr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4B847248-18E6-A089-384A-C817D32A33BC}"/>
              </a:ext>
            </a:extLst>
          </p:cNvPr>
          <p:cNvSpPr/>
          <p:nvPr/>
        </p:nvSpPr>
        <p:spPr>
          <a:xfrm>
            <a:off x="1002718" y="1988893"/>
            <a:ext cx="5890818" cy="677392"/>
          </a:xfrm>
          <a:prstGeom prst="rect">
            <a:avLst/>
          </a:prstGeom>
          <a:solidFill>
            <a:srgbClr val="1A0508"/>
          </a:solidFill>
          <a:ln w="12700">
            <a:noFill/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4308BEF5-E8C6-2403-61EC-7287DECD502C}"/>
              </a:ext>
            </a:extLst>
          </p:cNvPr>
          <p:cNvSpPr/>
          <p:nvPr/>
        </p:nvSpPr>
        <p:spPr>
          <a:xfrm>
            <a:off x="1002718" y="1988893"/>
            <a:ext cx="5890818" cy="679306"/>
          </a:xfrm>
          <a:prstGeom prst="rect">
            <a:avLst/>
          </a:prstGeom>
          <a:noFill/>
          <a:ln>
            <a:solidFill>
              <a:srgbClr val="D1890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noProof="0" dirty="0">
                <a:solidFill>
                  <a:srgbClr val="D1890F"/>
                </a:solidFill>
              </a:rPr>
              <a:t>The business’s revenue engine is primarily powered by ages 25–44 due to customer concentration, but the 55–64 segment may represent an underleveraged premium-value Age group..</a:t>
            </a:r>
          </a:p>
        </p:txBody>
      </p:sp>
    </p:spTree>
    <p:extLst>
      <p:ext uri="{BB962C8B-B14F-4D97-AF65-F5344CB8AC3E}">
        <p14:creationId xmlns:p14="http://schemas.microsoft.com/office/powerpoint/2010/main" val="4643267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93A040-3614-76B7-0C25-B095499DC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14AFC50-2599-925F-9D91-000C664D248A}"/>
              </a:ext>
            </a:extLst>
          </p:cNvPr>
          <p:cNvSpPr/>
          <p:nvPr/>
        </p:nvSpPr>
        <p:spPr>
          <a:xfrm>
            <a:off x="874713" y="620712"/>
            <a:ext cx="3168650" cy="504825"/>
          </a:xfrm>
          <a:prstGeom prst="roundRect">
            <a:avLst>
              <a:gd name="adj" fmla="val 25000"/>
            </a:avLst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242BE13-7FFD-D5AF-E710-69C35BDD476A}"/>
              </a:ext>
            </a:extLst>
          </p:cNvPr>
          <p:cNvSpPr/>
          <p:nvPr/>
        </p:nvSpPr>
        <p:spPr>
          <a:xfrm>
            <a:off x="936703" y="731487"/>
            <a:ext cx="3062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noProof="0" dirty="0">
                <a:solidFill>
                  <a:srgbClr val="F8FAFC"/>
                </a:solidFill>
              </a:rPr>
              <a:t>FINDING 06 — </a:t>
            </a:r>
            <a:r>
              <a:rPr lang="en-US" sz="1200" b="1" kern="0" spc="300" dirty="0">
                <a:solidFill>
                  <a:srgbClr val="F8FAFC"/>
                </a:solidFill>
              </a:rPr>
              <a:t>GENDER</a:t>
            </a:r>
            <a:endParaRPr lang="en-US" sz="1200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B29A5D1-73DC-C5C7-34D1-B061B90E2C77}"/>
              </a:ext>
            </a:extLst>
          </p:cNvPr>
          <p:cNvSpPr/>
          <p:nvPr/>
        </p:nvSpPr>
        <p:spPr>
          <a:xfrm>
            <a:off x="874713" y="121688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Analysis: The Revenue Engine is Ages 25–44</a:t>
            </a:r>
            <a:endParaRPr lang="en-US" sz="2400" noProof="0" dirty="0"/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41CC0A67-5725-32C3-E791-A9C9B2A4B55A}"/>
              </a:ext>
            </a:extLst>
          </p:cNvPr>
          <p:cNvSpPr/>
          <p:nvPr/>
        </p:nvSpPr>
        <p:spPr>
          <a:xfrm>
            <a:off x="1002718" y="1988893"/>
            <a:ext cx="5890818" cy="677392"/>
          </a:xfrm>
          <a:prstGeom prst="rect">
            <a:avLst/>
          </a:prstGeom>
          <a:solidFill>
            <a:srgbClr val="1A0508"/>
          </a:solidFill>
          <a:ln w="12700">
            <a:noFill/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E39F39FB-0809-B78D-764E-92F3EE19F980}"/>
              </a:ext>
            </a:extLst>
          </p:cNvPr>
          <p:cNvSpPr/>
          <p:nvPr/>
        </p:nvSpPr>
        <p:spPr>
          <a:xfrm>
            <a:off x="1002718" y="1988893"/>
            <a:ext cx="5890818" cy="679306"/>
          </a:xfrm>
          <a:prstGeom prst="rect">
            <a:avLst/>
          </a:prstGeom>
          <a:noFill/>
          <a:ln>
            <a:solidFill>
              <a:srgbClr val="D1890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noProof="0" dirty="0">
                <a:solidFill>
                  <a:srgbClr val="D1890F"/>
                </a:solidFill>
              </a:rPr>
              <a:t>Female customers appear slightly stronger for repeat purchase behavior, while male customers may offer marginally stronger monetization per customer.</a:t>
            </a:r>
          </a:p>
        </p:txBody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C92738C3-3696-9FF4-828A-4269A009EC51}"/>
              </a:ext>
            </a:extLst>
          </p:cNvPr>
          <p:cNvSpPr/>
          <p:nvPr/>
        </p:nvSpPr>
        <p:spPr>
          <a:xfrm>
            <a:off x="7498080" y="2070555"/>
            <a:ext cx="2194560" cy="3741900"/>
          </a:xfrm>
          <a:prstGeom prst="rect">
            <a:avLst/>
          </a:prstGeom>
          <a:solidFill>
            <a:srgbClr val="E8F1FA"/>
          </a:solidFill>
          <a:ln w="12700">
            <a:solidFill>
              <a:srgbClr val="EC66E2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0" name="Shape 4">
            <a:extLst>
              <a:ext uri="{FF2B5EF4-FFF2-40B4-BE49-F238E27FC236}">
                <a16:creationId xmlns:a16="http://schemas.microsoft.com/office/drawing/2014/main" id="{6C665124-A92B-D431-BECB-DF704BE6570D}"/>
              </a:ext>
            </a:extLst>
          </p:cNvPr>
          <p:cNvSpPr/>
          <p:nvPr/>
        </p:nvSpPr>
        <p:spPr>
          <a:xfrm>
            <a:off x="7498080" y="2070555"/>
            <a:ext cx="2194560" cy="384048"/>
          </a:xfrm>
          <a:prstGeom prst="rect">
            <a:avLst/>
          </a:prstGeom>
          <a:solidFill>
            <a:srgbClr val="EC66E2">
              <a:alpha val="80000"/>
            </a:srgbClr>
          </a:solidFill>
          <a:ln w="12700">
            <a:solidFill>
              <a:srgbClr val="EC66E2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D507261D-897A-60B2-9DA7-27769CA7233B}"/>
              </a:ext>
            </a:extLst>
          </p:cNvPr>
          <p:cNvSpPr/>
          <p:nvPr/>
        </p:nvSpPr>
        <p:spPr>
          <a:xfrm>
            <a:off x="7635240" y="2088843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noProof="0" dirty="0">
                <a:solidFill>
                  <a:srgbClr val="F8FAFC"/>
                </a:solidFill>
              </a:rPr>
              <a:t>Female</a:t>
            </a:r>
            <a:endParaRPr lang="en-US" sz="1400" noProof="0" dirty="0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4C568468-CAA3-188E-BB88-098F1B4FC298}"/>
              </a:ext>
            </a:extLst>
          </p:cNvPr>
          <p:cNvSpPr/>
          <p:nvPr/>
        </p:nvSpPr>
        <p:spPr>
          <a:xfrm>
            <a:off x="7635240" y="2527755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noProof="0" dirty="0">
                <a:solidFill>
                  <a:srgbClr val="4A6080"/>
                </a:solidFill>
              </a:rPr>
              <a:t>4,134 customers · 51.7%</a:t>
            </a:r>
            <a:endParaRPr lang="en-US" sz="1000" noProof="0" dirty="0"/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543C6029-1A5D-8425-0649-18E874EABD27}"/>
              </a:ext>
            </a:extLst>
          </p:cNvPr>
          <p:cNvSpPr/>
          <p:nvPr/>
        </p:nvSpPr>
        <p:spPr>
          <a:xfrm>
            <a:off x="7635240" y="2875227"/>
            <a:ext cx="1920240" cy="694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334155"/>
                </a:solidFill>
              </a:rPr>
              <a:t>Better purchase frequency (16.76 avg orders). Stronger repeat-buy behavior and retention potential.</a:t>
            </a:r>
            <a:endParaRPr lang="en-US" sz="1050" noProof="0" dirty="0"/>
          </a:p>
        </p:txBody>
      </p:sp>
      <p:sp>
        <p:nvSpPr>
          <p:cNvPr id="34" name="Shape 8">
            <a:extLst>
              <a:ext uri="{FF2B5EF4-FFF2-40B4-BE49-F238E27FC236}">
                <a16:creationId xmlns:a16="http://schemas.microsoft.com/office/drawing/2014/main" id="{2F5FB369-106D-F1B7-8433-F75806383067}"/>
              </a:ext>
            </a:extLst>
          </p:cNvPr>
          <p:cNvSpPr/>
          <p:nvPr/>
        </p:nvSpPr>
        <p:spPr>
          <a:xfrm>
            <a:off x="7635240" y="4228539"/>
            <a:ext cx="1920240" cy="0"/>
          </a:xfrm>
          <a:prstGeom prst="line">
            <a:avLst/>
          </a:prstGeom>
          <a:noFill/>
          <a:ln w="10160">
            <a:solidFill>
              <a:srgbClr val="B0C9E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272E08D9-1AB5-BCD6-0BB0-8CB2620481E5}"/>
              </a:ext>
            </a:extLst>
          </p:cNvPr>
          <p:cNvSpPr/>
          <p:nvPr/>
        </p:nvSpPr>
        <p:spPr>
          <a:xfrm>
            <a:off x="7635240" y="4319979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noProof="0" dirty="0">
                <a:solidFill>
                  <a:srgbClr val="EC66E2"/>
                </a:solidFill>
              </a:rPr>
              <a:t>Recommendations</a:t>
            </a:r>
            <a:endParaRPr lang="en-US" sz="1000" noProof="0" dirty="0">
              <a:solidFill>
                <a:srgbClr val="EC66E2"/>
              </a:solidFill>
            </a:endParaRPr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47B222CF-2A08-5C40-C9B5-02A47C5151F6}"/>
              </a:ext>
            </a:extLst>
          </p:cNvPr>
          <p:cNvSpPr/>
          <p:nvPr/>
        </p:nvSpPr>
        <p:spPr>
          <a:xfrm>
            <a:off x="7635240" y="4594299"/>
            <a:ext cx="1920240" cy="1218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noProof="0" dirty="0">
                <a:solidFill>
                  <a:srgbClr val="334155"/>
                </a:solidFill>
              </a:rPr>
              <a:t>Loyalty &amp; frequency programs</a:t>
            </a:r>
            <a:endParaRPr lang="en-US" sz="1000" noProof="0" dirty="0"/>
          </a:p>
          <a:p>
            <a:pPr marL="342900" indent="-342900">
              <a:buSzPct val="100000"/>
              <a:buChar char="•"/>
            </a:pPr>
            <a:r>
              <a:rPr lang="en-US" sz="1000" noProof="0" dirty="0">
                <a:solidFill>
                  <a:srgbClr val="334155"/>
                </a:solidFill>
              </a:rPr>
              <a:t>Repeat purchase incentive offers</a:t>
            </a:r>
            <a:endParaRPr lang="en-US" sz="1000" noProof="0" dirty="0"/>
          </a:p>
          <a:p>
            <a:pPr marL="342900" indent="-342900">
              <a:buSzPct val="100000"/>
              <a:buChar char="•"/>
            </a:pPr>
            <a:r>
              <a:rPr lang="en-US" sz="1000" noProof="0" dirty="0">
                <a:solidFill>
                  <a:srgbClr val="334155"/>
                </a:solidFill>
              </a:rPr>
              <a:t>Subscription &amp; rewards models</a:t>
            </a:r>
            <a:endParaRPr lang="en-US" sz="1000" noProof="0" dirty="0"/>
          </a:p>
          <a:p>
            <a:pPr marL="342900" indent="-342900">
              <a:buSzPct val="100000"/>
              <a:buChar char="•"/>
            </a:pPr>
            <a:r>
              <a:rPr lang="en-US" sz="1000" noProof="0" dirty="0">
                <a:solidFill>
                  <a:srgbClr val="334155"/>
                </a:solidFill>
              </a:rPr>
              <a:t>Retention-focused campaigns</a:t>
            </a:r>
            <a:endParaRPr lang="en-US" sz="1000" noProof="0" dirty="0"/>
          </a:p>
        </p:txBody>
      </p:sp>
      <p:sp>
        <p:nvSpPr>
          <p:cNvPr id="37" name="Shape 11">
            <a:extLst>
              <a:ext uri="{FF2B5EF4-FFF2-40B4-BE49-F238E27FC236}">
                <a16:creationId xmlns:a16="http://schemas.microsoft.com/office/drawing/2014/main" id="{6A68E2BB-8AD2-F6E0-51B3-87C7F3459E58}"/>
              </a:ext>
            </a:extLst>
          </p:cNvPr>
          <p:cNvSpPr/>
          <p:nvPr/>
        </p:nvSpPr>
        <p:spPr>
          <a:xfrm>
            <a:off x="9829800" y="2070555"/>
            <a:ext cx="2194560" cy="3741900"/>
          </a:xfrm>
          <a:prstGeom prst="rect">
            <a:avLst/>
          </a:prstGeom>
          <a:solidFill>
            <a:srgbClr val="E8F1FA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8" name="Shape 12">
            <a:extLst>
              <a:ext uri="{FF2B5EF4-FFF2-40B4-BE49-F238E27FC236}">
                <a16:creationId xmlns:a16="http://schemas.microsoft.com/office/drawing/2014/main" id="{186A0C0B-66AB-1E47-5E0C-8CED55D288A6}"/>
              </a:ext>
            </a:extLst>
          </p:cNvPr>
          <p:cNvSpPr/>
          <p:nvPr/>
        </p:nvSpPr>
        <p:spPr>
          <a:xfrm>
            <a:off x="9829800" y="2070555"/>
            <a:ext cx="2194560" cy="384048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1F29431C-EE75-3303-C2B1-FB56FC533BED}"/>
              </a:ext>
            </a:extLst>
          </p:cNvPr>
          <p:cNvSpPr/>
          <p:nvPr/>
        </p:nvSpPr>
        <p:spPr>
          <a:xfrm>
            <a:off x="9966960" y="2088843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noProof="0" dirty="0">
                <a:solidFill>
                  <a:srgbClr val="F8FAFC"/>
                </a:solidFill>
              </a:rPr>
              <a:t>Male</a:t>
            </a:r>
            <a:endParaRPr lang="en-US" sz="1400" noProof="0" dirty="0"/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3C60C07B-9291-E4CF-5C9F-336753ED21B3}"/>
              </a:ext>
            </a:extLst>
          </p:cNvPr>
          <p:cNvSpPr/>
          <p:nvPr/>
        </p:nvSpPr>
        <p:spPr>
          <a:xfrm>
            <a:off x="9966960" y="2527755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noProof="0" dirty="0">
                <a:solidFill>
                  <a:srgbClr val="4A6080"/>
                </a:solidFill>
              </a:rPr>
              <a:t>3,866 customers · 48.3%</a:t>
            </a:r>
            <a:endParaRPr lang="en-US" sz="1000" noProof="0" dirty="0"/>
          </a:p>
        </p:txBody>
      </p:sp>
      <p:sp>
        <p:nvSpPr>
          <p:cNvPr id="41" name="Text 15">
            <a:extLst>
              <a:ext uri="{FF2B5EF4-FFF2-40B4-BE49-F238E27FC236}">
                <a16:creationId xmlns:a16="http://schemas.microsoft.com/office/drawing/2014/main" id="{F7344A94-DE0B-A3D1-7747-79F4F0D39F4C}"/>
              </a:ext>
            </a:extLst>
          </p:cNvPr>
          <p:cNvSpPr/>
          <p:nvPr/>
        </p:nvSpPr>
        <p:spPr>
          <a:xfrm>
            <a:off x="9966960" y="2875227"/>
            <a:ext cx="1920240" cy="796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334155"/>
                </a:solidFill>
              </a:rPr>
              <a:t>Higher avg spend ($143.6K vs $140.8K). Slight premium monetization potential per customer.</a:t>
            </a:r>
            <a:endParaRPr lang="en-US" sz="1050" noProof="0" dirty="0"/>
          </a:p>
        </p:txBody>
      </p:sp>
      <p:sp>
        <p:nvSpPr>
          <p:cNvPr id="42" name="Shape 16">
            <a:extLst>
              <a:ext uri="{FF2B5EF4-FFF2-40B4-BE49-F238E27FC236}">
                <a16:creationId xmlns:a16="http://schemas.microsoft.com/office/drawing/2014/main" id="{2F91968D-0392-045F-346C-887A56CBC43D}"/>
              </a:ext>
            </a:extLst>
          </p:cNvPr>
          <p:cNvSpPr/>
          <p:nvPr/>
        </p:nvSpPr>
        <p:spPr>
          <a:xfrm>
            <a:off x="9966960" y="4228539"/>
            <a:ext cx="1920240" cy="0"/>
          </a:xfrm>
          <a:prstGeom prst="line">
            <a:avLst/>
          </a:prstGeom>
          <a:noFill/>
          <a:ln w="10160">
            <a:solidFill>
              <a:srgbClr val="B0C9E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FC5A061C-86AD-67A3-E88E-5C967A4C1F6D}"/>
              </a:ext>
            </a:extLst>
          </p:cNvPr>
          <p:cNvSpPr/>
          <p:nvPr/>
        </p:nvSpPr>
        <p:spPr>
          <a:xfrm>
            <a:off x="9966960" y="4319979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noProof="0" dirty="0">
                <a:solidFill>
                  <a:srgbClr val="38BDF8"/>
                </a:solidFill>
              </a:rPr>
              <a:t>Recommendations</a:t>
            </a:r>
            <a:endParaRPr lang="en-US" sz="1000" noProof="0" dirty="0"/>
          </a:p>
        </p:txBody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C2C61EF0-BC6E-4F62-F5EC-9B57C2C7C25E}"/>
              </a:ext>
            </a:extLst>
          </p:cNvPr>
          <p:cNvSpPr/>
          <p:nvPr/>
        </p:nvSpPr>
        <p:spPr>
          <a:xfrm>
            <a:off x="9966960" y="4453219"/>
            <a:ext cx="1920240" cy="796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SzPct val="100000"/>
            </a:pPr>
            <a:endParaRPr lang="en-US" sz="1000" noProof="0" dirty="0"/>
          </a:p>
          <a:p>
            <a:pPr marL="342900" indent="-342900">
              <a:buSzPct val="100000"/>
              <a:buChar char="•"/>
            </a:pPr>
            <a:r>
              <a:rPr lang="en-US" sz="1000" noProof="0" dirty="0">
                <a:solidFill>
                  <a:srgbClr val="334155"/>
                </a:solidFill>
              </a:rPr>
              <a:t>Premium product bundles</a:t>
            </a:r>
            <a:endParaRPr lang="en-US" sz="1000" noProof="0" dirty="0"/>
          </a:p>
          <a:p>
            <a:pPr marL="342900" indent="-342900">
              <a:buSzPct val="100000"/>
              <a:buChar char="•"/>
            </a:pPr>
            <a:r>
              <a:rPr lang="en-US" sz="1000" noProof="0" dirty="0">
                <a:solidFill>
                  <a:srgbClr val="334155"/>
                </a:solidFill>
              </a:rPr>
              <a:t>High-ticket upsell campaigns</a:t>
            </a:r>
            <a:endParaRPr lang="en-US" sz="1000" noProof="0" dirty="0"/>
          </a:p>
          <a:p>
            <a:pPr marL="342900" indent="-342900">
              <a:buSzPct val="100000"/>
              <a:buChar char="•"/>
            </a:pPr>
            <a:r>
              <a:rPr lang="en-US" sz="1000" noProof="0" dirty="0">
                <a:solidFill>
                  <a:srgbClr val="334155"/>
                </a:solidFill>
              </a:rPr>
              <a:t>Value-based messaging</a:t>
            </a:r>
            <a:endParaRPr lang="en-US" sz="1000" noProof="0" dirty="0"/>
          </a:p>
        </p:txBody>
      </p:sp>
      <p:graphicFrame>
        <p:nvGraphicFramePr>
          <p:cNvPr id="45" name="Chart 0">
            <a:extLst>
              <a:ext uri="{FF2B5EF4-FFF2-40B4-BE49-F238E27FC236}">
                <a16:creationId xmlns:a16="http://schemas.microsoft.com/office/drawing/2014/main" id="{EF0A2119-994C-E5B9-F714-A528B88717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6823594"/>
              </p:ext>
            </p:extLst>
          </p:nvPr>
        </p:nvGraphicFramePr>
        <p:xfrm>
          <a:off x="809510" y="2993559"/>
          <a:ext cx="6378497" cy="3201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545147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4713" y="634936"/>
            <a:ext cx="3168650" cy="490602"/>
          </a:xfrm>
          <a:prstGeom prst="roundRect">
            <a:avLst>
              <a:gd name="adj" fmla="val 25000"/>
            </a:avLst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Text 1"/>
          <p:cNvSpPr/>
          <p:nvPr/>
        </p:nvSpPr>
        <p:spPr>
          <a:xfrm>
            <a:off x="1227750" y="720582"/>
            <a:ext cx="2514600" cy="36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noProof="0" dirty="0">
                <a:solidFill>
                  <a:srgbClr val="F8FAFC"/>
                </a:solidFill>
              </a:rPr>
              <a:t>STRATEGIC ROADMAP</a:t>
            </a:r>
            <a:endParaRPr lang="en-US" sz="1200" noProof="0" dirty="0"/>
          </a:p>
        </p:txBody>
      </p:sp>
      <p:sp>
        <p:nvSpPr>
          <p:cNvPr id="4" name="Text 2"/>
          <p:cNvSpPr/>
          <p:nvPr/>
        </p:nvSpPr>
        <p:spPr>
          <a:xfrm>
            <a:off x="769434" y="114030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Action Matrix — Where to Invest First</a:t>
            </a:r>
            <a:endParaRPr lang="en-US" sz="28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849980"/>
            <a:ext cx="3611880" cy="1863369"/>
          </a:xfrm>
          <a:prstGeom prst="rect">
            <a:avLst/>
          </a:prstGeom>
          <a:solidFill>
            <a:srgbClr val="131F35"/>
          </a:solidFill>
          <a:ln w="1905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1849980"/>
            <a:ext cx="3611880" cy="438912"/>
          </a:xfrm>
          <a:prstGeom prst="rect">
            <a:avLst/>
          </a:prstGeom>
          <a:solidFill>
            <a:srgbClr val="F43F5E">
              <a:alpha val="82000"/>
            </a:srgbClr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" name="Text 5"/>
          <p:cNvSpPr/>
          <p:nvPr/>
        </p:nvSpPr>
        <p:spPr>
          <a:xfrm>
            <a:off x="594360" y="18865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F8FAFC"/>
                </a:solidFill>
              </a:rPr>
              <a:t>01</a:t>
            </a:r>
            <a:endParaRPr lang="en-US" sz="1800" noProof="0" dirty="0"/>
          </a:p>
        </p:txBody>
      </p:sp>
      <p:sp>
        <p:nvSpPr>
          <p:cNvPr id="8" name="Text 6"/>
          <p:cNvSpPr/>
          <p:nvPr/>
        </p:nvSpPr>
        <p:spPr>
          <a:xfrm>
            <a:off x="1097280" y="190484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F8FAFC"/>
                </a:solidFill>
              </a:rPr>
              <a:t>Win Back At Risk</a:t>
            </a:r>
            <a:endParaRPr lang="en-US" sz="1200" noProof="0" dirty="0"/>
          </a:p>
        </p:txBody>
      </p:sp>
      <p:sp>
        <p:nvSpPr>
          <p:cNvPr id="9" name="Shape 7"/>
          <p:cNvSpPr/>
          <p:nvPr/>
        </p:nvSpPr>
        <p:spPr>
          <a:xfrm>
            <a:off x="594360" y="2362044"/>
            <a:ext cx="3337560" cy="219456"/>
          </a:xfrm>
          <a:prstGeom prst="roundRect">
            <a:avLst>
              <a:gd name="adj" fmla="val 16667"/>
            </a:avLst>
          </a:prstGeom>
          <a:solidFill>
            <a:srgbClr val="F43F5E">
              <a:alpha val="28000"/>
            </a:srgbClr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" name="Text 8"/>
          <p:cNvSpPr/>
          <p:nvPr/>
        </p:nvSpPr>
        <p:spPr>
          <a:xfrm>
            <a:off x="594360" y="2362044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noProof="0" dirty="0">
                <a:solidFill>
                  <a:srgbClr val="F43F5E"/>
                </a:solidFill>
              </a:rPr>
              <a:t>IMMEDIATE</a:t>
            </a:r>
            <a:endParaRPr lang="en-US" sz="800" noProof="0" dirty="0"/>
          </a:p>
        </p:txBody>
      </p:sp>
      <p:sp>
        <p:nvSpPr>
          <p:cNvPr id="11" name="Text 9"/>
          <p:cNvSpPr/>
          <p:nvPr/>
        </p:nvSpPr>
        <p:spPr>
          <a:xfrm>
            <a:off x="594360" y="263636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noProof="0" dirty="0">
                <a:solidFill>
                  <a:srgbClr val="94A3B8"/>
                </a:solidFill>
              </a:rPr>
              <a:t>1,251 customers · $281.9M at stake</a:t>
            </a:r>
            <a:endParaRPr lang="en-US" sz="1000" noProof="0" dirty="0"/>
          </a:p>
        </p:txBody>
      </p:sp>
      <p:sp>
        <p:nvSpPr>
          <p:cNvPr id="12" name="Text 10"/>
          <p:cNvSpPr/>
          <p:nvPr/>
        </p:nvSpPr>
        <p:spPr>
          <a:xfrm>
            <a:off x="594360" y="3043605"/>
            <a:ext cx="33375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noProof="0" dirty="0">
                <a:solidFill>
                  <a:srgbClr val="E2E8F0"/>
                </a:solidFill>
              </a:rPr>
              <a:t>Personalized win-back campaigns</a:t>
            </a:r>
            <a:endParaRPr lang="en-US" sz="1050" noProof="0" dirty="0"/>
          </a:p>
          <a:p>
            <a:pPr marL="342900" indent="-342900">
              <a:buSzPct val="100000"/>
              <a:buChar char="•"/>
            </a:pPr>
            <a:r>
              <a:rPr lang="en-US" sz="1050" noProof="0" dirty="0">
                <a:solidFill>
                  <a:srgbClr val="E2E8F0"/>
                </a:solidFill>
              </a:rPr>
              <a:t>Urgency promotions (expiring offers)</a:t>
            </a:r>
            <a:endParaRPr lang="en-US" sz="1050" noProof="0" dirty="0"/>
          </a:p>
          <a:p>
            <a:pPr marL="342900" indent="-342900">
              <a:buSzPct val="100000"/>
              <a:buChar char="•"/>
            </a:pPr>
            <a:r>
              <a:rPr lang="en-US" sz="1050" noProof="0" dirty="0">
                <a:solidFill>
                  <a:srgbClr val="E2E8F0"/>
                </a:solidFill>
              </a:rPr>
              <a:t>High-value incentives for return purchase</a:t>
            </a:r>
            <a:endParaRPr lang="en-US" sz="1050" noProof="0" dirty="0"/>
          </a:p>
        </p:txBody>
      </p:sp>
      <p:sp>
        <p:nvSpPr>
          <p:cNvPr id="13" name="Shape 11"/>
          <p:cNvSpPr/>
          <p:nvPr/>
        </p:nvSpPr>
        <p:spPr>
          <a:xfrm>
            <a:off x="4251960" y="1849980"/>
            <a:ext cx="3611880" cy="1863369"/>
          </a:xfrm>
          <a:prstGeom prst="rect">
            <a:avLst/>
          </a:prstGeom>
          <a:solidFill>
            <a:srgbClr val="131F35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Shape 12"/>
          <p:cNvSpPr/>
          <p:nvPr/>
        </p:nvSpPr>
        <p:spPr>
          <a:xfrm>
            <a:off x="4251960" y="1849980"/>
            <a:ext cx="3611880" cy="438912"/>
          </a:xfrm>
          <a:prstGeom prst="rect">
            <a:avLst/>
          </a:prstGeom>
          <a:solidFill>
            <a:srgbClr val="F59E0B">
              <a:alpha val="82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5" name="Text 13"/>
          <p:cNvSpPr/>
          <p:nvPr/>
        </p:nvSpPr>
        <p:spPr>
          <a:xfrm>
            <a:off x="4389120" y="18865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F8FAFC"/>
                </a:solidFill>
              </a:rPr>
              <a:t>02</a:t>
            </a:r>
            <a:endParaRPr lang="en-US" sz="1800" noProof="0" dirty="0"/>
          </a:p>
        </p:txBody>
      </p:sp>
      <p:sp>
        <p:nvSpPr>
          <p:cNvPr id="16" name="Text 14"/>
          <p:cNvSpPr/>
          <p:nvPr/>
        </p:nvSpPr>
        <p:spPr>
          <a:xfrm>
            <a:off x="4892040" y="190484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F8FAFC"/>
                </a:solidFill>
              </a:rPr>
              <a:t>Rescue Cannot Lose Them</a:t>
            </a:r>
            <a:endParaRPr lang="en-US" sz="1200" noProof="0" dirty="0"/>
          </a:p>
        </p:txBody>
      </p:sp>
      <p:sp>
        <p:nvSpPr>
          <p:cNvPr id="17" name="Shape 15"/>
          <p:cNvSpPr/>
          <p:nvPr/>
        </p:nvSpPr>
        <p:spPr>
          <a:xfrm>
            <a:off x="4389120" y="2362044"/>
            <a:ext cx="3337560" cy="219456"/>
          </a:xfrm>
          <a:prstGeom prst="roundRect">
            <a:avLst>
              <a:gd name="adj" fmla="val 16667"/>
            </a:avLst>
          </a:prstGeom>
          <a:solidFill>
            <a:srgbClr val="F59E0B">
              <a:alpha val="28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8" name="Text 16"/>
          <p:cNvSpPr/>
          <p:nvPr/>
        </p:nvSpPr>
        <p:spPr>
          <a:xfrm>
            <a:off x="4389120" y="2362044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noProof="0" dirty="0">
                <a:solidFill>
                  <a:srgbClr val="F59E0B"/>
                </a:solidFill>
              </a:rPr>
              <a:t>IMMEDIATE</a:t>
            </a:r>
            <a:endParaRPr lang="en-US" sz="800" noProof="0" dirty="0"/>
          </a:p>
        </p:txBody>
      </p:sp>
      <p:sp>
        <p:nvSpPr>
          <p:cNvPr id="19" name="Text 17"/>
          <p:cNvSpPr/>
          <p:nvPr/>
        </p:nvSpPr>
        <p:spPr>
          <a:xfrm>
            <a:off x="4389120" y="263636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noProof="0" dirty="0">
                <a:solidFill>
                  <a:srgbClr val="94A3B8"/>
                </a:solidFill>
              </a:rPr>
              <a:t>232 VIPs · $365K avg spend · 182 days silent</a:t>
            </a:r>
            <a:endParaRPr lang="en-US" sz="1000" noProof="0" dirty="0"/>
          </a:p>
        </p:txBody>
      </p:sp>
      <p:sp>
        <p:nvSpPr>
          <p:cNvPr id="20" name="Text 18"/>
          <p:cNvSpPr/>
          <p:nvPr/>
        </p:nvSpPr>
        <p:spPr>
          <a:xfrm>
            <a:off x="4389120" y="3043830"/>
            <a:ext cx="33375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noProof="0" dirty="0">
                <a:solidFill>
                  <a:srgbClr val="E2E8F0"/>
                </a:solidFill>
              </a:rPr>
              <a:t>Dedicated VIP reactivation team</a:t>
            </a:r>
            <a:endParaRPr lang="en-US" sz="1050" noProof="0" dirty="0"/>
          </a:p>
          <a:p>
            <a:pPr marL="342900" indent="-342900">
              <a:buSzPct val="100000"/>
              <a:buChar char="•"/>
            </a:pPr>
            <a:r>
              <a:rPr lang="en-US" sz="1050" noProof="0" dirty="0">
                <a:solidFill>
                  <a:srgbClr val="E2E8F0"/>
                </a:solidFill>
              </a:rPr>
              <a:t>Premium personalized outreach</a:t>
            </a:r>
            <a:endParaRPr lang="en-US" sz="1050" noProof="0" dirty="0"/>
          </a:p>
          <a:p>
            <a:pPr marL="342900" indent="-342900">
              <a:buSzPct val="100000"/>
              <a:buChar char="•"/>
            </a:pPr>
            <a:r>
              <a:rPr lang="en-US" sz="1050" noProof="0" dirty="0">
                <a:solidFill>
                  <a:srgbClr val="E2E8F0"/>
                </a:solidFill>
              </a:rPr>
              <a:t>Exclusive comeback experiences</a:t>
            </a:r>
            <a:endParaRPr lang="en-US" sz="1050" noProof="0" dirty="0"/>
          </a:p>
        </p:txBody>
      </p:sp>
      <p:sp>
        <p:nvSpPr>
          <p:cNvPr id="21" name="Shape 19"/>
          <p:cNvSpPr/>
          <p:nvPr/>
        </p:nvSpPr>
        <p:spPr>
          <a:xfrm>
            <a:off x="8046720" y="1849980"/>
            <a:ext cx="3611880" cy="1863369"/>
          </a:xfrm>
          <a:prstGeom prst="rect">
            <a:avLst/>
          </a:prstGeom>
          <a:solidFill>
            <a:srgbClr val="131F35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2" name="Shape 20"/>
          <p:cNvSpPr/>
          <p:nvPr/>
        </p:nvSpPr>
        <p:spPr>
          <a:xfrm>
            <a:off x="8046720" y="1849980"/>
            <a:ext cx="3611880" cy="438912"/>
          </a:xfrm>
          <a:prstGeom prst="rect">
            <a:avLst/>
          </a:prstGeom>
          <a:solidFill>
            <a:srgbClr val="10B981">
              <a:alpha val="82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3" name="Text 21"/>
          <p:cNvSpPr/>
          <p:nvPr/>
        </p:nvSpPr>
        <p:spPr>
          <a:xfrm>
            <a:off x="8183880" y="18865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F8FAFC"/>
                </a:solidFill>
              </a:rPr>
              <a:t>03</a:t>
            </a:r>
            <a:endParaRPr lang="en-US" sz="1800" noProof="0" dirty="0"/>
          </a:p>
        </p:txBody>
      </p:sp>
      <p:sp>
        <p:nvSpPr>
          <p:cNvPr id="24" name="Text 22"/>
          <p:cNvSpPr/>
          <p:nvPr/>
        </p:nvSpPr>
        <p:spPr>
          <a:xfrm>
            <a:off x="8686800" y="190484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F8FAFC"/>
                </a:solidFill>
              </a:rPr>
              <a:t>Protect Champions</a:t>
            </a:r>
            <a:endParaRPr lang="en-US" sz="1200" noProof="0" dirty="0"/>
          </a:p>
        </p:txBody>
      </p:sp>
      <p:sp>
        <p:nvSpPr>
          <p:cNvPr id="25" name="Shape 23"/>
          <p:cNvSpPr/>
          <p:nvPr/>
        </p:nvSpPr>
        <p:spPr>
          <a:xfrm>
            <a:off x="8183880" y="2362044"/>
            <a:ext cx="3337560" cy="219456"/>
          </a:xfrm>
          <a:prstGeom prst="roundRect">
            <a:avLst>
              <a:gd name="adj" fmla="val 16667"/>
            </a:avLst>
          </a:prstGeom>
          <a:solidFill>
            <a:srgbClr val="10B981">
              <a:alpha val="28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6" name="Text 24"/>
          <p:cNvSpPr/>
          <p:nvPr/>
        </p:nvSpPr>
        <p:spPr>
          <a:xfrm>
            <a:off x="8183880" y="2362044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noProof="0" dirty="0">
                <a:solidFill>
                  <a:srgbClr val="10B981"/>
                </a:solidFill>
              </a:rPr>
              <a:t>ONGOING</a:t>
            </a:r>
            <a:endParaRPr lang="en-US" sz="800" noProof="0" dirty="0"/>
          </a:p>
        </p:txBody>
      </p:sp>
      <p:sp>
        <p:nvSpPr>
          <p:cNvPr id="27" name="Text 25"/>
          <p:cNvSpPr/>
          <p:nvPr/>
        </p:nvSpPr>
        <p:spPr>
          <a:xfrm>
            <a:off x="8183880" y="263636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noProof="0" dirty="0">
                <a:solidFill>
                  <a:srgbClr val="94A3B8"/>
                </a:solidFill>
              </a:rPr>
              <a:t>599 top spenders · $416K avg · 62% newsletter</a:t>
            </a:r>
            <a:endParaRPr lang="en-US" sz="1000" noProof="0" dirty="0"/>
          </a:p>
        </p:txBody>
      </p:sp>
      <p:sp>
        <p:nvSpPr>
          <p:cNvPr id="28" name="Text 26"/>
          <p:cNvSpPr/>
          <p:nvPr/>
        </p:nvSpPr>
        <p:spPr>
          <a:xfrm>
            <a:off x="8183880" y="3035689"/>
            <a:ext cx="33375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noProof="0" dirty="0">
                <a:solidFill>
                  <a:srgbClr val="E2E8F0"/>
                </a:solidFill>
              </a:rPr>
              <a:t>VIP exclusivity &amp; early access</a:t>
            </a:r>
            <a:endParaRPr lang="en-US" sz="1050" noProof="0" dirty="0"/>
          </a:p>
          <a:p>
            <a:pPr marL="342900" indent="-342900">
              <a:buSzPct val="100000"/>
              <a:buChar char="•"/>
            </a:pPr>
            <a:r>
              <a:rPr lang="en-US" sz="1050" noProof="0" dirty="0">
                <a:solidFill>
                  <a:srgbClr val="E2E8F0"/>
                </a:solidFill>
              </a:rPr>
              <a:t>Referral ecosystem activation</a:t>
            </a:r>
            <a:endParaRPr lang="en-US" sz="1050" noProof="0" dirty="0"/>
          </a:p>
          <a:p>
            <a:pPr marL="342900" indent="-342900">
              <a:buSzPct val="100000"/>
              <a:buChar char="•"/>
            </a:pPr>
            <a:r>
              <a:rPr lang="en-US" sz="1050" noProof="0" dirty="0">
                <a:solidFill>
                  <a:srgbClr val="E2E8F0"/>
                </a:solidFill>
              </a:rPr>
              <a:t>Premium retention program</a:t>
            </a:r>
            <a:endParaRPr lang="en-US" sz="1050" noProof="0" dirty="0"/>
          </a:p>
        </p:txBody>
      </p:sp>
      <p:sp>
        <p:nvSpPr>
          <p:cNvPr id="29" name="Shape 27"/>
          <p:cNvSpPr/>
          <p:nvPr/>
        </p:nvSpPr>
        <p:spPr>
          <a:xfrm>
            <a:off x="457200" y="4114800"/>
            <a:ext cx="3611880" cy="2018371"/>
          </a:xfrm>
          <a:prstGeom prst="rect">
            <a:avLst/>
          </a:prstGeom>
          <a:solidFill>
            <a:srgbClr val="131F35"/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0" name="Shape 28"/>
          <p:cNvSpPr/>
          <p:nvPr/>
        </p:nvSpPr>
        <p:spPr>
          <a:xfrm>
            <a:off x="457200" y="4114800"/>
            <a:ext cx="3611880" cy="438912"/>
          </a:xfrm>
          <a:prstGeom prst="rect">
            <a:avLst/>
          </a:prstGeom>
          <a:solidFill>
            <a:srgbClr val="38BDF8">
              <a:alpha val="82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1" name="Text 29"/>
          <p:cNvSpPr/>
          <p:nvPr/>
        </p:nvSpPr>
        <p:spPr>
          <a:xfrm>
            <a:off x="594360" y="41513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F8FAFC"/>
                </a:solidFill>
              </a:rPr>
              <a:t>04</a:t>
            </a:r>
            <a:endParaRPr lang="en-US" sz="1800" noProof="0" dirty="0"/>
          </a:p>
        </p:txBody>
      </p:sp>
      <p:sp>
        <p:nvSpPr>
          <p:cNvPr id="32" name="Text 30"/>
          <p:cNvSpPr/>
          <p:nvPr/>
        </p:nvSpPr>
        <p:spPr>
          <a:xfrm>
            <a:off x="1097280" y="416966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F8FAFC"/>
                </a:solidFill>
              </a:rPr>
              <a:t>Convert Potential Loyalists</a:t>
            </a:r>
            <a:endParaRPr lang="en-US" sz="1200" noProof="0" dirty="0"/>
          </a:p>
        </p:txBody>
      </p:sp>
      <p:sp>
        <p:nvSpPr>
          <p:cNvPr id="33" name="Shape 31"/>
          <p:cNvSpPr/>
          <p:nvPr/>
        </p:nvSpPr>
        <p:spPr>
          <a:xfrm>
            <a:off x="594360" y="4626864"/>
            <a:ext cx="3337560" cy="219456"/>
          </a:xfrm>
          <a:prstGeom prst="roundRect">
            <a:avLst>
              <a:gd name="adj" fmla="val 16667"/>
            </a:avLst>
          </a:prstGeom>
          <a:solidFill>
            <a:srgbClr val="38BDF8">
              <a:alpha val="28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4" name="Text 32"/>
          <p:cNvSpPr/>
          <p:nvPr/>
        </p:nvSpPr>
        <p:spPr>
          <a:xfrm>
            <a:off x="594360" y="4626864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noProof="0" dirty="0">
                <a:solidFill>
                  <a:srgbClr val="38BDF8"/>
                </a:solidFill>
              </a:rPr>
              <a:t>MEDIUM-TERM</a:t>
            </a:r>
            <a:endParaRPr lang="en-US" sz="800" noProof="0" dirty="0"/>
          </a:p>
        </p:txBody>
      </p:sp>
      <p:sp>
        <p:nvSpPr>
          <p:cNvPr id="35" name="Text 33"/>
          <p:cNvSpPr/>
          <p:nvPr/>
        </p:nvSpPr>
        <p:spPr>
          <a:xfrm>
            <a:off x="594360" y="490118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noProof="0" dirty="0">
                <a:solidFill>
                  <a:srgbClr val="94A3B8"/>
                </a:solidFill>
              </a:rPr>
              <a:t>1,200 customers · 24-day recency</a:t>
            </a:r>
            <a:endParaRPr lang="en-US" sz="1000" noProof="0" dirty="0"/>
          </a:p>
        </p:txBody>
      </p:sp>
      <p:sp>
        <p:nvSpPr>
          <p:cNvPr id="36" name="Text 34"/>
          <p:cNvSpPr/>
          <p:nvPr/>
        </p:nvSpPr>
        <p:spPr>
          <a:xfrm>
            <a:off x="594360" y="5304415"/>
            <a:ext cx="33375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noProof="0" dirty="0">
                <a:solidFill>
                  <a:srgbClr val="E2E8F0"/>
                </a:solidFill>
              </a:rPr>
              <a:t>Loyalty tier progression</a:t>
            </a:r>
            <a:endParaRPr lang="en-US" sz="1050" noProof="0" dirty="0"/>
          </a:p>
          <a:p>
            <a:pPr marL="342900" indent="-342900">
              <a:buSzPct val="100000"/>
              <a:buChar char="•"/>
            </a:pPr>
            <a:r>
              <a:rPr lang="en-US" sz="1050" noProof="0" dirty="0">
                <a:solidFill>
                  <a:srgbClr val="E2E8F0"/>
                </a:solidFill>
              </a:rPr>
              <a:t>Repeat purchase acceleration</a:t>
            </a:r>
            <a:endParaRPr lang="en-US" sz="1050" noProof="0" dirty="0"/>
          </a:p>
          <a:p>
            <a:pPr marL="342900" indent="-342900">
              <a:buSzPct val="100000"/>
              <a:buChar char="•"/>
            </a:pPr>
            <a:r>
              <a:rPr lang="en-US" sz="1050" noProof="0" dirty="0">
                <a:solidFill>
                  <a:srgbClr val="E2E8F0"/>
                </a:solidFill>
              </a:rPr>
              <a:t>Category-based personalization</a:t>
            </a:r>
            <a:endParaRPr lang="en-US" sz="1050" noProof="0" dirty="0"/>
          </a:p>
        </p:txBody>
      </p:sp>
      <p:sp>
        <p:nvSpPr>
          <p:cNvPr id="37" name="Shape 35"/>
          <p:cNvSpPr/>
          <p:nvPr/>
        </p:nvSpPr>
        <p:spPr>
          <a:xfrm>
            <a:off x="4251960" y="4114800"/>
            <a:ext cx="3611880" cy="2018371"/>
          </a:xfrm>
          <a:prstGeom prst="rect">
            <a:avLst/>
          </a:prstGeom>
          <a:solidFill>
            <a:srgbClr val="131F35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8" name="Shape 36"/>
          <p:cNvSpPr/>
          <p:nvPr/>
        </p:nvSpPr>
        <p:spPr>
          <a:xfrm>
            <a:off x="4251960" y="4114800"/>
            <a:ext cx="3611880" cy="438912"/>
          </a:xfrm>
          <a:prstGeom prst="rect">
            <a:avLst/>
          </a:prstGeom>
          <a:solidFill>
            <a:srgbClr val="8B5CF6">
              <a:alpha val="82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9" name="Text 37"/>
          <p:cNvSpPr/>
          <p:nvPr/>
        </p:nvSpPr>
        <p:spPr>
          <a:xfrm>
            <a:off x="4389120" y="41513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F8FAFC"/>
                </a:solidFill>
              </a:rPr>
              <a:t>05</a:t>
            </a:r>
            <a:endParaRPr lang="en-US" sz="1800" noProof="0" dirty="0"/>
          </a:p>
        </p:txBody>
      </p:sp>
      <p:sp>
        <p:nvSpPr>
          <p:cNvPr id="40" name="Text 38"/>
          <p:cNvSpPr/>
          <p:nvPr/>
        </p:nvSpPr>
        <p:spPr>
          <a:xfrm>
            <a:off x="4892040" y="416966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F8FAFC"/>
                </a:solidFill>
              </a:rPr>
              <a:t>Scale Organic Search</a:t>
            </a:r>
            <a:endParaRPr lang="en-US" sz="1200" noProof="0" dirty="0"/>
          </a:p>
        </p:txBody>
      </p:sp>
      <p:sp>
        <p:nvSpPr>
          <p:cNvPr id="41" name="Shape 39"/>
          <p:cNvSpPr/>
          <p:nvPr/>
        </p:nvSpPr>
        <p:spPr>
          <a:xfrm>
            <a:off x="4389120" y="4626864"/>
            <a:ext cx="3337560" cy="219456"/>
          </a:xfrm>
          <a:prstGeom prst="roundRect">
            <a:avLst>
              <a:gd name="adj" fmla="val 16667"/>
            </a:avLst>
          </a:prstGeom>
          <a:solidFill>
            <a:srgbClr val="8B5CF6">
              <a:alpha val="28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2" name="Text 40"/>
          <p:cNvSpPr/>
          <p:nvPr/>
        </p:nvSpPr>
        <p:spPr>
          <a:xfrm>
            <a:off x="4389120" y="4626864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noProof="0" dirty="0">
                <a:solidFill>
                  <a:srgbClr val="8B5CF6"/>
                </a:solidFill>
              </a:rPr>
              <a:t>ONGOING</a:t>
            </a:r>
            <a:endParaRPr lang="en-US" sz="800" noProof="0" dirty="0"/>
          </a:p>
        </p:txBody>
      </p:sp>
      <p:sp>
        <p:nvSpPr>
          <p:cNvPr id="43" name="Text 41"/>
          <p:cNvSpPr/>
          <p:nvPr/>
        </p:nvSpPr>
        <p:spPr>
          <a:xfrm>
            <a:off x="4389120" y="490118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noProof="0" dirty="0">
                <a:solidFill>
                  <a:srgbClr val="94A3B8"/>
                </a:solidFill>
              </a:rPr>
              <a:t>27.4% of customers · $141K avg spend</a:t>
            </a:r>
            <a:endParaRPr lang="en-US" sz="1000" noProof="0" dirty="0"/>
          </a:p>
        </p:txBody>
      </p:sp>
      <p:sp>
        <p:nvSpPr>
          <p:cNvPr id="44" name="Text 42"/>
          <p:cNvSpPr/>
          <p:nvPr/>
        </p:nvSpPr>
        <p:spPr>
          <a:xfrm>
            <a:off x="4389120" y="5353029"/>
            <a:ext cx="33375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noProof="0" dirty="0">
                <a:solidFill>
                  <a:srgbClr val="E2E8F0"/>
                </a:solidFill>
              </a:rPr>
              <a:t>SEO investment &amp; keyword targeting</a:t>
            </a:r>
            <a:endParaRPr lang="en-US" sz="1050" noProof="0" dirty="0"/>
          </a:p>
          <a:p>
            <a:pPr marL="342900" indent="-342900">
              <a:buSzPct val="100000"/>
              <a:buChar char="•"/>
            </a:pPr>
            <a:r>
              <a:rPr lang="en-US" sz="1050" noProof="0" dirty="0">
                <a:solidFill>
                  <a:srgbClr val="E2E8F0"/>
                </a:solidFill>
              </a:rPr>
              <a:t>High-intent category landing pages</a:t>
            </a:r>
            <a:endParaRPr lang="en-US" sz="1050" noProof="0" dirty="0"/>
          </a:p>
          <a:p>
            <a:pPr marL="342900" indent="-342900">
              <a:buSzPct val="100000"/>
              <a:buChar char="•"/>
            </a:pPr>
            <a:r>
              <a:rPr lang="en-US" sz="1050" noProof="0" dirty="0">
                <a:solidFill>
                  <a:srgbClr val="E2E8F0"/>
                </a:solidFill>
              </a:rPr>
              <a:t>Conversion rate optimization</a:t>
            </a:r>
            <a:endParaRPr lang="en-US" sz="1050" noProof="0" dirty="0"/>
          </a:p>
        </p:txBody>
      </p:sp>
      <p:sp>
        <p:nvSpPr>
          <p:cNvPr id="45" name="Shape 43"/>
          <p:cNvSpPr/>
          <p:nvPr/>
        </p:nvSpPr>
        <p:spPr>
          <a:xfrm>
            <a:off x="8046720" y="4114800"/>
            <a:ext cx="3611880" cy="2018371"/>
          </a:xfrm>
          <a:prstGeom prst="rect">
            <a:avLst/>
          </a:prstGeom>
          <a:solidFill>
            <a:srgbClr val="131F35"/>
          </a:solidFill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6" name="Shape 44"/>
          <p:cNvSpPr/>
          <p:nvPr/>
        </p:nvSpPr>
        <p:spPr>
          <a:xfrm>
            <a:off x="8046720" y="4114800"/>
            <a:ext cx="3611880" cy="438912"/>
          </a:xfrm>
          <a:prstGeom prst="rect">
            <a:avLst/>
          </a:prstGeom>
          <a:solidFill>
            <a:srgbClr val="0EA5E9">
              <a:alpha val="82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7" name="Text 45"/>
          <p:cNvSpPr/>
          <p:nvPr/>
        </p:nvSpPr>
        <p:spPr>
          <a:xfrm>
            <a:off x="8183880" y="41513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F8FAFC"/>
                </a:solidFill>
              </a:rPr>
              <a:t>06</a:t>
            </a:r>
            <a:endParaRPr lang="en-US" sz="1800" noProof="0" dirty="0"/>
          </a:p>
        </p:txBody>
      </p:sp>
      <p:sp>
        <p:nvSpPr>
          <p:cNvPr id="48" name="Text 46"/>
          <p:cNvSpPr/>
          <p:nvPr/>
        </p:nvSpPr>
        <p:spPr>
          <a:xfrm>
            <a:off x="8686800" y="416966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F8FAFC"/>
                </a:solidFill>
              </a:rPr>
              <a:t>Transform Newsletter Strategy</a:t>
            </a:r>
            <a:endParaRPr lang="en-US" sz="1200" noProof="0" dirty="0"/>
          </a:p>
        </p:txBody>
      </p:sp>
      <p:sp>
        <p:nvSpPr>
          <p:cNvPr id="49" name="Shape 47"/>
          <p:cNvSpPr/>
          <p:nvPr/>
        </p:nvSpPr>
        <p:spPr>
          <a:xfrm>
            <a:off x="8183880" y="4626864"/>
            <a:ext cx="3337560" cy="219456"/>
          </a:xfrm>
          <a:prstGeom prst="roundRect">
            <a:avLst>
              <a:gd name="adj" fmla="val 16667"/>
            </a:avLst>
          </a:prstGeom>
          <a:solidFill>
            <a:srgbClr val="0EA5E9">
              <a:alpha val="28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0" name="Text 48"/>
          <p:cNvSpPr/>
          <p:nvPr/>
        </p:nvSpPr>
        <p:spPr>
          <a:xfrm>
            <a:off x="8183880" y="4626864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noProof="0" dirty="0">
                <a:solidFill>
                  <a:srgbClr val="0EA5E9"/>
                </a:solidFill>
              </a:rPr>
              <a:t>MEDIUM-TERM</a:t>
            </a:r>
            <a:endParaRPr lang="en-US" sz="800" noProof="0" dirty="0"/>
          </a:p>
        </p:txBody>
      </p:sp>
      <p:sp>
        <p:nvSpPr>
          <p:cNvPr id="51" name="Text 49"/>
          <p:cNvSpPr/>
          <p:nvPr/>
        </p:nvSpPr>
        <p:spPr>
          <a:xfrm>
            <a:off x="8183880" y="490118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noProof="0" dirty="0">
                <a:solidFill>
                  <a:srgbClr val="94A3B8"/>
                </a:solidFill>
              </a:rPr>
              <a:t>+0.23% subscriber lift — untapped potential</a:t>
            </a:r>
            <a:endParaRPr lang="en-US" sz="1000" noProof="0" dirty="0"/>
          </a:p>
        </p:txBody>
      </p:sp>
      <p:sp>
        <p:nvSpPr>
          <p:cNvPr id="52" name="Text 50"/>
          <p:cNvSpPr/>
          <p:nvPr/>
        </p:nvSpPr>
        <p:spPr>
          <a:xfrm>
            <a:off x="8183880" y="5397633"/>
            <a:ext cx="33375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noProof="0" dirty="0">
                <a:solidFill>
                  <a:srgbClr val="E2E8F0"/>
                </a:solidFill>
              </a:rPr>
              <a:t>RFM-segmented lifecycle campaigns</a:t>
            </a:r>
            <a:endParaRPr lang="en-US" sz="1050" noProof="0" dirty="0"/>
          </a:p>
          <a:p>
            <a:pPr marL="342900" indent="-342900">
              <a:buSzPct val="100000"/>
              <a:buChar char="•"/>
            </a:pPr>
            <a:r>
              <a:rPr lang="en-US" sz="1050" noProof="0" dirty="0">
                <a:solidFill>
                  <a:srgbClr val="E2E8F0"/>
                </a:solidFill>
              </a:rPr>
              <a:t>Behavioral trigger automation</a:t>
            </a:r>
            <a:endParaRPr lang="en-US" sz="1050" noProof="0" dirty="0"/>
          </a:p>
          <a:p>
            <a:pPr marL="342900" indent="-342900">
              <a:buSzPct val="100000"/>
              <a:buChar char="•"/>
            </a:pPr>
            <a:r>
              <a:rPr lang="en-US" sz="1050" noProof="0" dirty="0">
                <a:solidFill>
                  <a:srgbClr val="E2E8F0"/>
                </a:solidFill>
              </a:rPr>
              <a:t>A/B testing &amp; send-time optimization</a:t>
            </a:r>
            <a:endParaRPr lang="en-US" sz="1050" noProof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>
            <a:extLst>
              <a:ext uri="{FF2B5EF4-FFF2-40B4-BE49-F238E27FC236}">
                <a16:creationId xmlns:a16="http://schemas.microsoft.com/office/drawing/2014/main" id="{3FC793DC-8045-B252-7A26-A18C9B371FC3}"/>
              </a:ext>
            </a:extLst>
          </p:cNvPr>
          <p:cNvSpPr/>
          <p:nvPr/>
        </p:nvSpPr>
        <p:spPr>
          <a:xfrm>
            <a:off x="874713" y="612647"/>
            <a:ext cx="3168650" cy="512891"/>
          </a:xfrm>
          <a:prstGeom prst="roundRect">
            <a:avLst>
              <a:gd name="adj" fmla="val 25000"/>
            </a:avLst>
          </a:prstGeom>
          <a:solidFill>
            <a:srgbClr val="38BDF8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hape 1"/>
          <p:cNvSpPr/>
          <p:nvPr/>
        </p:nvSpPr>
        <p:spPr>
          <a:xfrm>
            <a:off x="7772400" y="-914400"/>
            <a:ext cx="5486400" cy="5486400"/>
          </a:xfrm>
          <a:prstGeom prst="ellipse">
            <a:avLst/>
          </a:prstGeom>
          <a:solidFill>
            <a:srgbClr val="1A56A0">
              <a:alpha val="15000"/>
            </a:srgbClr>
          </a:solidFill>
          <a:ln w="12700">
            <a:solidFill>
              <a:srgbClr val="1A56A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3"/>
          <p:cNvSpPr/>
          <p:nvPr/>
        </p:nvSpPr>
        <p:spPr>
          <a:xfrm>
            <a:off x="874713" y="1102968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800" b="1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to</a:t>
            </a:r>
            <a:endParaRPr lang="en-US" sz="3800" noProof="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800" b="1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Decision-Ready Insights</a:t>
            </a:r>
            <a:endParaRPr lang="en-US" sz="3800" noProof="0" dirty="0"/>
          </a:p>
        </p:txBody>
      </p:sp>
      <p:sp>
        <p:nvSpPr>
          <p:cNvPr id="6" name="Shape 4"/>
          <p:cNvSpPr/>
          <p:nvPr/>
        </p:nvSpPr>
        <p:spPr>
          <a:xfrm>
            <a:off x="874713" y="2472561"/>
            <a:ext cx="502920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" name="Text 5"/>
          <p:cNvSpPr/>
          <p:nvPr/>
        </p:nvSpPr>
        <p:spPr>
          <a:xfrm>
            <a:off x="1044477" y="2633472"/>
            <a:ext cx="3520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noProof="0" dirty="0">
                <a:solidFill>
                  <a:srgbClr val="38BDF8"/>
                </a:solidFill>
              </a:rPr>
              <a:t>→</a:t>
            </a:r>
            <a:endParaRPr lang="en-US" sz="1400" noProof="0" dirty="0"/>
          </a:p>
        </p:txBody>
      </p:sp>
      <p:sp>
        <p:nvSpPr>
          <p:cNvPr id="8" name="Text 6"/>
          <p:cNvSpPr/>
          <p:nvPr/>
        </p:nvSpPr>
        <p:spPr>
          <a:xfrm>
            <a:off x="1357661" y="2622321"/>
            <a:ext cx="11567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noProof="0" dirty="0">
                <a:solidFill>
                  <a:srgbClr val="E2E8F0"/>
                </a:solidFill>
              </a:rPr>
              <a:t>44.5% of revenue concentrated in just 17.6% of customers (Champions + Loyal)</a:t>
            </a:r>
            <a:endParaRPr lang="en-US" sz="1300" noProof="0" dirty="0"/>
          </a:p>
        </p:txBody>
      </p:sp>
      <p:sp>
        <p:nvSpPr>
          <p:cNvPr id="9" name="Text 7"/>
          <p:cNvSpPr/>
          <p:nvPr/>
        </p:nvSpPr>
        <p:spPr>
          <a:xfrm>
            <a:off x="1044477" y="3236976"/>
            <a:ext cx="3520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noProof="0" dirty="0">
                <a:solidFill>
                  <a:srgbClr val="38BDF8"/>
                </a:solidFill>
              </a:rPr>
              <a:t>→</a:t>
            </a:r>
            <a:endParaRPr lang="en-US" sz="1400" noProof="0" dirty="0"/>
          </a:p>
        </p:txBody>
      </p:sp>
      <p:sp>
        <p:nvSpPr>
          <p:cNvPr id="10" name="Text 8"/>
          <p:cNvSpPr/>
          <p:nvPr/>
        </p:nvSpPr>
        <p:spPr>
          <a:xfrm>
            <a:off x="1357661" y="3225825"/>
            <a:ext cx="11567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noProof="0" dirty="0">
                <a:solidFill>
                  <a:srgbClr val="E2E8F0"/>
                </a:solidFill>
              </a:rPr>
              <a:t>$281.9M in revenue at immediate risk from At Risk segment disengagement</a:t>
            </a:r>
            <a:endParaRPr lang="en-US" sz="1300" noProof="0" dirty="0"/>
          </a:p>
        </p:txBody>
      </p:sp>
      <p:sp>
        <p:nvSpPr>
          <p:cNvPr id="11" name="Text 9"/>
          <p:cNvSpPr/>
          <p:nvPr/>
        </p:nvSpPr>
        <p:spPr>
          <a:xfrm>
            <a:off x="1044477" y="3840480"/>
            <a:ext cx="3520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noProof="0" dirty="0">
                <a:solidFill>
                  <a:srgbClr val="38BDF8"/>
                </a:solidFill>
              </a:rPr>
              <a:t>→</a:t>
            </a:r>
            <a:endParaRPr lang="en-US" sz="1400" noProof="0" dirty="0"/>
          </a:p>
        </p:txBody>
      </p:sp>
      <p:sp>
        <p:nvSpPr>
          <p:cNvPr id="12" name="Text 10"/>
          <p:cNvSpPr/>
          <p:nvPr/>
        </p:nvSpPr>
        <p:spPr>
          <a:xfrm>
            <a:off x="1357661" y="3829329"/>
            <a:ext cx="11567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noProof="0" dirty="0">
                <a:solidFill>
                  <a:srgbClr val="E2E8F0"/>
                </a:solidFill>
              </a:rPr>
              <a:t>Cannot Lose Them: 232 VIPs, avg $365K spend — and 182 days silent</a:t>
            </a:r>
            <a:endParaRPr lang="en-US" sz="1300" noProof="0" dirty="0"/>
          </a:p>
        </p:txBody>
      </p:sp>
      <p:sp>
        <p:nvSpPr>
          <p:cNvPr id="13" name="Text 11"/>
          <p:cNvSpPr/>
          <p:nvPr/>
        </p:nvSpPr>
        <p:spPr>
          <a:xfrm>
            <a:off x="1044477" y="4443984"/>
            <a:ext cx="3520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noProof="0" dirty="0">
                <a:solidFill>
                  <a:srgbClr val="38BDF8"/>
                </a:solidFill>
              </a:rPr>
              <a:t>→</a:t>
            </a:r>
            <a:endParaRPr lang="en-US" sz="1400" noProof="0" dirty="0"/>
          </a:p>
        </p:txBody>
      </p:sp>
      <p:sp>
        <p:nvSpPr>
          <p:cNvPr id="14" name="Text 12"/>
          <p:cNvSpPr/>
          <p:nvPr/>
        </p:nvSpPr>
        <p:spPr>
          <a:xfrm>
            <a:off x="1357661" y="4432833"/>
            <a:ext cx="11567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noProof="0" dirty="0">
                <a:solidFill>
                  <a:srgbClr val="E2E8F0"/>
                </a:solidFill>
              </a:rPr>
              <a:t>Newsletter reach is strong, but personalization is the missing piece</a:t>
            </a:r>
            <a:endParaRPr lang="en-US" sz="1300" noProof="0" dirty="0"/>
          </a:p>
        </p:txBody>
      </p:sp>
      <p:sp>
        <p:nvSpPr>
          <p:cNvPr id="15" name="Text 13"/>
          <p:cNvSpPr/>
          <p:nvPr/>
        </p:nvSpPr>
        <p:spPr>
          <a:xfrm>
            <a:off x="1044477" y="5047488"/>
            <a:ext cx="3520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noProof="0" dirty="0">
                <a:solidFill>
                  <a:srgbClr val="38BDF8"/>
                </a:solidFill>
              </a:rPr>
              <a:t>→</a:t>
            </a:r>
            <a:endParaRPr lang="en-US" sz="1400" noProof="0" dirty="0"/>
          </a:p>
        </p:txBody>
      </p:sp>
      <p:sp>
        <p:nvSpPr>
          <p:cNvPr id="16" name="Text 14"/>
          <p:cNvSpPr/>
          <p:nvPr/>
        </p:nvSpPr>
        <p:spPr>
          <a:xfrm>
            <a:off x="1357661" y="5036337"/>
            <a:ext cx="11567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noProof="0" dirty="0">
                <a:solidFill>
                  <a:srgbClr val="E2E8F0"/>
                </a:solidFill>
              </a:rPr>
              <a:t>Organic Search offers the best balance of scale and customer quality</a:t>
            </a:r>
            <a:endParaRPr lang="en-US" sz="1300" noProof="0" dirty="0"/>
          </a:p>
        </p:txBody>
      </p:sp>
      <p:sp>
        <p:nvSpPr>
          <p:cNvPr id="17" name="Text 15"/>
          <p:cNvSpPr/>
          <p:nvPr/>
        </p:nvSpPr>
        <p:spPr>
          <a:xfrm>
            <a:off x="1044477" y="5650992"/>
            <a:ext cx="3520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noProof="0" dirty="0">
                <a:solidFill>
                  <a:srgbClr val="38BDF8"/>
                </a:solidFill>
              </a:rPr>
              <a:t>→</a:t>
            </a:r>
            <a:endParaRPr lang="en-US" sz="1400" noProof="0" dirty="0"/>
          </a:p>
        </p:txBody>
      </p:sp>
      <p:sp>
        <p:nvSpPr>
          <p:cNvPr id="18" name="Text 16"/>
          <p:cNvSpPr/>
          <p:nvPr/>
        </p:nvSpPr>
        <p:spPr>
          <a:xfrm>
            <a:off x="1357661" y="5639841"/>
            <a:ext cx="11567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noProof="0" dirty="0">
                <a:solidFill>
                  <a:srgbClr val="E2E8F0"/>
                </a:solidFill>
              </a:rPr>
              <a:t>Ages 25–44 power the engine; 55–64 is an untapped premium niche</a:t>
            </a:r>
            <a:endParaRPr lang="en-US" sz="1300" noProof="0" dirty="0"/>
          </a:p>
        </p:txBody>
      </p:sp>
      <p:sp>
        <p:nvSpPr>
          <p:cNvPr id="4" name="Text 2"/>
          <p:cNvSpPr/>
          <p:nvPr/>
        </p:nvSpPr>
        <p:spPr>
          <a:xfrm>
            <a:off x="1298336" y="692380"/>
            <a:ext cx="2670160" cy="399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500" noProof="0" dirty="0">
                <a:solidFill>
                  <a:schemeClr val="bg1"/>
                </a:solidFill>
              </a:rPr>
              <a:t>KEY TAKEAWAYS</a:t>
            </a:r>
            <a:endParaRPr lang="en-US" sz="1600" noProof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581</TotalTime>
  <Words>1582</Words>
  <Application>Microsoft Office PowerPoint</Application>
  <PresentationFormat>Widescreen</PresentationFormat>
  <Paragraphs>369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Montserrat Medium</vt:lpstr>
      <vt:lpstr>Montserrat SemiBold</vt:lpstr>
      <vt:lpstr>Roboto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mohammed drihmi</cp:lastModifiedBy>
  <cp:revision>7</cp:revision>
  <dcterms:created xsi:type="dcterms:W3CDTF">2026-05-06T11:43:46Z</dcterms:created>
  <dcterms:modified xsi:type="dcterms:W3CDTF">2026-05-09T07:32:03Z</dcterms:modified>
</cp:coreProperties>
</file>